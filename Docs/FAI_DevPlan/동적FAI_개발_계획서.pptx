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7" r:id="rId22"/>
    <p:sldId id="278" r:id="rId2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15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0" i="0">
                <a:solidFill>
                  <a:srgbClr val="1A5275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77777"/>
                </a:solidFill>
                <a:latin typeface="Segoe UI"/>
                <a:cs typeface="Segoe UI"/>
              </a:defRPr>
            </a:lvl1pPr>
          </a:lstStyle>
          <a:p>
            <a:pPr marL="16129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rgbClr val="1A5275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77777"/>
                </a:solidFill>
                <a:latin typeface="Segoe UI"/>
                <a:cs typeface="Segoe UI"/>
              </a:defRPr>
            </a:lvl1pPr>
          </a:lstStyle>
          <a:p>
            <a:pPr marL="16129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52474" y="1504949"/>
            <a:ext cx="10696575" cy="19050"/>
          </a:xfrm>
          <a:custGeom>
            <a:avLst/>
            <a:gdLst/>
            <a:ahLst/>
            <a:cxnLst/>
            <a:rect l="l" t="t" r="r" b="b"/>
            <a:pathLst>
              <a:path w="10696575" h="19050">
                <a:moveTo>
                  <a:pt x="10696574" y="19049"/>
                </a:moveTo>
                <a:lnTo>
                  <a:pt x="0" y="19049"/>
                </a:lnTo>
                <a:lnTo>
                  <a:pt x="0" y="0"/>
                </a:lnTo>
                <a:lnTo>
                  <a:pt x="10696574" y="0"/>
                </a:lnTo>
                <a:lnTo>
                  <a:pt x="10696574" y="19049"/>
                </a:lnTo>
                <a:close/>
              </a:path>
            </a:pathLst>
          </a:custGeom>
          <a:solidFill>
            <a:srgbClr val="1A52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rgbClr val="1A5275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77777"/>
                </a:solidFill>
                <a:latin typeface="Segoe UI"/>
                <a:cs typeface="Segoe UI"/>
              </a:defRPr>
            </a:lvl1pPr>
          </a:lstStyle>
          <a:p>
            <a:pPr marL="16129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52474" y="3638549"/>
            <a:ext cx="10696575" cy="19050"/>
          </a:xfrm>
          <a:custGeom>
            <a:avLst/>
            <a:gdLst/>
            <a:ahLst/>
            <a:cxnLst/>
            <a:rect l="l" t="t" r="r" b="b"/>
            <a:pathLst>
              <a:path w="10696575" h="19050">
                <a:moveTo>
                  <a:pt x="10696574" y="19049"/>
                </a:moveTo>
                <a:lnTo>
                  <a:pt x="0" y="19049"/>
                </a:lnTo>
                <a:lnTo>
                  <a:pt x="0" y="0"/>
                </a:lnTo>
                <a:lnTo>
                  <a:pt x="10696574" y="0"/>
                </a:lnTo>
                <a:lnTo>
                  <a:pt x="10696574" y="19049"/>
                </a:lnTo>
                <a:close/>
              </a:path>
            </a:pathLst>
          </a:custGeom>
          <a:solidFill>
            <a:srgbClr val="1A52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rgbClr val="1A5275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77777"/>
                </a:solidFill>
                <a:latin typeface="Segoe UI"/>
                <a:cs typeface="Segoe UI"/>
              </a:defRPr>
            </a:lvl1pPr>
          </a:lstStyle>
          <a:p>
            <a:pPr marL="16129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77777"/>
                </a:solidFill>
                <a:latin typeface="Segoe UI"/>
                <a:cs typeface="Segoe UI"/>
              </a:defRPr>
            </a:lvl1pPr>
          </a:lstStyle>
          <a:p>
            <a:pPr marL="16129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5012" y="707847"/>
            <a:ext cx="5520690" cy="4184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0" i="0">
                <a:solidFill>
                  <a:srgbClr val="1A5275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4374" y="2952749"/>
            <a:ext cx="4905375" cy="1768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621689" y="6322391"/>
            <a:ext cx="335954" cy="329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777777"/>
                </a:solidFill>
                <a:latin typeface="Segoe UI"/>
                <a:cs typeface="Segoe UI"/>
              </a:defRPr>
            </a:lvl1pPr>
          </a:lstStyle>
          <a:p>
            <a:pPr marL="16129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2474" y="2066924"/>
            <a:ext cx="10696575" cy="19050"/>
          </a:xfrm>
          <a:custGeom>
            <a:avLst/>
            <a:gdLst/>
            <a:ahLst/>
            <a:cxnLst/>
            <a:rect l="l" t="t" r="r" b="b"/>
            <a:pathLst>
              <a:path w="10696575" h="19050">
                <a:moveTo>
                  <a:pt x="10696574" y="19049"/>
                </a:moveTo>
                <a:lnTo>
                  <a:pt x="0" y="19049"/>
                </a:lnTo>
                <a:lnTo>
                  <a:pt x="0" y="0"/>
                </a:lnTo>
                <a:lnTo>
                  <a:pt x="10696574" y="0"/>
                </a:lnTo>
                <a:lnTo>
                  <a:pt x="10696574" y="19049"/>
                </a:lnTo>
                <a:close/>
              </a:path>
            </a:pathLst>
          </a:custGeom>
          <a:solidFill>
            <a:srgbClr val="1A52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012" y="1584147"/>
            <a:ext cx="2269490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b="1" spc="-459" dirty="0">
                <a:latin typeface="Malgun Gothic"/>
                <a:cs typeface="Malgun Gothic"/>
              </a:rPr>
              <a:t>동적</a:t>
            </a:r>
            <a:r>
              <a:rPr sz="2550" b="1" spc="-280" dirty="0">
                <a:latin typeface="Malgun Gothic"/>
                <a:cs typeface="Malgun Gothic"/>
              </a:rPr>
              <a:t> </a:t>
            </a:r>
            <a:r>
              <a:rPr dirty="0"/>
              <a:t>FAI</a:t>
            </a:r>
            <a:r>
              <a:rPr spc="-95" dirty="0"/>
              <a:t> </a:t>
            </a:r>
            <a:r>
              <a:rPr sz="2550" b="1" spc="-459" dirty="0">
                <a:latin typeface="Malgun Gothic"/>
                <a:cs typeface="Malgun Gothic"/>
              </a:rPr>
              <a:t>측정</a:t>
            </a:r>
            <a:r>
              <a:rPr sz="2550" b="1" spc="-265" dirty="0">
                <a:latin typeface="Malgun Gothic"/>
                <a:cs typeface="Malgun Gothic"/>
              </a:rPr>
              <a:t> </a:t>
            </a:r>
            <a:r>
              <a:rPr sz="2550" b="1" spc="-484" dirty="0">
                <a:latin typeface="Malgun Gothic"/>
                <a:cs typeface="Malgun Gothic"/>
              </a:rPr>
              <a:t>기능</a:t>
            </a:r>
            <a:endParaRPr sz="2550" dirty="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5012" y="2274147"/>
            <a:ext cx="7016750" cy="13176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00" b="1" spc="-400" dirty="0">
                <a:solidFill>
                  <a:srgbClr val="154260"/>
                </a:solidFill>
                <a:latin typeface="Malgun Gothic"/>
                <a:cs typeface="Malgun Gothic"/>
              </a:rPr>
              <a:t>개발</a:t>
            </a:r>
            <a:r>
              <a:rPr sz="2100" b="1" spc="-229" dirty="0">
                <a:solidFill>
                  <a:srgbClr val="154260"/>
                </a:solidFill>
                <a:latin typeface="Malgun Gothic"/>
                <a:cs typeface="Malgun Gothic"/>
              </a:rPr>
              <a:t> </a:t>
            </a:r>
            <a:r>
              <a:rPr sz="2100" b="1" spc="-400" dirty="0">
                <a:solidFill>
                  <a:srgbClr val="154260"/>
                </a:solidFill>
                <a:latin typeface="Malgun Gothic"/>
                <a:cs typeface="Malgun Gothic"/>
              </a:rPr>
              <a:t>계획서</a:t>
            </a:r>
            <a:r>
              <a:rPr sz="2100" b="1" spc="-229" dirty="0">
                <a:solidFill>
                  <a:srgbClr val="154260"/>
                </a:solidFill>
                <a:latin typeface="Malgun Gothic"/>
                <a:cs typeface="Malgun Gothic"/>
              </a:rPr>
              <a:t> </a:t>
            </a:r>
            <a:r>
              <a:rPr sz="1850" dirty="0">
                <a:solidFill>
                  <a:srgbClr val="154260"/>
                </a:solidFill>
                <a:latin typeface="Segoe UI Semibold"/>
                <a:cs typeface="Segoe UI Semibold"/>
              </a:rPr>
              <a:t>(Dynamic</a:t>
            </a:r>
            <a:r>
              <a:rPr sz="1850" spc="-20" dirty="0">
                <a:solidFill>
                  <a:srgbClr val="154260"/>
                </a:solidFill>
                <a:latin typeface="Segoe UI Semibold"/>
                <a:cs typeface="Segoe UI Semibold"/>
              </a:rPr>
              <a:t> </a:t>
            </a:r>
            <a:r>
              <a:rPr sz="1850" dirty="0">
                <a:solidFill>
                  <a:srgbClr val="154260"/>
                </a:solidFill>
                <a:latin typeface="Segoe UI Semibold"/>
                <a:cs typeface="Segoe UI Semibold"/>
              </a:rPr>
              <a:t>Rule</a:t>
            </a:r>
            <a:r>
              <a:rPr sz="1850" spc="-5" dirty="0">
                <a:solidFill>
                  <a:srgbClr val="154260"/>
                </a:solidFill>
                <a:latin typeface="Segoe UI Semibold"/>
                <a:cs typeface="Segoe UI Semibold"/>
              </a:rPr>
              <a:t> </a:t>
            </a:r>
            <a:r>
              <a:rPr sz="1850" spc="-10" dirty="0">
                <a:solidFill>
                  <a:srgbClr val="154260"/>
                </a:solidFill>
                <a:latin typeface="Segoe UI Semibold"/>
                <a:cs typeface="Segoe UI Semibold"/>
              </a:rPr>
              <a:t>Feature)</a:t>
            </a:r>
            <a:endParaRPr sz="1850" dirty="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1805"/>
              </a:spcBef>
            </a:pPr>
            <a:r>
              <a:rPr sz="1600" b="1" spc="-210" dirty="0">
                <a:solidFill>
                  <a:srgbClr val="1F2328"/>
                </a:solidFill>
                <a:latin typeface="Malgun Gothic"/>
                <a:cs typeface="Malgun Gothic"/>
              </a:rPr>
              <a:t>목표</a:t>
            </a:r>
            <a:r>
              <a:rPr sz="1400" spc="-210" dirty="0">
                <a:solidFill>
                  <a:srgbClr val="1F2328"/>
                </a:solidFill>
                <a:latin typeface="Segoe UI Semibold"/>
                <a:cs typeface="Segoe UI Semibold"/>
              </a:rPr>
              <a:t>:</a:t>
            </a:r>
            <a:r>
              <a:rPr sz="1400" spc="2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1400" spc="-65" dirty="0">
                <a:solidFill>
                  <a:srgbClr val="1F2328"/>
                </a:solidFill>
                <a:latin typeface="Segoe UI"/>
                <a:cs typeface="Segoe UI"/>
              </a:rPr>
              <a:t>P5(</a:t>
            </a:r>
            <a:r>
              <a:rPr sz="1600" spc="-65" dirty="0">
                <a:solidFill>
                  <a:srgbClr val="1F2328"/>
                </a:solidFill>
                <a:latin typeface="Malgun Gothic"/>
                <a:cs typeface="Malgun Gothic"/>
              </a:rPr>
              <a:t>점</a:t>
            </a:r>
            <a:r>
              <a:rPr sz="1400" spc="-65" dirty="0">
                <a:solidFill>
                  <a:srgbClr val="1F2328"/>
                </a:solidFill>
                <a:latin typeface="Segoe UI"/>
                <a:cs typeface="Segoe UI"/>
              </a:rPr>
              <a:t>-</a:t>
            </a:r>
            <a:r>
              <a:rPr sz="1600" spc="-305" dirty="0">
                <a:solidFill>
                  <a:srgbClr val="1F2328"/>
                </a:solidFill>
                <a:latin typeface="Malgun Gothic"/>
                <a:cs typeface="Malgun Gothic"/>
              </a:rPr>
              <a:t>점</a:t>
            </a:r>
            <a:r>
              <a:rPr sz="1600" spc="-15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600" spc="-235" dirty="0">
                <a:solidFill>
                  <a:srgbClr val="1F2328"/>
                </a:solidFill>
                <a:latin typeface="Malgun Gothic"/>
                <a:cs typeface="Malgun Gothic"/>
              </a:rPr>
              <a:t>거리</a:t>
            </a:r>
            <a:r>
              <a:rPr sz="1400" spc="-235" dirty="0">
                <a:solidFill>
                  <a:srgbClr val="1F2328"/>
                </a:solidFill>
                <a:latin typeface="Segoe UI"/>
                <a:cs typeface="Segoe UI"/>
              </a:rPr>
              <a:t>/</a:t>
            </a:r>
            <a:r>
              <a:rPr sz="1600" spc="-235" dirty="0">
                <a:solidFill>
                  <a:srgbClr val="1F2328"/>
                </a:solidFill>
                <a:latin typeface="Malgun Gothic"/>
                <a:cs typeface="Malgun Gothic"/>
              </a:rPr>
              <a:t>원</a:t>
            </a:r>
            <a:r>
              <a:rPr sz="1600" spc="-15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600" spc="-180" dirty="0">
                <a:solidFill>
                  <a:srgbClr val="1F2328"/>
                </a:solidFill>
                <a:latin typeface="Malgun Gothic"/>
                <a:cs typeface="Malgun Gothic"/>
              </a:rPr>
              <a:t>지름</a:t>
            </a:r>
            <a:r>
              <a:rPr sz="1400" spc="-180" dirty="0">
                <a:solidFill>
                  <a:srgbClr val="1F2328"/>
                </a:solidFill>
                <a:latin typeface="Segoe UI"/>
                <a:cs typeface="Segoe UI"/>
              </a:rPr>
              <a:t>·</a:t>
            </a:r>
            <a:r>
              <a:rPr sz="1600" spc="-180" dirty="0">
                <a:solidFill>
                  <a:srgbClr val="1F2328"/>
                </a:solidFill>
                <a:latin typeface="Malgun Gothic"/>
                <a:cs typeface="Malgun Gothic"/>
              </a:rPr>
              <a:t>중심</a:t>
            </a:r>
            <a:r>
              <a:rPr sz="1400" spc="-180" dirty="0">
                <a:solidFill>
                  <a:srgbClr val="1F2328"/>
                </a:solidFill>
                <a:latin typeface="Segoe UI"/>
                <a:cs typeface="Segoe UI"/>
              </a:rPr>
              <a:t>),</a:t>
            </a:r>
            <a:r>
              <a:rPr sz="1400" spc="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1400" spc="-65" dirty="0">
                <a:solidFill>
                  <a:srgbClr val="1F2328"/>
                </a:solidFill>
                <a:latin typeface="Segoe UI"/>
                <a:cs typeface="Segoe UI"/>
              </a:rPr>
              <a:t>P7(</a:t>
            </a:r>
            <a:r>
              <a:rPr sz="1600" spc="-65" dirty="0">
                <a:solidFill>
                  <a:srgbClr val="1F2328"/>
                </a:solidFill>
                <a:latin typeface="Malgun Gothic"/>
                <a:cs typeface="Malgun Gothic"/>
              </a:rPr>
              <a:t>선</a:t>
            </a:r>
            <a:r>
              <a:rPr sz="1400" spc="-65" dirty="0">
                <a:solidFill>
                  <a:srgbClr val="1F2328"/>
                </a:solidFill>
                <a:latin typeface="Segoe UI"/>
                <a:cs typeface="Segoe UI"/>
              </a:rPr>
              <a:t>-</a:t>
            </a:r>
            <a:r>
              <a:rPr sz="1600" spc="-305" dirty="0">
                <a:solidFill>
                  <a:srgbClr val="1F2328"/>
                </a:solidFill>
                <a:latin typeface="Malgun Gothic"/>
                <a:cs typeface="Malgun Gothic"/>
              </a:rPr>
              <a:t>선</a:t>
            </a:r>
            <a:r>
              <a:rPr sz="1600" spc="-15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600" spc="-210" dirty="0">
                <a:solidFill>
                  <a:srgbClr val="1F2328"/>
                </a:solidFill>
                <a:latin typeface="Malgun Gothic"/>
                <a:cs typeface="Malgun Gothic"/>
              </a:rPr>
              <a:t>각도</a:t>
            </a:r>
            <a:r>
              <a:rPr sz="1400" spc="-210" dirty="0">
                <a:solidFill>
                  <a:srgbClr val="1F2328"/>
                </a:solidFill>
                <a:latin typeface="Segoe UI"/>
                <a:cs typeface="Segoe UI"/>
              </a:rPr>
              <a:t>)</a:t>
            </a:r>
            <a:r>
              <a:rPr sz="1400" spc="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1600" spc="-305" dirty="0">
                <a:solidFill>
                  <a:srgbClr val="1F2328"/>
                </a:solidFill>
                <a:latin typeface="Malgun Gothic"/>
                <a:cs typeface="Malgun Gothic"/>
              </a:rPr>
              <a:t>측정</a:t>
            </a:r>
            <a:r>
              <a:rPr sz="1600" spc="-15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600" spc="-305" dirty="0">
                <a:solidFill>
                  <a:srgbClr val="1F2328"/>
                </a:solidFill>
                <a:latin typeface="Malgun Gothic"/>
                <a:cs typeface="Malgun Gothic"/>
              </a:rPr>
              <a:t>항목을</a:t>
            </a:r>
            <a:r>
              <a:rPr sz="1600" spc="-15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600" spc="-305" dirty="0">
                <a:solidFill>
                  <a:srgbClr val="1F2328"/>
                </a:solidFill>
                <a:latin typeface="Malgun Gothic"/>
                <a:cs typeface="Malgun Gothic"/>
              </a:rPr>
              <a:t>소스</a:t>
            </a:r>
            <a:r>
              <a:rPr sz="1600" spc="-15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600" spc="-305" dirty="0">
                <a:solidFill>
                  <a:srgbClr val="1F2328"/>
                </a:solidFill>
                <a:latin typeface="Malgun Gothic"/>
                <a:cs typeface="Malgun Gothic"/>
              </a:rPr>
              <a:t>수정</a:t>
            </a:r>
            <a:r>
              <a:rPr sz="1600" spc="-15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600" spc="-305" dirty="0">
                <a:solidFill>
                  <a:srgbClr val="1F2328"/>
                </a:solidFill>
                <a:latin typeface="Malgun Gothic"/>
                <a:cs typeface="Malgun Gothic"/>
              </a:rPr>
              <a:t>없이</a:t>
            </a:r>
            <a:r>
              <a:rPr sz="1600" spc="-15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1F2328"/>
                </a:solidFill>
                <a:latin typeface="Segoe UI"/>
                <a:cs typeface="Segoe UI"/>
              </a:rPr>
              <a:t>INI</a:t>
            </a:r>
            <a:r>
              <a:rPr sz="1400" spc="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1600" spc="-305" dirty="0">
                <a:solidFill>
                  <a:srgbClr val="1F2328"/>
                </a:solidFill>
                <a:latin typeface="Malgun Gothic"/>
                <a:cs typeface="Malgun Gothic"/>
              </a:rPr>
              <a:t>파일로</a:t>
            </a:r>
            <a:r>
              <a:rPr sz="1600" spc="-15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600" spc="-330" dirty="0">
                <a:solidFill>
                  <a:srgbClr val="1F2328"/>
                </a:solidFill>
                <a:latin typeface="Malgun Gothic"/>
                <a:cs typeface="Malgun Gothic"/>
              </a:rPr>
              <a:t>관리</a:t>
            </a:r>
            <a:endParaRPr sz="1600" dirty="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830"/>
              </a:spcBef>
            </a:pPr>
            <a:r>
              <a:rPr sz="1750" b="1" spc="-315" dirty="0">
                <a:solidFill>
                  <a:srgbClr val="1F618C"/>
                </a:solidFill>
                <a:latin typeface="Malgun Gothic"/>
                <a:cs typeface="Malgun Gothic"/>
              </a:rPr>
              <a:t>관련</a:t>
            </a:r>
            <a:r>
              <a:rPr sz="1750" b="1" spc="-185" dirty="0">
                <a:solidFill>
                  <a:srgbClr val="1F618C"/>
                </a:solidFill>
                <a:latin typeface="Malgun Gothic"/>
                <a:cs typeface="Malgun Gothic"/>
              </a:rPr>
              <a:t> </a:t>
            </a:r>
            <a:r>
              <a:rPr sz="1750" b="1" spc="-340" dirty="0">
                <a:solidFill>
                  <a:srgbClr val="1F618C"/>
                </a:solidFill>
                <a:latin typeface="Malgun Gothic"/>
                <a:cs typeface="Malgun Gothic"/>
              </a:rPr>
              <a:t>문서</a:t>
            </a:r>
            <a:endParaRPr sz="1750" dirty="0">
              <a:latin typeface="Malgun Gothic"/>
              <a:cs typeface="Malgun Gothic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399" y="3838574"/>
            <a:ext cx="66675" cy="6667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96962" y="3726148"/>
            <a:ext cx="2171065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dirty="0">
                <a:solidFill>
                  <a:srgbClr val="1F2328"/>
                </a:solidFill>
                <a:latin typeface="Segoe UI"/>
                <a:cs typeface="Segoe UI"/>
              </a:rPr>
              <a:t>FAI</a:t>
            </a:r>
            <a:r>
              <a:rPr sz="1400" spc="-5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1600" spc="-305" dirty="0">
                <a:solidFill>
                  <a:srgbClr val="1F2328"/>
                </a:solidFill>
                <a:latin typeface="Malgun Gothic"/>
                <a:cs typeface="Malgun Gothic"/>
              </a:rPr>
              <a:t>모듈</a:t>
            </a:r>
            <a:r>
              <a:rPr sz="1600" spc="-17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600" spc="-305" dirty="0">
                <a:solidFill>
                  <a:srgbClr val="1F2328"/>
                </a:solidFill>
                <a:latin typeface="Malgun Gothic"/>
                <a:cs typeface="Malgun Gothic"/>
              </a:rPr>
              <a:t>전체</a:t>
            </a:r>
            <a:r>
              <a:rPr sz="1600" spc="-17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600" spc="-305" dirty="0">
                <a:solidFill>
                  <a:srgbClr val="1F2328"/>
                </a:solidFill>
                <a:latin typeface="Malgun Gothic"/>
                <a:cs typeface="Malgun Gothic"/>
              </a:rPr>
              <a:t>개발자</a:t>
            </a:r>
            <a:r>
              <a:rPr sz="1600" spc="-17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600" spc="-175" dirty="0" err="1">
                <a:solidFill>
                  <a:srgbClr val="1F2328"/>
                </a:solidFill>
                <a:latin typeface="Malgun Gothic"/>
                <a:cs typeface="Malgun Gothic"/>
              </a:rPr>
              <a:t>가이드</a:t>
            </a:r>
            <a:r>
              <a:rPr sz="1400" spc="-175" dirty="0">
                <a:solidFill>
                  <a:srgbClr val="1F2328"/>
                </a:solidFill>
                <a:latin typeface="Segoe UI"/>
                <a:cs typeface="Segoe UI"/>
              </a:rPr>
              <a:t>:</a:t>
            </a:r>
            <a:endParaRPr sz="1400" dirty="0">
              <a:latin typeface="Segoe UI"/>
              <a:cs typeface="Segoe UI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399" y="4162424"/>
            <a:ext cx="66675" cy="6667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96962" y="4049998"/>
            <a:ext cx="1455420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dirty="0">
                <a:solidFill>
                  <a:srgbClr val="1F2328"/>
                </a:solidFill>
                <a:latin typeface="Segoe UI"/>
                <a:cs typeface="Segoe UI"/>
              </a:rPr>
              <a:t>FAI</a:t>
            </a:r>
            <a:r>
              <a:rPr sz="1400" spc="-6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1600" spc="-305" dirty="0">
                <a:solidFill>
                  <a:srgbClr val="1F2328"/>
                </a:solidFill>
                <a:latin typeface="Malgun Gothic"/>
                <a:cs typeface="Malgun Gothic"/>
              </a:rPr>
              <a:t>측정</a:t>
            </a:r>
            <a:r>
              <a:rPr sz="1600" spc="-17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600" spc="-305" dirty="0">
                <a:solidFill>
                  <a:srgbClr val="1F2328"/>
                </a:solidFill>
                <a:latin typeface="Malgun Gothic"/>
                <a:cs typeface="Malgun Gothic"/>
              </a:rPr>
              <a:t>패턴</a:t>
            </a:r>
            <a:r>
              <a:rPr sz="1600" spc="-17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600" spc="-155" dirty="0">
                <a:solidFill>
                  <a:srgbClr val="1F2328"/>
                </a:solidFill>
                <a:latin typeface="Malgun Gothic"/>
                <a:cs typeface="Malgun Gothic"/>
              </a:rPr>
              <a:t>정의</a:t>
            </a:r>
            <a:r>
              <a:rPr sz="1400" spc="-155" dirty="0">
                <a:solidFill>
                  <a:srgbClr val="1F2328"/>
                </a:solidFill>
                <a:latin typeface="Segoe UI"/>
                <a:cs typeface="Segoe UI"/>
              </a:rPr>
              <a:t>:</a:t>
            </a:r>
            <a:endParaRPr sz="1400" dirty="0">
              <a:latin typeface="Segoe UI"/>
              <a:cs typeface="Segoe U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399" y="5067299"/>
            <a:ext cx="66675" cy="6667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735012" y="4380420"/>
            <a:ext cx="3095625" cy="847090"/>
          </a:xfrm>
          <a:prstGeom prst="rect">
            <a:avLst/>
          </a:prstGeom>
        </p:spPr>
        <p:txBody>
          <a:bodyPr vert="horz" wrap="square" lIns="0" tIns="168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z="1750" b="1" spc="-315" dirty="0">
                <a:solidFill>
                  <a:srgbClr val="1F618C"/>
                </a:solidFill>
                <a:latin typeface="Malgun Gothic"/>
                <a:cs typeface="Malgun Gothic"/>
              </a:rPr>
              <a:t>관련</a:t>
            </a:r>
            <a:r>
              <a:rPr sz="1750" b="1" spc="-175" dirty="0">
                <a:solidFill>
                  <a:srgbClr val="1F618C"/>
                </a:solidFill>
                <a:latin typeface="Malgun Gothic"/>
                <a:cs typeface="Malgun Gothic"/>
              </a:rPr>
              <a:t> </a:t>
            </a:r>
            <a:r>
              <a:rPr sz="1550" dirty="0">
                <a:solidFill>
                  <a:srgbClr val="1F618C"/>
                </a:solidFill>
                <a:latin typeface="Segoe UI Semibold"/>
                <a:cs typeface="Segoe UI Semibold"/>
              </a:rPr>
              <a:t>Git</a:t>
            </a:r>
            <a:r>
              <a:rPr sz="1550" spc="10" dirty="0">
                <a:solidFill>
                  <a:srgbClr val="1F618C"/>
                </a:solidFill>
                <a:latin typeface="Segoe UI Semibold"/>
                <a:cs typeface="Segoe UI Semibold"/>
              </a:rPr>
              <a:t> </a:t>
            </a:r>
            <a:r>
              <a:rPr sz="1550" spc="-10" dirty="0">
                <a:solidFill>
                  <a:srgbClr val="1F618C"/>
                </a:solidFill>
                <a:latin typeface="Segoe UI Semibold"/>
                <a:cs typeface="Segoe UI Semibold"/>
              </a:rPr>
              <a:t>Branch</a:t>
            </a:r>
            <a:endParaRPr sz="1550">
              <a:latin typeface="Segoe UI Semibold"/>
              <a:cs typeface="Segoe UI Semibold"/>
            </a:endParaRPr>
          </a:p>
          <a:p>
            <a:pPr marL="374015">
              <a:lnSpc>
                <a:spcPct val="100000"/>
              </a:lnSpc>
              <a:spcBef>
                <a:spcPts val="1150"/>
              </a:spcBef>
            </a:pPr>
            <a:r>
              <a:rPr sz="1400" i="1" spc="-85" dirty="0">
                <a:solidFill>
                  <a:srgbClr val="1F2328"/>
                </a:solidFill>
                <a:latin typeface="Segoe UI"/>
                <a:cs typeface="Segoe UI"/>
              </a:rPr>
              <a:t>origin/feature/</a:t>
            </a:r>
            <a:r>
              <a:rPr sz="1650" spc="-85" dirty="0">
                <a:solidFill>
                  <a:srgbClr val="1F2328"/>
                </a:solidFill>
                <a:latin typeface="Malgun Gothic"/>
                <a:cs typeface="Malgun Gothic"/>
              </a:rPr>
              <a:t>김준호</a:t>
            </a:r>
            <a:r>
              <a:rPr sz="1400" i="1" spc="-85" dirty="0">
                <a:solidFill>
                  <a:srgbClr val="1F2328"/>
                </a:solidFill>
                <a:latin typeface="Segoe UI"/>
                <a:cs typeface="Segoe UI"/>
              </a:rPr>
              <a:t>/</a:t>
            </a:r>
            <a:r>
              <a:rPr sz="1650" spc="-85" dirty="0">
                <a:solidFill>
                  <a:srgbClr val="1F2328"/>
                </a:solidFill>
                <a:latin typeface="Malgun Gothic"/>
                <a:cs typeface="Malgun Gothic"/>
              </a:rPr>
              <a:t>동적</a:t>
            </a:r>
            <a:r>
              <a:rPr sz="1400" i="1" spc="-85" dirty="0">
                <a:solidFill>
                  <a:srgbClr val="1F2328"/>
                </a:solidFill>
                <a:latin typeface="Segoe UI"/>
                <a:cs typeface="Segoe UI"/>
              </a:rPr>
              <a:t>FAI_</a:t>
            </a:r>
            <a:r>
              <a:rPr sz="1650" spc="-85" dirty="0">
                <a:solidFill>
                  <a:srgbClr val="1F2328"/>
                </a:solidFill>
                <a:latin typeface="Malgun Gothic"/>
                <a:cs typeface="Malgun Gothic"/>
              </a:rPr>
              <a:t>개발</a:t>
            </a:r>
            <a:endParaRPr sz="1650">
              <a:latin typeface="Malgun Gothic"/>
              <a:cs typeface="Malgun Gothic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6129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  <p:graphicFrame>
        <p:nvGraphicFramePr>
          <p:cNvPr id="16" name="개체 15">
            <a:extLst>
              <a:ext uri="{FF2B5EF4-FFF2-40B4-BE49-F238E27FC236}">
                <a16:creationId xmlns:a16="http://schemas.microsoft.com/office/drawing/2014/main" id="{E4C6D1B9-A59D-4652-8FA1-C042E9F86E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6414887"/>
              </p:ext>
            </p:extLst>
          </p:nvPr>
        </p:nvGraphicFramePr>
        <p:xfrm>
          <a:off x="3383915" y="3565802"/>
          <a:ext cx="20669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" name="포장기 셸 개체" showAsIcon="1" r:id="rId4" imgW="2066925" imgH="514350" progId="Package">
                  <p:embed/>
                </p:oleObj>
              </mc:Choice>
              <mc:Fallback>
                <p:oleObj name="포장기 셸 개체" showAsIcon="1" r:id="rId4" imgW="2066925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383915" y="3565802"/>
                        <a:ext cx="2066925" cy="514350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개체 17">
            <a:extLst>
              <a:ext uri="{FF2B5EF4-FFF2-40B4-BE49-F238E27FC236}">
                <a16:creationId xmlns:a16="http://schemas.microsoft.com/office/drawing/2014/main" id="{E5ED701D-458D-479E-BB8B-FCC3FCC316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8120241"/>
              </p:ext>
            </p:extLst>
          </p:nvPr>
        </p:nvGraphicFramePr>
        <p:xfrm>
          <a:off x="2752723" y="4175718"/>
          <a:ext cx="17240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name="포장기 셸 개체" showAsIcon="1" r:id="rId6" imgW="1724025" imgH="514350" progId="Package">
                  <p:embed/>
                </p:oleObj>
              </mc:Choice>
              <mc:Fallback>
                <p:oleObj name="포장기 셸 개체" showAsIcon="1" r:id="rId6" imgW="1724025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752723" y="4175718"/>
                        <a:ext cx="1724025" cy="514350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2474" y="1352549"/>
            <a:ext cx="10696575" cy="19050"/>
          </a:xfrm>
          <a:custGeom>
            <a:avLst/>
            <a:gdLst/>
            <a:ahLst/>
            <a:cxnLst/>
            <a:rect l="l" t="t" r="r" b="b"/>
            <a:pathLst>
              <a:path w="10696575" h="19050">
                <a:moveTo>
                  <a:pt x="10696574" y="19049"/>
                </a:moveTo>
                <a:lnTo>
                  <a:pt x="0" y="19049"/>
                </a:lnTo>
                <a:lnTo>
                  <a:pt x="0" y="0"/>
                </a:lnTo>
                <a:lnTo>
                  <a:pt x="10696574" y="0"/>
                </a:lnTo>
                <a:lnTo>
                  <a:pt x="10696574" y="19049"/>
                </a:lnTo>
                <a:close/>
              </a:path>
            </a:pathLst>
          </a:custGeom>
          <a:solidFill>
            <a:srgbClr val="1A52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35012" y="869772"/>
            <a:ext cx="558800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b="1" spc="-484" dirty="0">
                <a:solidFill>
                  <a:srgbClr val="1A5275"/>
                </a:solidFill>
                <a:latin typeface="Malgun Gothic"/>
                <a:cs typeface="Malgun Gothic"/>
              </a:rPr>
              <a:t>목차</a:t>
            </a:r>
            <a:endParaRPr sz="2550">
              <a:latin typeface="Malgun Gothic"/>
              <a:cs typeface="Malgun Gothic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6129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52474" y="1523999"/>
          <a:ext cx="3076575" cy="2481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7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spc="-50" dirty="0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#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1A5275"/>
                    </a:solidFill>
                  </a:tcPr>
                </a:tc>
                <a:tc>
                  <a:txBody>
                    <a:bodyPr/>
                    <a:lstStyle/>
                    <a:p>
                      <a:pPr marL="88519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-25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슬라이드</a:t>
                      </a:r>
                      <a:r>
                        <a:rPr sz="1350" b="1" spc="-12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b="1" spc="-3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제목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1A52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315">
                <a:tc>
                  <a:txBody>
                    <a:bodyPr/>
                    <a:lstStyle/>
                    <a:p>
                      <a:pPr marR="71120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spc="-5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1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측정</a:t>
                      </a:r>
                      <a:r>
                        <a:rPr sz="1350" spc="-13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패턴정리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spc="-5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—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개발</a:t>
                      </a:r>
                      <a:r>
                        <a:rPr sz="1350" b="1" spc="-13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b="1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일정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marR="71120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spc="-5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2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개발</a:t>
                      </a:r>
                      <a:r>
                        <a:rPr sz="1350" spc="-13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일정</a:t>
                      </a:r>
                      <a:r>
                        <a:rPr sz="1350" spc="-13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개요</a:t>
                      </a:r>
                      <a:r>
                        <a:rPr sz="1350" spc="-13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spc="-2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(3</a:t>
                      </a:r>
                      <a:r>
                        <a:rPr sz="1350" spc="-2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개월</a:t>
                      </a:r>
                      <a:r>
                        <a:rPr sz="1200" spc="-2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)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marR="71120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spc="-5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3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M1</a:t>
                      </a:r>
                      <a:r>
                        <a:rPr sz="1200" spc="1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—</a:t>
                      </a:r>
                      <a:r>
                        <a:rPr sz="1200" spc="1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Model</a:t>
                      </a:r>
                      <a:r>
                        <a:rPr sz="1200" spc="2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완성</a:t>
                      </a:r>
                      <a:r>
                        <a:rPr sz="1350" spc="-13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+</a:t>
                      </a:r>
                      <a:r>
                        <a:rPr sz="1200" spc="2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Controller</a:t>
                      </a:r>
                      <a:r>
                        <a:rPr sz="1200" spc="1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연결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315">
                <a:tc>
                  <a:txBody>
                    <a:bodyPr/>
                    <a:lstStyle/>
                    <a:p>
                      <a:pPr marR="71120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spc="-5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4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M2</a:t>
                      </a:r>
                      <a:r>
                        <a:rPr sz="1200" spc="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—</a:t>
                      </a:r>
                      <a:r>
                        <a:rPr sz="1200" spc="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View</a:t>
                      </a:r>
                      <a:r>
                        <a:rPr sz="1200" spc="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기초</a:t>
                      </a:r>
                      <a:r>
                        <a:rPr sz="1350" spc="-13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+</a:t>
                      </a:r>
                      <a:r>
                        <a:rPr sz="1200" spc="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진입</a:t>
                      </a:r>
                      <a:r>
                        <a:rPr sz="1350" spc="-13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버튼</a:t>
                      </a:r>
                      <a:r>
                        <a:rPr sz="1350" spc="-13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연결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marR="71120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spc="-5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5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M3</a:t>
                      </a:r>
                      <a:r>
                        <a:rPr sz="1200" spc="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—</a:t>
                      </a:r>
                      <a:r>
                        <a:rPr sz="1200" spc="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View</a:t>
                      </a:r>
                      <a:r>
                        <a:rPr sz="1200" spc="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완성</a:t>
                      </a:r>
                      <a:r>
                        <a:rPr sz="1350" spc="-13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+</a:t>
                      </a:r>
                      <a:r>
                        <a:rPr sz="1200" spc="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전체</a:t>
                      </a:r>
                      <a:r>
                        <a:rPr sz="1350" spc="-13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통합</a:t>
                      </a:r>
                      <a:r>
                        <a:rPr sz="1350" spc="-13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테스트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229349" y="1523999"/>
          <a:ext cx="3943350" cy="42500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7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spc="-50" dirty="0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#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1A5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-25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슬라이드</a:t>
                      </a:r>
                      <a:r>
                        <a:rPr sz="1350" b="1" spc="-12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b="1" spc="-3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제목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1A52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315">
                <a:tc>
                  <a:txBody>
                    <a:bodyPr/>
                    <a:lstStyle/>
                    <a:p>
                      <a:pPr marR="5080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spc="-5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—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TODO</a:t>
                      </a:r>
                      <a:r>
                        <a:rPr sz="1200" spc="-55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b="1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목록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marR="75565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spc="-5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7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TODO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전체</a:t>
                      </a:r>
                      <a:r>
                        <a:rPr sz="1350" spc="-14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구조</a:t>
                      </a:r>
                      <a:r>
                        <a:rPr sz="1350" spc="-14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spc="-2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(MVC)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marR="75565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spc="-5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8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TODO</a:t>
                      </a:r>
                      <a:r>
                        <a:rPr sz="1200" spc="-1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—</a:t>
                      </a:r>
                      <a:r>
                        <a:rPr sz="1200" spc="-1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2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Model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marR="75565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spc="-5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9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TODO</a:t>
                      </a:r>
                      <a:r>
                        <a:rPr sz="1200" spc="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—</a:t>
                      </a:r>
                      <a:r>
                        <a:rPr sz="1200" spc="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View</a:t>
                      </a:r>
                      <a:r>
                        <a:rPr sz="1200" spc="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:</a:t>
                      </a:r>
                      <a:r>
                        <a:rPr sz="1200" spc="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다이얼로그</a:t>
                      </a:r>
                      <a:r>
                        <a:rPr sz="1350" spc="-14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리소스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3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spc="-2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10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TODO</a:t>
                      </a:r>
                      <a:r>
                        <a:rPr sz="1200" spc="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—</a:t>
                      </a:r>
                      <a:r>
                        <a:rPr sz="1200" spc="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View</a:t>
                      </a:r>
                      <a:r>
                        <a:rPr sz="1200" spc="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:</a:t>
                      </a:r>
                      <a:r>
                        <a:rPr sz="1200" spc="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Dlg.cpp</a:t>
                      </a:r>
                      <a:r>
                        <a:rPr sz="1200" spc="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구현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spc="-2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11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TODO</a:t>
                      </a:r>
                      <a:r>
                        <a:rPr sz="1200" spc="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—</a:t>
                      </a:r>
                      <a:r>
                        <a:rPr sz="1200" spc="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View</a:t>
                      </a:r>
                      <a:r>
                        <a:rPr sz="1200" spc="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:</a:t>
                      </a:r>
                      <a:r>
                        <a:rPr sz="1200" spc="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규칙</a:t>
                      </a:r>
                      <a:r>
                        <a:rPr sz="1350" spc="-13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0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추가</a:t>
                      </a:r>
                      <a:r>
                        <a:rPr sz="1200" spc="-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/</a:t>
                      </a:r>
                      <a:r>
                        <a:rPr sz="1350" spc="-20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삭제</a:t>
                      </a:r>
                      <a:r>
                        <a:rPr sz="1350" spc="-14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핸들러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spc="-2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12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TODO</a:t>
                      </a:r>
                      <a:r>
                        <a:rPr sz="1200" spc="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—</a:t>
                      </a:r>
                      <a:r>
                        <a:rPr sz="1200" spc="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Controller</a:t>
                      </a:r>
                      <a:r>
                        <a:rPr sz="1200" spc="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:</a:t>
                      </a:r>
                      <a:r>
                        <a:rPr sz="1200" spc="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Inspector</a:t>
                      </a:r>
                      <a:r>
                        <a:rPr sz="1200" spc="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연결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spc="-2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13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TODO</a:t>
                      </a:r>
                      <a:r>
                        <a:rPr sz="1200" spc="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—</a:t>
                      </a:r>
                      <a:r>
                        <a:rPr sz="1200" spc="1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Controller</a:t>
                      </a:r>
                      <a:r>
                        <a:rPr sz="1200" spc="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:</a:t>
                      </a:r>
                      <a:r>
                        <a:rPr sz="1200" spc="1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진입</a:t>
                      </a:r>
                      <a:r>
                        <a:rPr sz="1350" spc="-13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버튼</a:t>
                      </a:r>
                      <a:r>
                        <a:rPr sz="1350" spc="-13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+</a:t>
                      </a:r>
                      <a:r>
                        <a:rPr sz="1200" spc="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LoadRules</a:t>
                      </a:r>
                      <a:r>
                        <a:rPr sz="1200" spc="1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시점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marR="97155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spc="-5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-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최종</a:t>
                      </a:r>
                      <a:r>
                        <a:rPr sz="1350" b="1" spc="-14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b="1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개발</a:t>
                      </a:r>
                      <a:r>
                        <a:rPr sz="1350" b="1" spc="-13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Output</a:t>
                      </a:r>
                      <a:r>
                        <a:rPr sz="1200" spc="10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b="1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1350" b="1" spc="-13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b="1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정리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13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spc="-2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14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최종</a:t>
                      </a:r>
                      <a:r>
                        <a:rPr sz="1350" spc="-13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개발</a:t>
                      </a:r>
                      <a:r>
                        <a:rPr sz="1350" spc="-13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spc="-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Output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spc="-2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15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정리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954086" y="1833430"/>
            <a:ext cx="7656513" cy="565539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400" dirty="0">
                <a:solidFill>
                  <a:srgbClr val="58626E"/>
                </a:solidFill>
                <a:latin typeface="Segoe UI"/>
                <a:cs typeface="Segoe UI"/>
              </a:rPr>
              <a:t>FAI</a:t>
            </a:r>
            <a:r>
              <a:rPr sz="1400" spc="5" dirty="0">
                <a:solidFill>
                  <a:srgbClr val="58626E"/>
                </a:solidFill>
                <a:latin typeface="Segoe UI"/>
                <a:cs typeface="Segoe UI"/>
              </a:rPr>
              <a:t> </a:t>
            </a:r>
            <a:r>
              <a:rPr sz="1600" spc="-305" dirty="0">
                <a:solidFill>
                  <a:srgbClr val="58626E"/>
                </a:solidFill>
                <a:latin typeface="Malgun Gothic"/>
                <a:cs typeface="Malgun Gothic"/>
              </a:rPr>
              <a:t>계산</a:t>
            </a:r>
            <a:r>
              <a:rPr sz="1600" spc="-170" dirty="0">
                <a:solidFill>
                  <a:srgbClr val="58626E"/>
                </a:solidFill>
                <a:latin typeface="Malgun Gothic"/>
                <a:cs typeface="Malgun Gothic"/>
              </a:rPr>
              <a:t> </a:t>
            </a:r>
            <a:r>
              <a:rPr sz="1600" spc="-305" dirty="0">
                <a:solidFill>
                  <a:srgbClr val="58626E"/>
                </a:solidFill>
                <a:latin typeface="Malgun Gothic"/>
                <a:cs typeface="Malgun Gothic"/>
              </a:rPr>
              <a:t>코드에서</a:t>
            </a:r>
            <a:r>
              <a:rPr sz="1600" spc="-170" dirty="0">
                <a:solidFill>
                  <a:srgbClr val="58626E"/>
                </a:solidFill>
                <a:latin typeface="Malgun Gothic"/>
                <a:cs typeface="Malgun Gothic"/>
              </a:rPr>
              <a:t> </a:t>
            </a:r>
            <a:r>
              <a:rPr sz="1600" spc="-305" dirty="0">
                <a:solidFill>
                  <a:srgbClr val="58626E"/>
                </a:solidFill>
                <a:latin typeface="Malgun Gothic"/>
                <a:cs typeface="Malgun Gothic"/>
              </a:rPr>
              <a:t>반복되는</a:t>
            </a:r>
            <a:r>
              <a:rPr sz="1600" spc="-175" dirty="0">
                <a:solidFill>
                  <a:srgbClr val="58626E"/>
                </a:solidFill>
                <a:latin typeface="Malgun Gothic"/>
                <a:cs typeface="Malgun Gothic"/>
              </a:rPr>
              <a:t> </a:t>
            </a:r>
            <a:r>
              <a:rPr sz="1600" spc="-305" dirty="0">
                <a:solidFill>
                  <a:srgbClr val="58626E"/>
                </a:solidFill>
                <a:latin typeface="Malgun Gothic"/>
                <a:cs typeface="Malgun Gothic"/>
              </a:rPr>
              <a:t>계산</a:t>
            </a:r>
            <a:r>
              <a:rPr sz="1600" spc="-170" dirty="0">
                <a:solidFill>
                  <a:srgbClr val="58626E"/>
                </a:solidFill>
                <a:latin typeface="Malgun Gothic"/>
                <a:cs typeface="Malgun Gothic"/>
              </a:rPr>
              <a:t> </a:t>
            </a:r>
            <a:r>
              <a:rPr sz="1600" spc="-305" dirty="0">
                <a:solidFill>
                  <a:srgbClr val="58626E"/>
                </a:solidFill>
                <a:latin typeface="Malgun Gothic"/>
                <a:cs typeface="Malgun Gothic"/>
              </a:rPr>
              <a:t>커널을</a:t>
            </a:r>
            <a:r>
              <a:rPr sz="1600" spc="-170" dirty="0">
                <a:solidFill>
                  <a:srgbClr val="58626E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58626E"/>
                </a:solidFill>
                <a:latin typeface="Segoe UI Semibold"/>
                <a:cs typeface="Segoe UI Semibold"/>
              </a:rPr>
              <a:t>P1~P7</a:t>
            </a:r>
            <a:r>
              <a:rPr sz="1400" spc="5" dirty="0">
                <a:solidFill>
                  <a:srgbClr val="58626E"/>
                </a:solidFill>
                <a:latin typeface="Segoe UI Semibold"/>
                <a:cs typeface="Segoe UI Semibold"/>
              </a:rPr>
              <a:t> </a:t>
            </a:r>
            <a:r>
              <a:rPr sz="1600" spc="-305" dirty="0">
                <a:solidFill>
                  <a:srgbClr val="58626E"/>
                </a:solidFill>
                <a:latin typeface="Malgun Gothic"/>
                <a:cs typeface="Malgun Gothic"/>
              </a:rPr>
              <a:t>으로</a:t>
            </a:r>
            <a:r>
              <a:rPr sz="1600" spc="-170" dirty="0">
                <a:solidFill>
                  <a:srgbClr val="58626E"/>
                </a:solidFill>
                <a:latin typeface="Malgun Gothic"/>
                <a:cs typeface="Malgun Gothic"/>
              </a:rPr>
              <a:t> </a:t>
            </a:r>
            <a:r>
              <a:rPr sz="1600" spc="-305" dirty="0">
                <a:solidFill>
                  <a:srgbClr val="58626E"/>
                </a:solidFill>
                <a:latin typeface="Malgun Gothic"/>
                <a:cs typeface="Malgun Gothic"/>
              </a:rPr>
              <a:t>정리</a:t>
            </a:r>
            <a:r>
              <a:rPr sz="1600" spc="-170" dirty="0">
                <a:solidFill>
                  <a:srgbClr val="58626E"/>
                </a:solidFill>
                <a:latin typeface="Malgun Gothic"/>
                <a:cs typeface="Malgun Gothic"/>
              </a:rPr>
              <a:t> </a:t>
            </a:r>
            <a:r>
              <a:rPr sz="1600" spc="-165" dirty="0">
                <a:solidFill>
                  <a:srgbClr val="58626E"/>
                </a:solidFill>
                <a:latin typeface="Malgun Gothic"/>
                <a:cs typeface="Malgun Gothic"/>
              </a:rPr>
              <a:t>했습니다</a:t>
            </a:r>
            <a:r>
              <a:rPr sz="1400" spc="-165" dirty="0">
                <a:solidFill>
                  <a:srgbClr val="58626E"/>
                </a:solidFill>
                <a:latin typeface="Segoe UI"/>
                <a:cs typeface="Segoe UI"/>
              </a:rPr>
              <a:t>.</a:t>
            </a:r>
            <a:endParaRPr sz="14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400" i="1" spc="-235" dirty="0">
                <a:solidFill>
                  <a:srgbClr val="58626E"/>
                </a:solidFill>
                <a:latin typeface="Segoe UI"/>
                <a:cs typeface="Segoe UI"/>
              </a:rPr>
              <a:t>(</a:t>
            </a:r>
            <a:r>
              <a:rPr sz="1650" spc="-235" dirty="0">
                <a:solidFill>
                  <a:srgbClr val="58626E"/>
                </a:solidFill>
                <a:latin typeface="Malgun Gothic"/>
                <a:cs typeface="Malgun Gothic"/>
              </a:rPr>
              <a:t>전체</a:t>
            </a:r>
            <a:r>
              <a:rPr sz="1650" spc="-190" dirty="0">
                <a:solidFill>
                  <a:srgbClr val="58626E"/>
                </a:solidFill>
                <a:latin typeface="Malgun Gothic"/>
                <a:cs typeface="Malgun Gothic"/>
              </a:rPr>
              <a:t> </a:t>
            </a:r>
            <a:r>
              <a:rPr sz="1650" spc="-350" dirty="0" err="1">
                <a:solidFill>
                  <a:srgbClr val="58626E"/>
                </a:solidFill>
                <a:latin typeface="Malgun Gothic"/>
                <a:cs typeface="Malgun Gothic"/>
              </a:rPr>
              <a:t>패턴</a:t>
            </a:r>
            <a:r>
              <a:rPr sz="1650" spc="-190" dirty="0">
                <a:solidFill>
                  <a:srgbClr val="58626E"/>
                </a:solidFill>
                <a:latin typeface="Malgun Gothic"/>
                <a:cs typeface="Malgun Gothic"/>
              </a:rPr>
              <a:t> </a:t>
            </a:r>
            <a:r>
              <a:rPr sz="1650" spc="-135" dirty="0" err="1">
                <a:solidFill>
                  <a:srgbClr val="58626E"/>
                </a:solidFill>
                <a:latin typeface="Malgun Gothic"/>
                <a:cs typeface="Malgun Gothic"/>
              </a:rPr>
              <a:t>정의</a:t>
            </a:r>
            <a:r>
              <a:rPr lang="en-US" altLang="ko-KR" sz="1650" spc="-135" dirty="0">
                <a:solidFill>
                  <a:srgbClr val="58626E"/>
                </a:solidFill>
                <a:latin typeface="Malgun Gothic"/>
                <a:cs typeface="Malgun Gothic"/>
              </a:rPr>
              <a:t> </a:t>
            </a:r>
            <a:r>
              <a:rPr lang="ko-KR" altLang="en-US" sz="1650" spc="-135" dirty="0">
                <a:solidFill>
                  <a:srgbClr val="58626E"/>
                </a:solidFill>
                <a:latin typeface="Malgun Gothic"/>
                <a:cs typeface="Malgun Gothic"/>
              </a:rPr>
              <a:t>문서</a:t>
            </a:r>
            <a:r>
              <a:rPr sz="1400" i="1" spc="-135" dirty="0">
                <a:solidFill>
                  <a:srgbClr val="58626E"/>
                </a:solidFill>
                <a:latin typeface="Segoe UI"/>
                <a:cs typeface="Segoe UI"/>
              </a:rPr>
              <a:t>:</a:t>
            </a:r>
            <a:r>
              <a:rPr sz="1400" i="1" spc="315" dirty="0">
                <a:solidFill>
                  <a:srgbClr val="58626E"/>
                </a:solidFill>
                <a:latin typeface="Segoe UI"/>
                <a:cs typeface="Segoe UI"/>
              </a:rPr>
              <a:t> </a:t>
            </a:r>
            <a:r>
              <a:rPr lang="en-US" altLang="ko-KR" sz="1400" i="1" spc="315" dirty="0">
                <a:solidFill>
                  <a:srgbClr val="58626E"/>
                </a:solidFill>
                <a:latin typeface="Segoe UI"/>
                <a:cs typeface="Segoe UI"/>
              </a:rPr>
              <a:t>                     </a:t>
            </a:r>
            <a:r>
              <a:rPr sz="1400" i="1" spc="-50" dirty="0">
                <a:solidFill>
                  <a:srgbClr val="58626E"/>
                </a:solidFill>
                <a:latin typeface="Segoe UI"/>
                <a:cs typeface="Segoe UI"/>
              </a:rPr>
              <a:t>)</a:t>
            </a:r>
            <a:endParaRPr sz="1400" dirty="0">
              <a:latin typeface="Segoe UI"/>
              <a:cs typeface="Segoe UI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752474" y="1695449"/>
            <a:ext cx="10696575" cy="19050"/>
          </a:xfrm>
          <a:custGeom>
            <a:avLst/>
            <a:gdLst/>
            <a:ahLst/>
            <a:cxnLst/>
            <a:rect l="l" t="t" r="r" b="b"/>
            <a:pathLst>
              <a:path w="10696575" h="19050">
                <a:moveTo>
                  <a:pt x="10696574" y="19049"/>
                </a:moveTo>
                <a:lnTo>
                  <a:pt x="0" y="19049"/>
                </a:lnTo>
                <a:lnTo>
                  <a:pt x="0" y="0"/>
                </a:lnTo>
                <a:lnTo>
                  <a:pt x="10696574" y="0"/>
                </a:lnTo>
                <a:lnTo>
                  <a:pt x="10696574" y="19049"/>
                </a:lnTo>
                <a:close/>
              </a:path>
            </a:pathLst>
          </a:custGeom>
          <a:solidFill>
            <a:srgbClr val="1A52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52474" y="1866899"/>
            <a:ext cx="38100" cy="552450"/>
          </a:xfrm>
          <a:custGeom>
            <a:avLst/>
            <a:gdLst/>
            <a:ahLst/>
            <a:cxnLst/>
            <a:rect l="l" t="t" r="r" b="b"/>
            <a:pathLst>
              <a:path w="38100" h="552450">
                <a:moveTo>
                  <a:pt x="38099" y="552449"/>
                </a:moveTo>
                <a:lnTo>
                  <a:pt x="0" y="552449"/>
                </a:lnTo>
                <a:lnTo>
                  <a:pt x="0" y="0"/>
                </a:lnTo>
                <a:lnTo>
                  <a:pt x="38099" y="0"/>
                </a:lnTo>
                <a:lnTo>
                  <a:pt x="38099" y="552449"/>
                </a:lnTo>
                <a:close/>
              </a:path>
            </a:pathLst>
          </a:custGeom>
          <a:solidFill>
            <a:srgbClr val="D0D9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5012" y="1212672"/>
            <a:ext cx="5309870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b="1" spc="-459" dirty="0">
                <a:latin typeface="Malgun Gothic"/>
                <a:cs typeface="Malgun Gothic"/>
              </a:rPr>
              <a:t>측정</a:t>
            </a:r>
            <a:r>
              <a:rPr sz="2550" b="1" spc="-280" dirty="0">
                <a:latin typeface="Malgun Gothic"/>
                <a:cs typeface="Malgun Gothic"/>
              </a:rPr>
              <a:t> </a:t>
            </a:r>
            <a:r>
              <a:rPr sz="2550" b="1" spc="-260" dirty="0">
                <a:latin typeface="Malgun Gothic"/>
                <a:cs typeface="Malgun Gothic"/>
              </a:rPr>
              <a:t>패턴정리</a:t>
            </a:r>
            <a:r>
              <a:rPr spc="-260" dirty="0"/>
              <a:t>(1)</a:t>
            </a:r>
            <a:r>
              <a:rPr spc="10" dirty="0"/>
              <a:t> </a:t>
            </a:r>
            <a:r>
              <a:rPr dirty="0"/>
              <a:t>-</a:t>
            </a:r>
            <a:r>
              <a:rPr spc="10" dirty="0"/>
              <a:t> </a:t>
            </a:r>
            <a:r>
              <a:rPr sz="2550" b="1" spc="-225" dirty="0">
                <a:latin typeface="Malgun Gothic"/>
                <a:cs typeface="Malgun Gothic"/>
              </a:rPr>
              <a:t>점</a:t>
            </a:r>
            <a:r>
              <a:rPr spc="-225" dirty="0"/>
              <a:t>-</a:t>
            </a:r>
            <a:r>
              <a:rPr sz="2550" b="1" spc="-459" dirty="0">
                <a:latin typeface="Malgun Gothic"/>
                <a:cs typeface="Malgun Gothic"/>
              </a:rPr>
              <a:t>점</a:t>
            </a:r>
            <a:r>
              <a:rPr sz="2550" b="1" spc="-265" dirty="0">
                <a:latin typeface="Malgun Gothic"/>
                <a:cs typeface="Malgun Gothic"/>
              </a:rPr>
              <a:t> </a:t>
            </a:r>
            <a:r>
              <a:rPr sz="2550" b="1" spc="-459" dirty="0">
                <a:latin typeface="Malgun Gothic"/>
                <a:cs typeface="Malgun Gothic"/>
              </a:rPr>
              <a:t>거리</a:t>
            </a:r>
            <a:r>
              <a:rPr sz="2550" b="1" spc="-270" dirty="0">
                <a:latin typeface="Malgun Gothic"/>
                <a:cs typeface="Malgun Gothic"/>
              </a:rPr>
              <a:t> </a:t>
            </a:r>
            <a:r>
              <a:rPr dirty="0"/>
              <a:t>/</a:t>
            </a:r>
            <a:r>
              <a:rPr spc="10" dirty="0"/>
              <a:t> </a:t>
            </a:r>
            <a:r>
              <a:rPr sz="2550" b="1" spc="-459" dirty="0">
                <a:latin typeface="Malgun Gothic"/>
                <a:cs typeface="Malgun Gothic"/>
              </a:rPr>
              <a:t>원</a:t>
            </a:r>
            <a:r>
              <a:rPr sz="2550" b="1" spc="-265" dirty="0">
                <a:latin typeface="Malgun Gothic"/>
                <a:cs typeface="Malgun Gothic"/>
              </a:rPr>
              <a:t> </a:t>
            </a:r>
            <a:r>
              <a:rPr sz="2550" b="1" spc="-375" dirty="0">
                <a:latin typeface="Malgun Gothic"/>
                <a:cs typeface="Malgun Gothic"/>
              </a:rPr>
              <a:t>지름</a:t>
            </a:r>
            <a:r>
              <a:rPr spc="-375" dirty="0"/>
              <a:t>·</a:t>
            </a:r>
            <a:r>
              <a:rPr sz="2550" b="1" spc="-375" dirty="0">
                <a:latin typeface="Malgun Gothic"/>
                <a:cs typeface="Malgun Gothic"/>
              </a:rPr>
              <a:t>중심</a:t>
            </a:r>
            <a:endParaRPr sz="2550">
              <a:latin typeface="Malgun Gothic"/>
              <a:cs typeface="Malgun Gothic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162174" y="4143374"/>
            <a:ext cx="3790950" cy="590550"/>
            <a:chOff x="2162174" y="4143374"/>
            <a:chExt cx="3790950" cy="590550"/>
          </a:xfrm>
        </p:grpSpPr>
        <p:sp>
          <p:nvSpPr>
            <p:cNvPr id="8" name="object 8"/>
            <p:cNvSpPr/>
            <p:nvPr/>
          </p:nvSpPr>
          <p:spPr>
            <a:xfrm>
              <a:off x="2162174" y="4143374"/>
              <a:ext cx="3790950" cy="590550"/>
            </a:xfrm>
            <a:custGeom>
              <a:avLst/>
              <a:gdLst/>
              <a:ahLst/>
              <a:cxnLst/>
              <a:rect l="l" t="t" r="r" b="b"/>
              <a:pathLst>
                <a:path w="3790950" h="590550">
                  <a:moveTo>
                    <a:pt x="3790949" y="590549"/>
                  </a:moveTo>
                  <a:lnTo>
                    <a:pt x="0" y="590549"/>
                  </a:lnTo>
                  <a:lnTo>
                    <a:pt x="0" y="0"/>
                  </a:lnTo>
                  <a:lnTo>
                    <a:pt x="3790949" y="0"/>
                  </a:lnTo>
                  <a:lnTo>
                    <a:pt x="3790949" y="590549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95524" y="4343399"/>
              <a:ext cx="1181100" cy="209550"/>
            </a:xfrm>
            <a:custGeom>
              <a:avLst/>
              <a:gdLst/>
              <a:ahLst/>
              <a:cxnLst/>
              <a:rect l="l" t="t" r="r" b="b"/>
              <a:pathLst>
                <a:path w="1181100" h="209550">
                  <a:moveTo>
                    <a:pt x="1127702" y="209549"/>
                  </a:moveTo>
                  <a:lnTo>
                    <a:pt x="53397" y="209549"/>
                  </a:lnTo>
                  <a:lnTo>
                    <a:pt x="49680" y="209183"/>
                  </a:lnTo>
                  <a:lnTo>
                    <a:pt x="14085" y="190157"/>
                  </a:lnTo>
                  <a:lnTo>
                    <a:pt x="0" y="156152"/>
                  </a:lnTo>
                  <a:lnTo>
                    <a:pt x="0" y="152399"/>
                  </a:lnTo>
                  <a:lnTo>
                    <a:pt x="0" y="53397"/>
                  </a:lnTo>
                  <a:lnTo>
                    <a:pt x="19392" y="14084"/>
                  </a:lnTo>
                  <a:lnTo>
                    <a:pt x="53397" y="0"/>
                  </a:lnTo>
                  <a:lnTo>
                    <a:pt x="1127702" y="0"/>
                  </a:lnTo>
                  <a:lnTo>
                    <a:pt x="1167013" y="19391"/>
                  </a:lnTo>
                  <a:lnTo>
                    <a:pt x="1181099" y="53397"/>
                  </a:lnTo>
                  <a:lnTo>
                    <a:pt x="1181099" y="156152"/>
                  </a:lnTo>
                  <a:lnTo>
                    <a:pt x="1161707" y="195464"/>
                  </a:lnTo>
                  <a:lnTo>
                    <a:pt x="1131418" y="209183"/>
                  </a:lnTo>
                  <a:lnTo>
                    <a:pt x="1127702" y="209549"/>
                  </a:lnTo>
                  <a:close/>
                </a:path>
              </a:pathLst>
            </a:custGeom>
            <a:solidFill>
              <a:srgbClr val="818B98">
                <a:alpha val="121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162174" y="5086349"/>
            <a:ext cx="3790950" cy="352425"/>
            <a:chOff x="2162174" y="5086349"/>
            <a:chExt cx="3790950" cy="352425"/>
          </a:xfrm>
        </p:grpSpPr>
        <p:sp>
          <p:nvSpPr>
            <p:cNvPr id="11" name="object 11"/>
            <p:cNvSpPr/>
            <p:nvPr/>
          </p:nvSpPr>
          <p:spPr>
            <a:xfrm>
              <a:off x="2162174" y="5086349"/>
              <a:ext cx="3790950" cy="352425"/>
            </a:xfrm>
            <a:custGeom>
              <a:avLst/>
              <a:gdLst/>
              <a:ahLst/>
              <a:cxnLst/>
              <a:rect l="l" t="t" r="r" b="b"/>
              <a:pathLst>
                <a:path w="3790950" h="352425">
                  <a:moveTo>
                    <a:pt x="3790949" y="352424"/>
                  </a:moveTo>
                  <a:lnTo>
                    <a:pt x="0" y="352424"/>
                  </a:lnTo>
                  <a:lnTo>
                    <a:pt x="0" y="0"/>
                  </a:lnTo>
                  <a:lnTo>
                    <a:pt x="3790949" y="0"/>
                  </a:lnTo>
                  <a:lnTo>
                    <a:pt x="3790949" y="352424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95512" y="5172074"/>
              <a:ext cx="2486025" cy="200025"/>
            </a:xfrm>
            <a:custGeom>
              <a:avLst/>
              <a:gdLst/>
              <a:ahLst/>
              <a:cxnLst/>
              <a:rect l="l" t="t" r="r" b="b"/>
              <a:pathLst>
                <a:path w="2486025" h="200025">
                  <a:moveTo>
                    <a:pt x="1104900" y="53403"/>
                  </a:moveTo>
                  <a:lnTo>
                    <a:pt x="1085519" y="14097"/>
                  </a:lnTo>
                  <a:lnTo>
                    <a:pt x="1051509" y="0"/>
                  </a:lnTo>
                  <a:lnTo>
                    <a:pt x="53403" y="0"/>
                  </a:lnTo>
                  <a:lnTo>
                    <a:pt x="14097" y="19392"/>
                  </a:lnTo>
                  <a:lnTo>
                    <a:pt x="0" y="53403"/>
                  </a:lnTo>
                  <a:lnTo>
                    <a:pt x="0" y="142875"/>
                  </a:lnTo>
                  <a:lnTo>
                    <a:pt x="0" y="146634"/>
                  </a:lnTo>
                  <a:lnTo>
                    <a:pt x="19392" y="185940"/>
                  </a:lnTo>
                  <a:lnTo>
                    <a:pt x="53403" y="200025"/>
                  </a:lnTo>
                  <a:lnTo>
                    <a:pt x="1051509" y="200025"/>
                  </a:lnTo>
                  <a:lnTo>
                    <a:pt x="1090815" y="180644"/>
                  </a:lnTo>
                  <a:lnTo>
                    <a:pt x="1104900" y="146634"/>
                  </a:lnTo>
                  <a:lnTo>
                    <a:pt x="1104900" y="53403"/>
                  </a:lnTo>
                  <a:close/>
                </a:path>
                <a:path w="2486025" h="200025">
                  <a:moveTo>
                    <a:pt x="2486025" y="53403"/>
                  </a:moveTo>
                  <a:lnTo>
                    <a:pt x="2466632" y="14097"/>
                  </a:lnTo>
                  <a:lnTo>
                    <a:pt x="2432634" y="0"/>
                  </a:lnTo>
                  <a:lnTo>
                    <a:pt x="1720278" y="0"/>
                  </a:lnTo>
                  <a:lnTo>
                    <a:pt x="1680959" y="19392"/>
                  </a:lnTo>
                  <a:lnTo>
                    <a:pt x="1666875" y="53403"/>
                  </a:lnTo>
                  <a:lnTo>
                    <a:pt x="1666875" y="142875"/>
                  </a:lnTo>
                  <a:lnTo>
                    <a:pt x="1666875" y="146634"/>
                  </a:lnTo>
                  <a:lnTo>
                    <a:pt x="1686267" y="185940"/>
                  </a:lnTo>
                  <a:lnTo>
                    <a:pt x="1720278" y="200025"/>
                  </a:lnTo>
                  <a:lnTo>
                    <a:pt x="2432634" y="200025"/>
                  </a:lnTo>
                  <a:lnTo>
                    <a:pt x="2471940" y="180644"/>
                  </a:lnTo>
                  <a:lnTo>
                    <a:pt x="2486025" y="146634"/>
                  </a:lnTo>
                  <a:lnTo>
                    <a:pt x="2486025" y="53403"/>
                  </a:lnTo>
                  <a:close/>
                </a:path>
              </a:pathLst>
            </a:custGeom>
            <a:solidFill>
              <a:srgbClr val="818B98">
                <a:alpha val="121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752474" y="3200399"/>
          <a:ext cx="5200650" cy="2235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0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790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항목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1A5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내용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1A52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23825">
                        <a:lnSpc>
                          <a:spcPct val="100000"/>
                        </a:lnSpc>
                      </a:pPr>
                      <a:r>
                        <a:rPr sz="1350" b="1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계산</a:t>
                      </a:r>
                      <a:r>
                        <a:rPr sz="1350" b="1" spc="-13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b="1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방식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095" marR="156845">
                        <a:lnSpc>
                          <a:spcPct val="115700"/>
                        </a:lnSpc>
                        <a:spcBef>
                          <a:spcPts val="229"/>
                        </a:spcBef>
                      </a:pP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두</a:t>
                      </a:r>
                      <a:r>
                        <a:rPr sz="1350" spc="-13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측정점</a:t>
                      </a:r>
                      <a:r>
                        <a:rPr sz="1350" spc="-13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간</a:t>
                      </a:r>
                      <a:r>
                        <a:rPr sz="1350" spc="-13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직선</a:t>
                      </a:r>
                      <a:r>
                        <a:rPr sz="1350" spc="-13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17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거리</a:t>
                      </a:r>
                      <a:r>
                        <a:rPr sz="1200" spc="-17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,</a:t>
                      </a:r>
                      <a:r>
                        <a:rPr sz="1200" spc="1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또는</a:t>
                      </a:r>
                      <a:r>
                        <a:rPr sz="1350" spc="-13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spc="-19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8</a:t>
                      </a:r>
                      <a:r>
                        <a:rPr sz="1350" spc="-19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포인트</a:t>
                      </a:r>
                      <a:r>
                        <a:rPr sz="1350" spc="-13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기반</a:t>
                      </a:r>
                      <a:r>
                        <a:rPr sz="1350" spc="-13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원</a:t>
                      </a:r>
                      <a:r>
                        <a:rPr sz="1350" spc="-13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17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지름</a:t>
                      </a:r>
                      <a:r>
                        <a:rPr sz="1200" spc="-17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·</a:t>
                      </a:r>
                      <a:r>
                        <a:rPr sz="1350" spc="-17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중심 </a:t>
                      </a:r>
                      <a:r>
                        <a:rPr sz="135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산출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29209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 marL="123825" marR="337820">
                        <a:lnSpc>
                          <a:spcPct val="120400"/>
                        </a:lnSpc>
                        <a:spcBef>
                          <a:spcPts val="155"/>
                        </a:spcBef>
                      </a:pPr>
                      <a:r>
                        <a:rPr sz="1350" b="1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핵심</a:t>
                      </a:r>
                      <a:r>
                        <a:rPr sz="1350" b="1" spc="-13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spc="-10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HALCON </a:t>
                      </a:r>
                      <a:r>
                        <a:rPr sz="1200" spc="-25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API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1968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77165">
                        <a:lnSpc>
                          <a:spcPct val="100000"/>
                        </a:lnSpc>
                      </a:pPr>
                      <a:r>
                        <a:rPr sz="100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DistancePp(...)</a:t>
                      </a:r>
                      <a:r>
                        <a:rPr sz="1000" spc="275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/</a:t>
                      </a:r>
                      <a:r>
                        <a:rPr sz="1200" spc="4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15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(8</a:t>
                      </a:r>
                      <a:r>
                        <a:rPr sz="1350" spc="-15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포인트</a:t>
                      </a:r>
                      <a:r>
                        <a:rPr sz="1350" spc="-10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좌표</a:t>
                      </a:r>
                      <a:r>
                        <a:rPr sz="1350" spc="-10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직접</a:t>
                      </a:r>
                      <a:r>
                        <a:rPr sz="1350" spc="-10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연산</a:t>
                      </a:r>
                      <a:r>
                        <a:rPr sz="1200" spc="-2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)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2984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3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대표</a:t>
                      </a:r>
                      <a:r>
                        <a:rPr sz="1350" b="1" spc="-14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FAI</a:t>
                      </a:r>
                      <a:r>
                        <a:rPr sz="1200" spc="-45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b="1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번호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AKC:</a:t>
                      </a:r>
                      <a:r>
                        <a:rPr sz="1200" spc="-1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146,</a:t>
                      </a:r>
                      <a:r>
                        <a:rPr sz="1200" spc="-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147,</a:t>
                      </a:r>
                      <a:r>
                        <a:rPr sz="1200" spc="-1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148,</a:t>
                      </a:r>
                      <a:r>
                        <a:rPr sz="1200" spc="-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2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149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서브</a:t>
                      </a:r>
                      <a:r>
                        <a:rPr sz="1350" b="1" spc="-13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b="1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타입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00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POINT_DISTANCE</a:t>
                      </a:r>
                      <a:r>
                        <a:rPr sz="1000" spc="21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200" spc="-8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(</a:t>
                      </a:r>
                      <a:r>
                        <a:rPr sz="1350" spc="-8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점</a:t>
                      </a:r>
                      <a:r>
                        <a:rPr sz="1200" spc="-8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-</a:t>
                      </a:r>
                      <a:r>
                        <a:rPr sz="13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점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),</a:t>
                      </a:r>
                      <a:r>
                        <a:rPr sz="1200" spc="434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0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CIRCLE_8PT</a:t>
                      </a:r>
                      <a:r>
                        <a:rPr sz="1000" spc="215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200" spc="-15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(8</a:t>
                      </a:r>
                      <a:r>
                        <a:rPr sz="1350" spc="-15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포인트</a:t>
                      </a:r>
                      <a:r>
                        <a:rPr sz="1350" spc="-13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3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원</a:t>
                      </a:r>
                      <a:r>
                        <a:rPr sz="1200" spc="-3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)</a:t>
                      </a:r>
                      <a:endParaRPr sz="1200" dirty="0">
                        <a:latin typeface="Segoe UI"/>
                        <a:cs typeface="Segoe UI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735012" y="2772248"/>
            <a:ext cx="2638425" cy="2959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dirty="0">
                <a:solidFill>
                  <a:srgbClr val="1F618C"/>
                </a:solidFill>
                <a:latin typeface="Segoe UI Semibold"/>
                <a:cs typeface="Segoe UI Semibold"/>
              </a:rPr>
              <a:t>P5</a:t>
            </a:r>
            <a:r>
              <a:rPr sz="1550" spc="5" dirty="0">
                <a:solidFill>
                  <a:srgbClr val="1F618C"/>
                </a:solidFill>
                <a:latin typeface="Segoe UI Semibold"/>
                <a:cs typeface="Segoe UI Semibold"/>
              </a:rPr>
              <a:t> </a:t>
            </a:r>
            <a:r>
              <a:rPr sz="1550" dirty="0">
                <a:solidFill>
                  <a:srgbClr val="1F618C"/>
                </a:solidFill>
                <a:latin typeface="Segoe UI Semibold"/>
                <a:cs typeface="Segoe UI Semibold"/>
              </a:rPr>
              <a:t>—</a:t>
            </a:r>
            <a:r>
              <a:rPr sz="1550" spc="10" dirty="0">
                <a:solidFill>
                  <a:srgbClr val="1F618C"/>
                </a:solidFill>
                <a:latin typeface="Segoe UI Semibold"/>
                <a:cs typeface="Segoe UI Semibold"/>
              </a:rPr>
              <a:t> </a:t>
            </a:r>
            <a:r>
              <a:rPr sz="1750" b="1" spc="-165" dirty="0">
                <a:solidFill>
                  <a:srgbClr val="1F618C"/>
                </a:solidFill>
                <a:latin typeface="Malgun Gothic"/>
                <a:cs typeface="Malgun Gothic"/>
              </a:rPr>
              <a:t>점</a:t>
            </a:r>
            <a:r>
              <a:rPr sz="1550" spc="-165" dirty="0">
                <a:solidFill>
                  <a:srgbClr val="1F618C"/>
                </a:solidFill>
                <a:latin typeface="Segoe UI Semibold"/>
                <a:cs typeface="Segoe UI Semibold"/>
              </a:rPr>
              <a:t>-</a:t>
            </a:r>
            <a:r>
              <a:rPr sz="1750" b="1" spc="-315" dirty="0">
                <a:solidFill>
                  <a:srgbClr val="1F618C"/>
                </a:solidFill>
                <a:latin typeface="Malgun Gothic"/>
                <a:cs typeface="Malgun Gothic"/>
              </a:rPr>
              <a:t>점</a:t>
            </a:r>
            <a:r>
              <a:rPr sz="1750" b="1" spc="-180" dirty="0">
                <a:solidFill>
                  <a:srgbClr val="1F618C"/>
                </a:solidFill>
                <a:latin typeface="Malgun Gothic"/>
                <a:cs typeface="Malgun Gothic"/>
              </a:rPr>
              <a:t> </a:t>
            </a:r>
            <a:r>
              <a:rPr sz="1750" b="1" spc="-315" dirty="0">
                <a:solidFill>
                  <a:srgbClr val="1F618C"/>
                </a:solidFill>
                <a:latin typeface="Malgun Gothic"/>
                <a:cs typeface="Malgun Gothic"/>
              </a:rPr>
              <a:t>거리</a:t>
            </a:r>
            <a:r>
              <a:rPr sz="1750" b="1" spc="-175" dirty="0">
                <a:solidFill>
                  <a:srgbClr val="1F618C"/>
                </a:solidFill>
                <a:latin typeface="Malgun Gothic"/>
                <a:cs typeface="Malgun Gothic"/>
              </a:rPr>
              <a:t> </a:t>
            </a:r>
            <a:r>
              <a:rPr sz="1550" dirty="0">
                <a:solidFill>
                  <a:srgbClr val="1F618C"/>
                </a:solidFill>
                <a:latin typeface="Segoe UI Semibold"/>
                <a:cs typeface="Segoe UI Semibold"/>
              </a:rPr>
              <a:t>/</a:t>
            </a:r>
            <a:r>
              <a:rPr sz="1550" spc="5" dirty="0">
                <a:solidFill>
                  <a:srgbClr val="1F618C"/>
                </a:solidFill>
                <a:latin typeface="Segoe UI Semibold"/>
                <a:cs typeface="Segoe UI Semibold"/>
              </a:rPr>
              <a:t> </a:t>
            </a:r>
            <a:r>
              <a:rPr sz="1750" b="1" spc="-315" dirty="0">
                <a:solidFill>
                  <a:srgbClr val="1F618C"/>
                </a:solidFill>
                <a:latin typeface="Malgun Gothic"/>
                <a:cs typeface="Malgun Gothic"/>
              </a:rPr>
              <a:t>원</a:t>
            </a:r>
            <a:r>
              <a:rPr sz="1750" b="1" spc="-175" dirty="0">
                <a:solidFill>
                  <a:srgbClr val="1F618C"/>
                </a:solidFill>
                <a:latin typeface="Malgun Gothic"/>
                <a:cs typeface="Malgun Gothic"/>
              </a:rPr>
              <a:t> </a:t>
            </a:r>
            <a:r>
              <a:rPr sz="1750" b="1" spc="-265" dirty="0">
                <a:solidFill>
                  <a:srgbClr val="1F618C"/>
                </a:solidFill>
                <a:latin typeface="Malgun Gothic"/>
                <a:cs typeface="Malgun Gothic"/>
              </a:rPr>
              <a:t>지름</a:t>
            </a:r>
            <a:r>
              <a:rPr sz="1550" spc="-265" dirty="0">
                <a:solidFill>
                  <a:srgbClr val="1F618C"/>
                </a:solidFill>
                <a:latin typeface="Segoe UI Semibold"/>
                <a:cs typeface="Segoe UI Semibold"/>
              </a:rPr>
              <a:t>·</a:t>
            </a:r>
            <a:r>
              <a:rPr sz="1750" b="1" spc="-265" dirty="0">
                <a:solidFill>
                  <a:srgbClr val="1F618C"/>
                </a:solidFill>
                <a:latin typeface="Malgun Gothic"/>
                <a:cs typeface="Malgun Gothic"/>
              </a:rPr>
              <a:t>중심</a:t>
            </a:r>
            <a:endParaRPr sz="1750">
              <a:latin typeface="Malgun Gothic"/>
              <a:cs typeface="Malgun Gothic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229349" y="3200399"/>
            <a:ext cx="5219700" cy="1743075"/>
            <a:chOff x="6229349" y="3200399"/>
            <a:chExt cx="5219700" cy="1743075"/>
          </a:xfrm>
        </p:grpSpPr>
        <p:sp>
          <p:nvSpPr>
            <p:cNvPr id="16" name="object 16"/>
            <p:cNvSpPr/>
            <p:nvPr/>
          </p:nvSpPr>
          <p:spPr>
            <a:xfrm>
              <a:off x="6234112" y="3205162"/>
              <a:ext cx="5210175" cy="1733550"/>
            </a:xfrm>
            <a:custGeom>
              <a:avLst/>
              <a:gdLst/>
              <a:ahLst/>
              <a:cxnLst/>
              <a:rect l="l" t="t" r="r" b="b"/>
              <a:pathLst>
                <a:path w="5210175" h="1733550">
                  <a:moveTo>
                    <a:pt x="5161226" y="1733549"/>
                  </a:moveTo>
                  <a:lnTo>
                    <a:pt x="48947" y="1733549"/>
                  </a:lnTo>
                  <a:lnTo>
                    <a:pt x="45540" y="1733213"/>
                  </a:lnTo>
                  <a:lnTo>
                    <a:pt x="10740" y="1713126"/>
                  </a:lnTo>
                  <a:lnTo>
                    <a:pt x="0" y="1684602"/>
                  </a:lnTo>
                  <a:lnTo>
                    <a:pt x="0" y="1681162"/>
                  </a:lnTo>
                  <a:lnTo>
                    <a:pt x="0" y="48947"/>
                  </a:lnTo>
                  <a:lnTo>
                    <a:pt x="17776" y="12910"/>
                  </a:lnTo>
                  <a:lnTo>
                    <a:pt x="48947" y="0"/>
                  </a:lnTo>
                  <a:lnTo>
                    <a:pt x="5161226" y="0"/>
                  </a:lnTo>
                  <a:lnTo>
                    <a:pt x="5197261" y="17775"/>
                  </a:lnTo>
                  <a:lnTo>
                    <a:pt x="5210174" y="48947"/>
                  </a:lnTo>
                  <a:lnTo>
                    <a:pt x="5210174" y="1684602"/>
                  </a:lnTo>
                  <a:lnTo>
                    <a:pt x="5192397" y="1720637"/>
                  </a:lnTo>
                  <a:lnTo>
                    <a:pt x="5164633" y="1733213"/>
                  </a:lnTo>
                  <a:lnTo>
                    <a:pt x="5161226" y="1733549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234112" y="3205162"/>
              <a:ext cx="5210175" cy="1733550"/>
            </a:xfrm>
            <a:custGeom>
              <a:avLst/>
              <a:gdLst/>
              <a:ahLst/>
              <a:cxnLst/>
              <a:rect l="l" t="t" r="r" b="b"/>
              <a:pathLst>
                <a:path w="5210175" h="1733550">
                  <a:moveTo>
                    <a:pt x="0" y="1681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0" y="35517"/>
                  </a:lnTo>
                  <a:lnTo>
                    <a:pt x="3987" y="32339"/>
                  </a:lnTo>
                  <a:lnTo>
                    <a:pt x="5303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1" y="10739"/>
                  </a:lnTo>
                  <a:lnTo>
                    <a:pt x="23281" y="8828"/>
                  </a:lnTo>
                  <a:lnTo>
                    <a:pt x="26141" y="6917"/>
                  </a:lnTo>
                  <a:lnTo>
                    <a:pt x="29160" y="5303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52387" y="0"/>
                  </a:lnTo>
                  <a:lnTo>
                    <a:pt x="5157787" y="0"/>
                  </a:lnTo>
                  <a:lnTo>
                    <a:pt x="5194830" y="15343"/>
                  </a:lnTo>
                  <a:lnTo>
                    <a:pt x="5201343" y="23281"/>
                  </a:lnTo>
                  <a:lnTo>
                    <a:pt x="5203255" y="26142"/>
                  </a:lnTo>
                  <a:lnTo>
                    <a:pt x="5210174" y="48947"/>
                  </a:lnTo>
                  <a:lnTo>
                    <a:pt x="5210174" y="52387"/>
                  </a:lnTo>
                  <a:lnTo>
                    <a:pt x="5210174" y="1681162"/>
                  </a:lnTo>
                  <a:lnTo>
                    <a:pt x="5210174" y="1684602"/>
                  </a:lnTo>
                  <a:lnTo>
                    <a:pt x="5209838" y="1688009"/>
                  </a:lnTo>
                  <a:lnTo>
                    <a:pt x="5189751" y="1722809"/>
                  </a:lnTo>
                  <a:lnTo>
                    <a:pt x="5157787" y="1733549"/>
                  </a:lnTo>
                  <a:lnTo>
                    <a:pt x="52387" y="1733549"/>
                  </a:lnTo>
                  <a:lnTo>
                    <a:pt x="15343" y="1718206"/>
                  </a:lnTo>
                  <a:lnTo>
                    <a:pt x="8829" y="1710266"/>
                  </a:lnTo>
                  <a:lnTo>
                    <a:pt x="6917" y="1707406"/>
                  </a:lnTo>
                  <a:lnTo>
                    <a:pt x="5303" y="1704387"/>
                  </a:lnTo>
                  <a:lnTo>
                    <a:pt x="3987" y="1701210"/>
                  </a:lnTo>
                  <a:lnTo>
                    <a:pt x="2670" y="1698031"/>
                  </a:lnTo>
                  <a:lnTo>
                    <a:pt x="1677" y="1694756"/>
                  </a:lnTo>
                  <a:lnTo>
                    <a:pt x="1006" y="1691382"/>
                  </a:lnTo>
                  <a:lnTo>
                    <a:pt x="335" y="1688009"/>
                  </a:lnTo>
                  <a:lnTo>
                    <a:pt x="0" y="1684602"/>
                  </a:lnTo>
                  <a:lnTo>
                    <a:pt x="0" y="1681162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219030" y="2772248"/>
            <a:ext cx="391795" cy="2959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b="1" spc="-340" dirty="0">
                <a:solidFill>
                  <a:srgbClr val="1F618C"/>
                </a:solidFill>
                <a:latin typeface="Malgun Gothic"/>
                <a:cs typeface="Malgun Gothic"/>
              </a:rPr>
              <a:t>예시</a:t>
            </a:r>
            <a:endParaRPr sz="1750">
              <a:latin typeface="Malgun Gothic"/>
              <a:cs typeface="Malgun Gothic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6129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graphicFrame>
        <p:nvGraphicFramePr>
          <p:cNvPr id="19" name="object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4571620"/>
              </p:ext>
            </p:extLst>
          </p:nvPr>
        </p:nvGraphicFramePr>
        <p:xfrm>
          <a:off x="6580147" y="4142384"/>
          <a:ext cx="3890008" cy="505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3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74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8115">
                <a:tc>
                  <a:txBody>
                    <a:bodyPr/>
                    <a:lstStyle/>
                    <a:p>
                      <a:pPr marL="31750">
                        <a:lnSpc>
                          <a:spcPts val="1140"/>
                        </a:lnSpc>
                      </a:pPr>
                      <a:r>
                        <a:rPr sz="1200" spc="-25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P0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1140"/>
                        </a:lnSpc>
                      </a:pPr>
                      <a:r>
                        <a:rPr sz="1200" spc="-25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P1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1140"/>
                        </a:lnSpc>
                      </a:pPr>
                      <a:r>
                        <a:rPr sz="1200" spc="-25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P2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345">
                <a:tc>
                  <a:txBody>
                    <a:bodyPr/>
                    <a:lstStyle/>
                    <a:p>
                      <a:pPr marL="31750">
                        <a:lnSpc>
                          <a:spcPts val="1270"/>
                        </a:lnSpc>
                      </a:pPr>
                      <a:r>
                        <a:rPr sz="1200" spc="-25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P7</a:t>
                      </a:r>
                      <a:endParaRPr sz="1200">
                        <a:latin typeface="Consolas"/>
                        <a:cs typeface="Consolas"/>
                      </a:endParaRPr>
                    </a:p>
                    <a:p>
                      <a:pPr marL="31750">
                        <a:lnSpc>
                          <a:spcPts val="1365"/>
                        </a:lnSpc>
                      </a:pPr>
                      <a:r>
                        <a:rPr sz="1200" spc="-25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P6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1270"/>
                        </a:lnSpc>
                      </a:pPr>
                      <a:r>
                        <a:rPr sz="1200" spc="-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◉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  <a:p>
                      <a:pPr marL="84455">
                        <a:lnSpc>
                          <a:spcPts val="1365"/>
                        </a:lnSpc>
                      </a:pPr>
                      <a:r>
                        <a:rPr sz="1200" spc="-25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P5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ts val="1315"/>
                        </a:lnSpc>
                      </a:pPr>
                      <a:r>
                        <a:rPr sz="1200" spc="-25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P3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315"/>
                        </a:lnSpc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←</a:t>
                      </a:r>
                      <a:r>
                        <a:rPr sz="1200" spc="-3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8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개</a:t>
                      </a:r>
                      <a:r>
                        <a:rPr sz="1200" spc="21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측정점에서</a:t>
                      </a:r>
                      <a:r>
                        <a:rPr sz="1200" spc="21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원</a:t>
                      </a:r>
                      <a:r>
                        <a:rPr sz="1200" spc="21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지름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/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중심</a:t>
                      </a:r>
                      <a:r>
                        <a:rPr sz="1200" spc="21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역산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6378574" y="3329146"/>
            <a:ext cx="3679826" cy="1515158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773430" marR="800100" indent="-761365">
              <a:lnSpc>
                <a:spcPts val="1420"/>
              </a:lnSpc>
              <a:spcBef>
                <a:spcPts val="175"/>
              </a:spcBef>
            </a:pP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측정점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A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──────────</a:t>
            </a:r>
            <a:r>
              <a:rPr sz="1200" spc="-1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측정점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50" dirty="0">
                <a:solidFill>
                  <a:srgbClr val="1F2328"/>
                </a:solidFill>
                <a:latin typeface="Consolas"/>
                <a:cs typeface="Consolas"/>
              </a:rPr>
              <a:t>B 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DistancePp</a:t>
            </a:r>
            <a:endParaRPr sz="1200" dirty="0">
              <a:latin typeface="Consolas"/>
              <a:cs typeface="Consolas"/>
            </a:endParaRPr>
          </a:p>
          <a:p>
            <a:pPr marL="773430">
              <a:lnSpc>
                <a:spcPts val="1305"/>
              </a:lnSpc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→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두</a:t>
            </a:r>
            <a:r>
              <a:rPr sz="1200" spc="229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점</a:t>
            </a:r>
            <a:r>
              <a:rPr sz="1200" spc="229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사이</a:t>
            </a:r>
            <a:r>
              <a:rPr sz="1200" spc="23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거리</a:t>
            </a:r>
            <a:endParaRPr sz="1200" dirty="0">
              <a:latin typeface="Malgun Gothic"/>
              <a:cs typeface="Malgun Gothic"/>
            </a:endParaRPr>
          </a:p>
          <a:p>
            <a:pPr marL="12700">
              <a:lnSpc>
                <a:spcPts val="1435"/>
              </a:lnSpc>
            </a:pP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또는</a:t>
            </a:r>
            <a:endParaRPr sz="1200" dirty="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200" dirty="0">
              <a:latin typeface="Malgun Gothic"/>
              <a:cs typeface="Malgun Gothic"/>
            </a:endParaRPr>
          </a:p>
          <a:p>
            <a:pPr marL="942975">
              <a:lnSpc>
                <a:spcPts val="1430"/>
              </a:lnSpc>
              <a:spcBef>
                <a:spcPts val="5"/>
              </a:spcBef>
            </a:pPr>
            <a:endParaRPr lang="en-US" altLang="ko-KR" sz="1200" spc="-25" dirty="0">
              <a:solidFill>
                <a:srgbClr val="1F2328"/>
              </a:solidFill>
              <a:latin typeface="Consolas"/>
              <a:cs typeface="Consolas"/>
            </a:endParaRPr>
          </a:p>
          <a:p>
            <a:pPr marL="942975">
              <a:lnSpc>
                <a:spcPts val="1430"/>
              </a:lnSpc>
              <a:spcBef>
                <a:spcPts val="5"/>
              </a:spcBef>
            </a:pPr>
            <a:r>
              <a:rPr sz="1200" spc="-25" dirty="0">
                <a:solidFill>
                  <a:srgbClr val="1F2328"/>
                </a:solidFill>
                <a:latin typeface="Consolas"/>
                <a:cs typeface="Consolas"/>
              </a:rPr>
              <a:t>P4</a:t>
            </a:r>
            <a:endParaRPr sz="1200" dirty="0">
              <a:latin typeface="Consolas"/>
              <a:cs typeface="Consolas"/>
            </a:endParaRPr>
          </a:p>
          <a:p>
            <a:pPr marL="773430">
              <a:lnSpc>
                <a:spcPts val="1435"/>
              </a:lnSpc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→</a:t>
            </a:r>
            <a:r>
              <a:rPr sz="1200" spc="-1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(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기존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FAI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코드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루틴</a:t>
            </a:r>
            <a:r>
              <a:rPr sz="1200" spc="229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20" dirty="0">
                <a:solidFill>
                  <a:srgbClr val="1F2328"/>
                </a:solidFill>
                <a:latin typeface="Malgun Gothic"/>
                <a:cs typeface="Malgun Gothic"/>
              </a:rPr>
              <a:t>재사용</a:t>
            </a:r>
            <a:r>
              <a:rPr sz="1200" spc="-20" dirty="0">
                <a:solidFill>
                  <a:srgbClr val="1F2328"/>
                </a:solidFill>
                <a:latin typeface="Consolas"/>
                <a:cs typeface="Consolas"/>
              </a:rPr>
              <a:t>)</a:t>
            </a:r>
            <a:endParaRPr sz="1200" dirty="0">
              <a:latin typeface="Consolas"/>
              <a:cs typeface="Consolas"/>
            </a:endParaRPr>
          </a:p>
        </p:txBody>
      </p:sp>
      <p:graphicFrame>
        <p:nvGraphicFramePr>
          <p:cNvPr id="24" name="개체 23">
            <a:extLst>
              <a:ext uri="{FF2B5EF4-FFF2-40B4-BE49-F238E27FC236}">
                <a16:creationId xmlns:a16="http://schemas.microsoft.com/office/drawing/2014/main" id="{B2BD71A8-058C-46BC-8C42-44D57EEACA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3154887"/>
              </p:ext>
            </p:extLst>
          </p:nvPr>
        </p:nvGraphicFramePr>
        <p:xfrm>
          <a:off x="2743200" y="2087778"/>
          <a:ext cx="17240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포장기 셸 개체" showAsIcon="1" r:id="rId3" imgW="1724025" imgH="514350" progId="Package">
                  <p:embed/>
                </p:oleObj>
              </mc:Choice>
              <mc:Fallback>
                <p:oleObj name="포장기 셸 개체" showAsIcon="1" r:id="rId3" imgW="1724025" imgH="514350" progId="Package">
                  <p:embed/>
                  <p:pic>
                    <p:nvPicPr>
                      <p:cNvPr id="18" name="개체 17">
                        <a:extLst>
                          <a:ext uri="{FF2B5EF4-FFF2-40B4-BE49-F238E27FC236}">
                            <a16:creationId xmlns:a16="http://schemas.microsoft.com/office/drawing/2014/main" id="{E5ED701D-458D-479E-BB8B-FCC3FCC316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43200" y="2087778"/>
                        <a:ext cx="1724025" cy="514350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2474" y="2047874"/>
            <a:ext cx="10696575" cy="19050"/>
          </a:xfrm>
          <a:custGeom>
            <a:avLst/>
            <a:gdLst/>
            <a:ahLst/>
            <a:cxnLst/>
            <a:rect l="l" t="t" r="r" b="b"/>
            <a:pathLst>
              <a:path w="10696575" h="19050">
                <a:moveTo>
                  <a:pt x="10696574" y="19049"/>
                </a:moveTo>
                <a:lnTo>
                  <a:pt x="0" y="19049"/>
                </a:lnTo>
                <a:lnTo>
                  <a:pt x="0" y="0"/>
                </a:lnTo>
                <a:lnTo>
                  <a:pt x="10696574" y="0"/>
                </a:lnTo>
                <a:lnTo>
                  <a:pt x="10696574" y="19049"/>
                </a:lnTo>
                <a:close/>
              </a:path>
            </a:pathLst>
          </a:custGeom>
          <a:solidFill>
            <a:srgbClr val="1A52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012" y="1565097"/>
            <a:ext cx="3673475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b="1" spc="-459" dirty="0">
                <a:latin typeface="Malgun Gothic"/>
                <a:cs typeface="Malgun Gothic"/>
              </a:rPr>
              <a:t>측정</a:t>
            </a:r>
            <a:r>
              <a:rPr sz="2550" b="1" spc="-265" dirty="0">
                <a:latin typeface="Malgun Gothic"/>
                <a:cs typeface="Malgun Gothic"/>
              </a:rPr>
              <a:t> </a:t>
            </a:r>
            <a:r>
              <a:rPr sz="2550" b="1" spc="-459" dirty="0">
                <a:latin typeface="Malgun Gothic"/>
                <a:cs typeface="Malgun Gothic"/>
              </a:rPr>
              <a:t>패턴정리</a:t>
            </a:r>
            <a:r>
              <a:rPr sz="2550" b="1" spc="-265" dirty="0">
                <a:latin typeface="Malgun Gothic"/>
                <a:cs typeface="Malgun Gothic"/>
              </a:rPr>
              <a:t> </a:t>
            </a:r>
            <a:r>
              <a:rPr dirty="0"/>
              <a:t>(2)</a:t>
            </a:r>
            <a:r>
              <a:rPr spc="15" dirty="0"/>
              <a:t> </a:t>
            </a:r>
            <a:r>
              <a:rPr dirty="0"/>
              <a:t>-</a:t>
            </a:r>
            <a:r>
              <a:rPr spc="15" dirty="0"/>
              <a:t> </a:t>
            </a:r>
            <a:r>
              <a:rPr sz="2550" b="1" spc="-225" dirty="0">
                <a:latin typeface="Malgun Gothic"/>
                <a:cs typeface="Malgun Gothic"/>
              </a:rPr>
              <a:t>선</a:t>
            </a:r>
            <a:r>
              <a:rPr spc="-225" dirty="0"/>
              <a:t>-</a:t>
            </a:r>
            <a:r>
              <a:rPr sz="2550" b="1" spc="-459" dirty="0">
                <a:latin typeface="Malgun Gothic"/>
                <a:cs typeface="Malgun Gothic"/>
              </a:rPr>
              <a:t>선</a:t>
            </a:r>
            <a:r>
              <a:rPr sz="2550" b="1" spc="-265" dirty="0">
                <a:latin typeface="Malgun Gothic"/>
                <a:cs typeface="Malgun Gothic"/>
              </a:rPr>
              <a:t> </a:t>
            </a:r>
            <a:r>
              <a:rPr sz="2550" b="1" spc="-484" dirty="0">
                <a:latin typeface="Malgun Gothic"/>
                <a:cs typeface="Malgun Gothic"/>
              </a:rPr>
              <a:t>각도</a:t>
            </a:r>
            <a:endParaRPr sz="2550">
              <a:latin typeface="Malgun Gothic"/>
              <a:cs typeface="Malgun Goth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28849" y="3562349"/>
            <a:ext cx="3724275" cy="590550"/>
            <a:chOff x="2228849" y="3562349"/>
            <a:chExt cx="3724275" cy="590550"/>
          </a:xfrm>
        </p:grpSpPr>
        <p:sp>
          <p:nvSpPr>
            <p:cNvPr id="5" name="object 5"/>
            <p:cNvSpPr/>
            <p:nvPr/>
          </p:nvSpPr>
          <p:spPr>
            <a:xfrm>
              <a:off x="2228849" y="3562349"/>
              <a:ext cx="3724275" cy="590550"/>
            </a:xfrm>
            <a:custGeom>
              <a:avLst/>
              <a:gdLst/>
              <a:ahLst/>
              <a:cxnLst/>
              <a:rect l="l" t="t" r="r" b="b"/>
              <a:pathLst>
                <a:path w="3724275" h="590550">
                  <a:moveTo>
                    <a:pt x="3724274" y="590549"/>
                  </a:moveTo>
                  <a:lnTo>
                    <a:pt x="0" y="590549"/>
                  </a:lnTo>
                  <a:lnTo>
                    <a:pt x="0" y="0"/>
                  </a:lnTo>
                  <a:lnTo>
                    <a:pt x="3724274" y="0"/>
                  </a:lnTo>
                  <a:lnTo>
                    <a:pt x="3724274" y="590549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52662" y="3762374"/>
              <a:ext cx="2200275" cy="209550"/>
            </a:xfrm>
            <a:custGeom>
              <a:avLst/>
              <a:gdLst/>
              <a:ahLst/>
              <a:cxnLst/>
              <a:rect l="l" t="t" r="r" b="b"/>
              <a:pathLst>
                <a:path w="2200275" h="209550">
                  <a:moveTo>
                    <a:pt x="971550" y="53403"/>
                  </a:moveTo>
                  <a:lnTo>
                    <a:pt x="952157" y="14097"/>
                  </a:lnTo>
                  <a:lnTo>
                    <a:pt x="918159" y="0"/>
                  </a:lnTo>
                  <a:lnTo>
                    <a:pt x="53403" y="0"/>
                  </a:lnTo>
                  <a:lnTo>
                    <a:pt x="14097" y="19392"/>
                  </a:lnTo>
                  <a:lnTo>
                    <a:pt x="0" y="53403"/>
                  </a:lnTo>
                  <a:lnTo>
                    <a:pt x="0" y="152400"/>
                  </a:lnTo>
                  <a:lnTo>
                    <a:pt x="0" y="156159"/>
                  </a:lnTo>
                  <a:lnTo>
                    <a:pt x="19392" y="195465"/>
                  </a:lnTo>
                  <a:lnTo>
                    <a:pt x="53403" y="209550"/>
                  </a:lnTo>
                  <a:lnTo>
                    <a:pt x="918159" y="209550"/>
                  </a:lnTo>
                  <a:lnTo>
                    <a:pt x="957465" y="190157"/>
                  </a:lnTo>
                  <a:lnTo>
                    <a:pt x="971550" y="156159"/>
                  </a:lnTo>
                  <a:lnTo>
                    <a:pt x="971550" y="53403"/>
                  </a:lnTo>
                  <a:close/>
                </a:path>
                <a:path w="2200275" h="209550">
                  <a:moveTo>
                    <a:pt x="2200275" y="53403"/>
                  </a:moveTo>
                  <a:lnTo>
                    <a:pt x="2180882" y="14097"/>
                  </a:lnTo>
                  <a:lnTo>
                    <a:pt x="2146884" y="0"/>
                  </a:lnTo>
                  <a:lnTo>
                    <a:pt x="1215453" y="0"/>
                  </a:lnTo>
                  <a:lnTo>
                    <a:pt x="1176147" y="19392"/>
                  </a:lnTo>
                  <a:lnTo>
                    <a:pt x="1162050" y="53403"/>
                  </a:lnTo>
                  <a:lnTo>
                    <a:pt x="1162050" y="152400"/>
                  </a:lnTo>
                  <a:lnTo>
                    <a:pt x="1162050" y="156159"/>
                  </a:lnTo>
                  <a:lnTo>
                    <a:pt x="1181442" y="195465"/>
                  </a:lnTo>
                  <a:lnTo>
                    <a:pt x="1215453" y="209550"/>
                  </a:lnTo>
                  <a:lnTo>
                    <a:pt x="2146884" y="209550"/>
                  </a:lnTo>
                  <a:lnTo>
                    <a:pt x="2186190" y="190157"/>
                  </a:lnTo>
                  <a:lnTo>
                    <a:pt x="2200275" y="156159"/>
                  </a:lnTo>
                  <a:lnTo>
                    <a:pt x="2200275" y="53403"/>
                  </a:lnTo>
                  <a:close/>
                </a:path>
              </a:pathLst>
            </a:custGeom>
            <a:solidFill>
              <a:srgbClr val="818B98">
                <a:alpha val="121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228849" y="4505324"/>
            <a:ext cx="3724275" cy="581025"/>
            <a:chOff x="2228849" y="4505324"/>
            <a:chExt cx="3724275" cy="581025"/>
          </a:xfrm>
        </p:grpSpPr>
        <p:sp>
          <p:nvSpPr>
            <p:cNvPr id="8" name="object 8"/>
            <p:cNvSpPr/>
            <p:nvPr/>
          </p:nvSpPr>
          <p:spPr>
            <a:xfrm>
              <a:off x="2228849" y="4505324"/>
              <a:ext cx="3724275" cy="581025"/>
            </a:xfrm>
            <a:custGeom>
              <a:avLst/>
              <a:gdLst/>
              <a:ahLst/>
              <a:cxnLst/>
              <a:rect l="l" t="t" r="r" b="b"/>
              <a:pathLst>
                <a:path w="3724275" h="581025">
                  <a:moveTo>
                    <a:pt x="3724274" y="581024"/>
                  </a:moveTo>
                  <a:lnTo>
                    <a:pt x="0" y="581024"/>
                  </a:lnTo>
                  <a:lnTo>
                    <a:pt x="0" y="0"/>
                  </a:lnTo>
                  <a:lnTo>
                    <a:pt x="3724274" y="0"/>
                  </a:lnTo>
                  <a:lnTo>
                    <a:pt x="3724274" y="581024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400287" y="4591049"/>
              <a:ext cx="1390650" cy="428625"/>
            </a:xfrm>
            <a:custGeom>
              <a:avLst/>
              <a:gdLst/>
              <a:ahLst/>
              <a:cxnLst/>
              <a:rect l="l" t="t" r="r" b="b"/>
              <a:pathLst>
                <a:path w="1390650" h="428625">
                  <a:moveTo>
                    <a:pt x="828675" y="282003"/>
                  </a:moveTo>
                  <a:lnTo>
                    <a:pt x="809294" y="242697"/>
                  </a:lnTo>
                  <a:lnTo>
                    <a:pt x="775284" y="228600"/>
                  </a:lnTo>
                  <a:lnTo>
                    <a:pt x="53403" y="228600"/>
                  </a:lnTo>
                  <a:lnTo>
                    <a:pt x="14097" y="247992"/>
                  </a:lnTo>
                  <a:lnTo>
                    <a:pt x="0" y="282003"/>
                  </a:lnTo>
                  <a:lnTo>
                    <a:pt x="0" y="371475"/>
                  </a:lnTo>
                  <a:lnTo>
                    <a:pt x="0" y="375234"/>
                  </a:lnTo>
                  <a:lnTo>
                    <a:pt x="19392" y="414540"/>
                  </a:lnTo>
                  <a:lnTo>
                    <a:pt x="53403" y="428625"/>
                  </a:lnTo>
                  <a:lnTo>
                    <a:pt x="775284" y="428625"/>
                  </a:lnTo>
                  <a:lnTo>
                    <a:pt x="814590" y="409232"/>
                  </a:lnTo>
                  <a:lnTo>
                    <a:pt x="828675" y="375234"/>
                  </a:lnTo>
                  <a:lnTo>
                    <a:pt x="828675" y="282003"/>
                  </a:lnTo>
                  <a:close/>
                </a:path>
                <a:path w="1390650" h="428625">
                  <a:moveTo>
                    <a:pt x="1390650" y="53403"/>
                  </a:moveTo>
                  <a:lnTo>
                    <a:pt x="1371257" y="14097"/>
                  </a:lnTo>
                  <a:lnTo>
                    <a:pt x="1337259" y="0"/>
                  </a:lnTo>
                  <a:lnTo>
                    <a:pt x="624903" y="0"/>
                  </a:lnTo>
                  <a:lnTo>
                    <a:pt x="585597" y="19392"/>
                  </a:lnTo>
                  <a:lnTo>
                    <a:pt x="571500" y="53403"/>
                  </a:lnTo>
                  <a:lnTo>
                    <a:pt x="571500" y="142875"/>
                  </a:lnTo>
                  <a:lnTo>
                    <a:pt x="571500" y="146634"/>
                  </a:lnTo>
                  <a:lnTo>
                    <a:pt x="590892" y="185940"/>
                  </a:lnTo>
                  <a:lnTo>
                    <a:pt x="624903" y="200025"/>
                  </a:lnTo>
                  <a:lnTo>
                    <a:pt x="1337259" y="200025"/>
                  </a:lnTo>
                  <a:lnTo>
                    <a:pt x="1376565" y="180632"/>
                  </a:lnTo>
                  <a:lnTo>
                    <a:pt x="1390650" y="146634"/>
                  </a:lnTo>
                  <a:lnTo>
                    <a:pt x="1390650" y="53403"/>
                  </a:lnTo>
                  <a:close/>
                </a:path>
              </a:pathLst>
            </a:custGeom>
            <a:solidFill>
              <a:srgbClr val="818B98">
                <a:alpha val="121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52474" y="2847974"/>
          <a:ext cx="5200650" cy="2235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7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항목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1A5275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내용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1A52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3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계산</a:t>
                      </a:r>
                      <a:r>
                        <a:rPr sz="1350" b="1" spc="-13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b="1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방식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두</a:t>
                      </a:r>
                      <a:r>
                        <a:rPr sz="1350" spc="-1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8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선분</a:t>
                      </a:r>
                      <a:r>
                        <a:rPr sz="1200" spc="-8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(L1,</a:t>
                      </a:r>
                      <a:r>
                        <a:rPr sz="1200" spc="2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L2)</a:t>
                      </a:r>
                      <a:r>
                        <a:rPr sz="1200" spc="2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사이의</a:t>
                      </a:r>
                      <a:r>
                        <a:rPr sz="1350" spc="-12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각도를</a:t>
                      </a:r>
                      <a:r>
                        <a:rPr sz="1350" spc="-12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측정해</a:t>
                      </a:r>
                      <a:r>
                        <a:rPr sz="1350" spc="-12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spc="-4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degree</a:t>
                      </a:r>
                      <a:r>
                        <a:rPr sz="1350" spc="-4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로</a:t>
                      </a:r>
                      <a:r>
                        <a:rPr sz="1350" spc="-1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변환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 marL="123825" marR="394970">
                        <a:lnSpc>
                          <a:spcPct val="120400"/>
                        </a:lnSpc>
                        <a:spcBef>
                          <a:spcPts val="155"/>
                        </a:spcBef>
                      </a:pPr>
                      <a:r>
                        <a:rPr sz="1350" b="1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핵심</a:t>
                      </a:r>
                      <a:r>
                        <a:rPr sz="1350" b="1" spc="-13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spc="-10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HALCON </a:t>
                      </a:r>
                      <a:r>
                        <a:rPr sz="1200" spc="-25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API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1968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85420">
                        <a:lnSpc>
                          <a:spcPct val="100000"/>
                        </a:lnSpc>
                      </a:pPr>
                      <a:r>
                        <a:rPr sz="100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AngleLl(...)</a:t>
                      </a:r>
                      <a:r>
                        <a:rPr sz="1000" spc="254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+</a:t>
                      </a:r>
                      <a:r>
                        <a:rPr sz="1200" spc="47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00" spc="-1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TupleDeg(...)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T="4889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대표</a:t>
                      </a:r>
                      <a:r>
                        <a:rPr sz="1350" b="1" spc="-14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FAI</a:t>
                      </a:r>
                      <a:r>
                        <a:rPr sz="1200" spc="-45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b="1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번호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BOI: 10, 38 / ACT: </a:t>
                      </a:r>
                      <a:r>
                        <a:rPr sz="1200" spc="-2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29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9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23825">
                        <a:lnSpc>
                          <a:spcPct val="100000"/>
                        </a:lnSpc>
                      </a:pPr>
                      <a:r>
                        <a:rPr sz="1350" b="1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서브</a:t>
                      </a:r>
                      <a:r>
                        <a:rPr sz="1350" b="1" spc="-13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b="1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타입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10160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2025" spc="-300" baseline="2057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절대각도</a:t>
                      </a:r>
                      <a:r>
                        <a:rPr sz="1800" spc="-300" baseline="2314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(</a:t>
                      </a:r>
                      <a:r>
                        <a:rPr sz="1800" spc="165" baseline="2314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0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AbsAngle=1</a:t>
                      </a:r>
                      <a:r>
                        <a:rPr sz="1000" spc="-105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aseline="2314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)</a:t>
                      </a:r>
                      <a:r>
                        <a:rPr sz="1800" spc="37" baseline="2314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800" baseline="2314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/</a:t>
                      </a:r>
                      <a:r>
                        <a:rPr sz="1800" spc="44" baseline="2314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025" spc="-375" baseline="2057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부호</a:t>
                      </a:r>
                      <a:r>
                        <a:rPr sz="2025" spc="-179" baseline="2057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25" spc="-375" baseline="2057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있는</a:t>
                      </a:r>
                      <a:r>
                        <a:rPr sz="2025" spc="-172" baseline="2057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25" spc="-37" baseline="2057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각도</a:t>
                      </a:r>
                      <a:endParaRPr sz="2025" baseline="2057">
                        <a:latin typeface="Malgun Gothic"/>
                        <a:cs typeface="Malgun Gothic"/>
                      </a:endParaRPr>
                    </a:p>
                    <a:p>
                      <a:pPr marL="13271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(</a:t>
                      </a:r>
                      <a:r>
                        <a:rPr sz="1200" spc="13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0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AbsAngle=0</a:t>
                      </a:r>
                      <a:r>
                        <a:rPr sz="1000" spc="-8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200" spc="-5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)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68580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735012" y="2419823"/>
            <a:ext cx="1424940" cy="2959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dirty="0">
                <a:solidFill>
                  <a:srgbClr val="1F618C"/>
                </a:solidFill>
                <a:latin typeface="Segoe UI Semibold"/>
                <a:cs typeface="Segoe UI Semibold"/>
              </a:rPr>
              <a:t>P7</a:t>
            </a:r>
            <a:r>
              <a:rPr sz="1550" spc="15" dirty="0">
                <a:solidFill>
                  <a:srgbClr val="1F618C"/>
                </a:solidFill>
                <a:latin typeface="Segoe UI Semibold"/>
                <a:cs typeface="Segoe UI Semibold"/>
              </a:rPr>
              <a:t> </a:t>
            </a:r>
            <a:r>
              <a:rPr sz="1550" dirty="0">
                <a:solidFill>
                  <a:srgbClr val="1F618C"/>
                </a:solidFill>
                <a:latin typeface="Segoe UI Semibold"/>
                <a:cs typeface="Segoe UI Semibold"/>
              </a:rPr>
              <a:t>—</a:t>
            </a:r>
            <a:r>
              <a:rPr sz="1550" spc="15" dirty="0">
                <a:solidFill>
                  <a:srgbClr val="1F618C"/>
                </a:solidFill>
                <a:latin typeface="Segoe UI Semibold"/>
                <a:cs typeface="Segoe UI Semibold"/>
              </a:rPr>
              <a:t> </a:t>
            </a:r>
            <a:r>
              <a:rPr sz="1750" b="1" spc="-165" dirty="0">
                <a:solidFill>
                  <a:srgbClr val="1F618C"/>
                </a:solidFill>
                <a:latin typeface="Malgun Gothic"/>
                <a:cs typeface="Malgun Gothic"/>
              </a:rPr>
              <a:t>선</a:t>
            </a:r>
            <a:r>
              <a:rPr sz="1550" spc="-165" dirty="0">
                <a:solidFill>
                  <a:srgbClr val="1F618C"/>
                </a:solidFill>
                <a:latin typeface="Segoe UI Semibold"/>
                <a:cs typeface="Segoe UI Semibold"/>
              </a:rPr>
              <a:t>-</a:t>
            </a:r>
            <a:r>
              <a:rPr sz="1750" b="1" spc="-315" dirty="0">
                <a:solidFill>
                  <a:srgbClr val="1F618C"/>
                </a:solidFill>
                <a:latin typeface="Malgun Gothic"/>
                <a:cs typeface="Malgun Gothic"/>
              </a:rPr>
              <a:t>선</a:t>
            </a:r>
            <a:r>
              <a:rPr sz="1750" b="1" spc="-170" dirty="0">
                <a:solidFill>
                  <a:srgbClr val="1F618C"/>
                </a:solidFill>
                <a:latin typeface="Malgun Gothic"/>
                <a:cs typeface="Malgun Gothic"/>
              </a:rPr>
              <a:t> </a:t>
            </a:r>
            <a:r>
              <a:rPr sz="1750" b="1" spc="-340" dirty="0">
                <a:solidFill>
                  <a:srgbClr val="1F618C"/>
                </a:solidFill>
                <a:latin typeface="Malgun Gothic"/>
                <a:cs typeface="Malgun Gothic"/>
              </a:rPr>
              <a:t>각도</a:t>
            </a:r>
            <a:endParaRPr sz="1750">
              <a:latin typeface="Malgun Gothic"/>
              <a:cs typeface="Malgun Gothic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229349" y="2847974"/>
            <a:ext cx="5219700" cy="1743075"/>
            <a:chOff x="6229349" y="2847974"/>
            <a:chExt cx="5219700" cy="1743075"/>
          </a:xfrm>
        </p:grpSpPr>
        <p:sp>
          <p:nvSpPr>
            <p:cNvPr id="13" name="object 13"/>
            <p:cNvSpPr/>
            <p:nvPr/>
          </p:nvSpPr>
          <p:spPr>
            <a:xfrm>
              <a:off x="6234112" y="2852737"/>
              <a:ext cx="5210175" cy="1733550"/>
            </a:xfrm>
            <a:custGeom>
              <a:avLst/>
              <a:gdLst/>
              <a:ahLst/>
              <a:cxnLst/>
              <a:rect l="l" t="t" r="r" b="b"/>
              <a:pathLst>
                <a:path w="5210175" h="1733550">
                  <a:moveTo>
                    <a:pt x="5161226" y="1733549"/>
                  </a:moveTo>
                  <a:lnTo>
                    <a:pt x="48947" y="1733549"/>
                  </a:lnTo>
                  <a:lnTo>
                    <a:pt x="45540" y="1733213"/>
                  </a:lnTo>
                  <a:lnTo>
                    <a:pt x="10740" y="1713126"/>
                  </a:lnTo>
                  <a:lnTo>
                    <a:pt x="0" y="1684601"/>
                  </a:lnTo>
                  <a:lnTo>
                    <a:pt x="0" y="1681162"/>
                  </a:lnTo>
                  <a:lnTo>
                    <a:pt x="0" y="48947"/>
                  </a:lnTo>
                  <a:lnTo>
                    <a:pt x="17776" y="12910"/>
                  </a:lnTo>
                  <a:lnTo>
                    <a:pt x="48947" y="0"/>
                  </a:lnTo>
                  <a:lnTo>
                    <a:pt x="5161226" y="0"/>
                  </a:lnTo>
                  <a:lnTo>
                    <a:pt x="5197261" y="17775"/>
                  </a:lnTo>
                  <a:lnTo>
                    <a:pt x="5210174" y="48947"/>
                  </a:lnTo>
                  <a:lnTo>
                    <a:pt x="5210174" y="1684601"/>
                  </a:lnTo>
                  <a:lnTo>
                    <a:pt x="5192397" y="1720637"/>
                  </a:lnTo>
                  <a:lnTo>
                    <a:pt x="5164633" y="1733213"/>
                  </a:lnTo>
                  <a:lnTo>
                    <a:pt x="5161226" y="1733549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234112" y="2852737"/>
              <a:ext cx="5210175" cy="1733550"/>
            </a:xfrm>
            <a:custGeom>
              <a:avLst/>
              <a:gdLst/>
              <a:ahLst/>
              <a:cxnLst/>
              <a:rect l="l" t="t" r="r" b="b"/>
              <a:pathLst>
                <a:path w="5210175" h="1733550">
                  <a:moveTo>
                    <a:pt x="0" y="1681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0" y="35517"/>
                  </a:lnTo>
                  <a:lnTo>
                    <a:pt x="3987" y="32338"/>
                  </a:lnTo>
                  <a:lnTo>
                    <a:pt x="5303" y="29160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52387" y="0"/>
                  </a:lnTo>
                  <a:lnTo>
                    <a:pt x="5157787" y="0"/>
                  </a:lnTo>
                  <a:lnTo>
                    <a:pt x="5194830" y="15343"/>
                  </a:lnTo>
                  <a:lnTo>
                    <a:pt x="5201343" y="23281"/>
                  </a:lnTo>
                  <a:lnTo>
                    <a:pt x="5203255" y="26142"/>
                  </a:lnTo>
                  <a:lnTo>
                    <a:pt x="5210174" y="48947"/>
                  </a:lnTo>
                  <a:lnTo>
                    <a:pt x="5210174" y="52387"/>
                  </a:lnTo>
                  <a:lnTo>
                    <a:pt x="5210174" y="1681162"/>
                  </a:lnTo>
                  <a:lnTo>
                    <a:pt x="5210174" y="1684601"/>
                  </a:lnTo>
                  <a:lnTo>
                    <a:pt x="5209838" y="1688008"/>
                  </a:lnTo>
                  <a:lnTo>
                    <a:pt x="5189751" y="1722809"/>
                  </a:lnTo>
                  <a:lnTo>
                    <a:pt x="5161226" y="1733549"/>
                  </a:lnTo>
                  <a:lnTo>
                    <a:pt x="5157787" y="1733549"/>
                  </a:lnTo>
                  <a:lnTo>
                    <a:pt x="52387" y="1733549"/>
                  </a:lnTo>
                  <a:lnTo>
                    <a:pt x="48947" y="1733549"/>
                  </a:lnTo>
                  <a:lnTo>
                    <a:pt x="45540" y="1733214"/>
                  </a:lnTo>
                  <a:lnTo>
                    <a:pt x="42166" y="1732542"/>
                  </a:lnTo>
                  <a:lnTo>
                    <a:pt x="38792" y="1731871"/>
                  </a:lnTo>
                  <a:lnTo>
                    <a:pt x="35517" y="1730878"/>
                  </a:lnTo>
                  <a:lnTo>
                    <a:pt x="32339" y="1729561"/>
                  </a:lnTo>
                  <a:lnTo>
                    <a:pt x="29160" y="1728245"/>
                  </a:lnTo>
                  <a:lnTo>
                    <a:pt x="8829" y="1710266"/>
                  </a:lnTo>
                  <a:lnTo>
                    <a:pt x="6917" y="1707406"/>
                  </a:lnTo>
                  <a:lnTo>
                    <a:pt x="5303" y="1704387"/>
                  </a:lnTo>
                  <a:lnTo>
                    <a:pt x="3987" y="1701209"/>
                  </a:lnTo>
                  <a:lnTo>
                    <a:pt x="2670" y="1698031"/>
                  </a:lnTo>
                  <a:lnTo>
                    <a:pt x="1677" y="1694755"/>
                  </a:lnTo>
                  <a:lnTo>
                    <a:pt x="1006" y="1691382"/>
                  </a:lnTo>
                  <a:lnTo>
                    <a:pt x="335" y="1688008"/>
                  </a:lnTo>
                  <a:lnTo>
                    <a:pt x="0" y="1684601"/>
                  </a:lnTo>
                  <a:lnTo>
                    <a:pt x="0" y="1681162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219030" y="2419823"/>
            <a:ext cx="391795" cy="2959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b="1" spc="-340" dirty="0">
                <a:solidFill>
                  <a:srgbClr val="1F618C"/>
                </a:solidFill>
                <a:latin typeface="Malgun Gothic"/>
                <a:cs typeface="Malgun Gothic"/>
              </a:rPr>
              <a:t>예시</a:t>
            </a:r>
            <a:endParaRPr sz="1750">
              <a:latin typeface="Malgun Gothic"/>
              <a:cs typeface="Malgun Gothic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6129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16" name="object 16"/>
          <p:cNvSpPr txBox="1"/>
          <p:nvPr/>
        </p:nvSpPr>
        <p:spPr>
          <a:xfrm>
            <a:off x="6378574" y="2976721"/>
            <a:ext cx="2901315" cy="1448435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 marR="121920">
              <a:lnSpc>
                <a:spcPts val="1430"/>
              </a:lnSpc>
              <a:spcBef>
                <a:spcPts val="165"/>
              </a:spcBef>
            </a:pP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선분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L1: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시작점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(Pos0)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→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1F2328"/>
                </a:solidFill>
                <a:latin typeface="Malgun Gothic"/>
                <a:cs typeface="Malgun Gothic"/>
              </a:rPr>
              <a:t>끝점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(Pos1)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선분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L2: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시작점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(Pos0)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→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1F2328"/>
                </a:solidFill>
                <a:latin typeface="Malgun Gothic"/>
                <a:cs typeface="Malgun Gothic"/>
              </a:rPr>
              <a:t>끝점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(Pos1)</a:t>
            </a:r>
            <a:endParaRPr sz="1200">
              <a:latin typeface="Consolas"/>
              <a:cs typeface="Consolas"/>
            </a:endParaRPr>
          </a:p>
          <a:p>
            <a:pPr marL="688975">
              <a:lnSpc>
                <a:spcPts val="1290"/>
              </a:lnSpc>
            </a:pPr>
            <a:r>
              <a:rPr sz="1200" spc="-25" dirty="0">
                <a:solidFill>
                  <a:srgbClr val="1F2328"/>
                </a:solidFill>
                <a:latin typeface="Consolas"/>
                <a:cs typeface="Consolas"/>
              </a:rPr>
              <a:t>L1</a:t>
            </a:r>
            <a:endParaRPr sz="1200">
              <a:latin typeface="Consolas"/>
              <a:cs typeface="Consolas"/>
            </a:endParaRPr>
          </a:p>
          <a:p>
            <a:pPr marL="688975">
              <a:lnSpc>
                <a:spcPts val="1385"/>
              </a:lnSpc>
            </a:pPr>
            <a:r>
              <a:rPr sz="1200" spc="-50" dirty="0">
                <a:solidFill>
                  <a:srgbClr val="1F2328"/>
                </a:solidFill>
                <a:latin typeface="Consolas"/>
                <a:cs typeface="Consolas"/>
              </a:rPr>
              <a:t>/</a:t>
            </a:r>
            <a:endParaRPr sz="1200">
              <a:latin typeface="Consolas"/>
              <a:cs typeface="Consolas"/>
            </a:endParaRPr>
          </a:p>
          <a:p>
            <a:pPr marL="604520">
              <a:lnSpc>
                <a:spcPts val="1390"/>
              </a:lnSpc>
              <a:tabLst>
                <a:tab pos="857885" algn="l"/>
              </a:tabLst>
            </a:pPr>
            <a:r>
              <a:rPr sz="1200" spc="-50" dirty="0">
                <a:solidFill>
                  <a:srgbClr val="1F2328"/>
                </a:solidFill>
                <a:latin typeface="Consolas"/>
                <a:cs typeface="Consolas"/>
              </a:rPr>
              <a:t>/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	←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θ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(AngleLl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→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TupleDeg)</a:t>
            </a:r>
            <a:endParaRPr sz="1200">
              <a:latin typeface="Consolas"/>
              <a:cs typeface="Consolas"/>
            </a:endParaRPr>
          </a:p>
          <a:p>
            <a:pPr marL="520065">
              <a:lnSpc>
                <a:spcPts val="1435"/>
              </a:lnSpc>
              <a:tabLst>
                <a:tab pos="1401445" algn="l"/>
              </a:tabLst>
            </a:pPr>
            <a:r>
              <a:rPr sz="1200" spc="-50" dirty="0">
                <a:solidFill>
                  <a:srgbClr val="1F2328"/>
                </a:solidFill>
                <a:latin typeface="Consolas"/>
                <a:cs typeface="Consolas"/>
              </a:rPr>
              <a:t>/</a:t>
            </a:r>
            <a:r>
              <a:rPr sz="1200" u="sng" dirty="0">
                <a:solidFill>
                  <a:srgbClr val="1F2328"/>
                </a:solidFill>
                <a:uFill>
                  <a:solidFill>
                    <a:srgbClr val="1E2227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200" dirty="0">
                <a:solidFill>
                  <a:srgbClr val="1F232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L2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→</a:t>
            </a:r>
            <a:r>
              <a:rPr sz="1200" spc="-1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θ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값을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FAI</a:t>
            </a:r>
            <a:r>
              <a:rPr sz="1200" spc="-1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측정값으로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기록</a:t>
            </a:r>
            <a:endParaRPr sz="12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3155772"/>
            <a:ext cx="1170940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b="1" spc="-459" dirty="0">
                <a:latin typeface="Malgun Gothic"/>
                <a:cs typeface="Malgun Gothic"/>
              </a:rPr>
              <a:t>개발</a:t>
            </a:r>
            <a:r>
              <a:rPr sz="2550" b="1" spc="-270" dirty="0">
                <a:latin typeface="Malgun Gothic"/>
                <a:cs typeface="Malgun Gothic"/>
              </a:rPr>
              <a:t> </a:t>
            </a:r>
            <a:r>
              <a:rPr sz="2550" b="1" spc="-484" dirty="0">
                <a:latin typeface="Malgun Gothic"/>
                <a:cs typeface="Malgun Gothic"/>
              </a:rPr>
              <a:t>일정</a:t>
            </a:r>
            <a:endParaRPr sz="2550">
              <a:latin typeface="Malgun Gothic"/>
              <a:cs typeface="Malgun Gothic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6129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2474" y="1809749"/>
            <a:ext cx="10696575" cy="19050"/>
          </a:xfrm>
          <a:custGeom>
            <a:avLst/>
            <a:gdLst/>
            <a:ahLst/>
            <a:cxnLst/>
            <a:rect l="l" t="t" r="r" b="b"/>
            <a:pathLst>
              <a:path w="10696575" h="19050">
                <a:moveTo>
                  <a:pt x="10696574" y="19049"/>
                </a:moveTo>
                <a:lnTo>
                  <a:pt x="0" y="19049"/>
                </a:lnTo>
                <a:lnTo>
                  <a:pt x="0" y="0"/>
                </a:lnTo>
                <a:lnTo>
                  <a:pt x="10696574" y="0"/>
                </a:lnTo>
                <a:lnTo>
                  <a:pt x="10696574" y="19049"/>
                </a:lnTo>
                <a:close/>
              </a:path>
            </a:pathLst>
          </a:custGeom>
          <a:solidFill>
            <a:srgbClr val="1A527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752474" y="1981199"/>
            <a:ext cx="10696575" cy="1924050"/>
            <a:chOff x="752474" y="1981199"/>
            <a:chExt cx="10696575" cy="1924050"/>
          </a:xfrm>
        </p:grpSpPr>
        <p:sp>
          <p:nvSpPr>
            <p:cNvPr id="4" name="object 4"/>
            <p:cNvSpPr/>
            <p:nvPr/>
          </p:nvSpPr>
          <p:spPr>
            <a:xfrm>
              <a:off x="757237" y="1985962"/>
              <a:ext cx="10687050" cy="1914525"/>
            </a:xfrm>
            <a:custGeom>
              <a:avLst/>
              <a:gdLst/>
              <a:ahLst/>
              <a:cxnLst/>
              <a:rect l="l" t="t" r="r" b="b"/>
              <a:pathLst>
                <a:path w="10687050" h="1914525">
                  <a:moveTo>
                    <a:pt x="10638100" y="1914524"/>
                  </a:moveTo>
                  <a:lnTo>
                    <a:pt x="48947" y="1914524"/>
                  </a:lnTo>
                  <a:lnTo>
                    <a:pt x="45540" y="1914189"/>
                  </a:lnTo>
                  <a:lnTo>
                    <a:pt x="10739" y="1894101"/>
                  </a:lnTo>
                  <a:lnTo>
                    <a:pt x="0" y="1865576"/>
                  </a:lnTo>
                  <a:lnTo>
                    <a:pt x="0" y="186213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6"/>
                  </a:lnTo>
                  <a:lnTo>
                    <a:pt x="10687049" y="48947"/>
                  </a:lnTo>
                  <a:lnTo>
                    <a:pt x="10687049" y="1865576"/>
                  </a:lnTo>
                  <a:lnTo>
                    <a:pt x="10669272" y="1901612"/>
                  </a:lnTo>
                  <a:lnTo>
                    <a:pt x="10641507" y="1914189"/>
                  </a:lnTo>
                  <a:lnTo>
                    <a:pt x="10638100" y="1914524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7237" y="1985962"/>
              <a:ext cx="10687050" cy="1914525"/>
            </a:xfrm>
            <a:custGeom>
              <a:avLst/>
              <a:gdLst/>
              <a:ahLst/>
              <a:cxnLst/>
              <a:rect l="l" t="t" r="r" b="b"/>
              <a:pathLst>
                <a:path w="10687050" h="1914525">
                  <a:moveTo>
                    <a:pt x="0" y="186213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63765" y="8828"/>
                  </a:lnTo>
                  <a:lnTo>
                    <a:pt x="10666625" y="10739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1862137"/>
                  </a:lnTo>
                  <a:lnTo>
                    <a:pt x="10687049" y="1865576"/>
                  </a:lnTo>
                  <a:lnTo>
                    <a:pt x="10686713" y="1868983"/>
                  </a:lnTo>
                  <a:lnTo>
                    <a:pt x="10666625" y="1903784"/>
                  </a:lnTo>
                  <a:lnTo>
                    <a:pt x="10634661" y="1914524"/>
                  </a:lnTo>
                  <a:lnTo>
                    <a:pt x="52387" y="1914524"/>
                  </a:lnTo>
                  <a:lnTo>
                    <a:pt x="23282" y="1905695"/>
                  </a:lnTo>
                  <a:lnTo>
                    <a:pt x="20422" y="1903784"/>
                  </a:lnTo>
                  <a:lnTo>
                    <a:pt x="1006" y="1872357"/>
                  </a:lnTo>
                  <a:lnTo>
                    <a:pt x="335" y="1868983"/>
                  </a:lnTo>
                  <a:lnTo>
                    <a:pt x="0" y="1865576"/>
                  </a:lnTo>
                  <a:lnTo>
                    <a:pt x="0" y="1862137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52474" y="4057649"/>
          <a:ext cx="588645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3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6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17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-5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월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1A5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-25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주요</a:t>
                      </a:r>
                      <a:r>
                        <a:rPr sz="1350" b="1" spc="-13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작업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1A5275"/>
                    </a:solidFill>
                  </a:tcPr>
                </a:tc>
                <a:tc>
                  <a:txBody>
                    <a:bodyPr/>
                    <a:lstStyle/>
                    <a:p>
                      <a:pPr marL="68834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Milestone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1A52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3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spc="65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M1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Model</a:t>
                      </a:r>
                      <a:r>
                        <a:rPr sz="1200" spc="4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7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완성</a:t>
                      </a:r>
                      <a:r>
                        <a:rPr sz="1200" spc="-17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,</a:t>
                      </a:r>
                      <a:r>
                        <a:rPr sz="1200" spc="4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Controller(Inspector</a:t>
                      </a:r>
                      <a:r>
                        <a:rPr sz="1200" spc="4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연결</a:t>
                      </a:r>
                      <a:r>
                        <a:rPr sz="1200" spc="-2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)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AKC</a:t>
                      </a:r>
                      <a:r>
                        <a:rPr sz="1200" spc="-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단일</a:t>
                      </a:r>
                      <a:r>
                        <a:rPr sz="1350" spc="-14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모델</a:t>
                      </a:r>
                      <a:r>
                        <a:rPr sz="1350" spc="-14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INI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기반</a:t>
                      </a:r>
                      <a:r>
                        <a:rPr sz="1350" spc="-14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재현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spc="-25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M2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View</a:t>
                      </a:r>
                      <a:r>
                        <a:rPr sz="1200" spc="4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6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기초</a:t>
                      </a:r>
                      <a:r>
                        <a:rPr sz="1200" spc="-16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(</a:t>
                      </a:r>
                      <a:r>
                        <a:rPr sz="1350" spc="-16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리소스</a:t>
                      </a:r>
                      <a:r>
                        <a:rPr sz="1200" spc="-16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·</a:t>
                      </a:r>
                      <a:r>
                        <a:rPr sz="1350" spc="-16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리스트</a:t>
                      </a:r>
                      <a:r>
                        <a:rPr sz="1200" spc="-16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),</a:t>
                      </a:r>
                      <a:r>
                        <a:rPr sz="1200" spc="5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4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Controller(</a:t>
                      </a:r>
                      <a:r>
                        <a:rPr sz="1350" spc="-4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진입</a:t>
                      </a:r>
                      <a:r>
                        <a:rPr sz="1350" spc="-9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버튼</a:t>
                      </a:r>
                      <a:r>
                        <a:rPr sz="1200" spc="-2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)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BOI·AKC</a:t>
                      </a:r>
                      <a:r>
                        <a:rPr sz="1200" spc="-2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UI</a:t>
                      </a:r>
                      <a:r>
                        <a:rPr sz="1200" spc="-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기반</a:t>
                      </a:r>
                      <a:r>
                        <a:rPr sz="1350" spc="-14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재현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spc="-25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M3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View</a:t>
                      </a:r>
                      <a:r>
                        <a:rPr sz="1200" spc="1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4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완성</a:t>
                      </a:r>
                      <a:r>
                        <a:rPr sz="1200" spc="-4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(Add/Del</a:t>
                      </a:r>
                      <a:r>
                        <a:rPr sz="1200" spc="2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5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핸들러</a:t>
                      </a:r>
                      <a:r>
                        <a:rPr sz="1200" spc="-15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),</a:t>
                      </a:r>
                      <a:r>
                        <a:rPr sz="1200" spc="2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전체</a:t>
                      </a:r>
                      <a:r>
                        <a:rPr sz="1350" spc="-13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통합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전</a:t>
                      </a:r>
                      <a:r>
                        <a:rPr sz="1350" spc="-1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13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모델</a:t>
                      </a:r>
                      <a:r>
                        <a:rPr sz="1200" spc="-13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(5</a:t>
                      </a:r>
                      <a:r>
                        <a:rPr sz="1350" spc="-13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종</a:t>
                      </a:r>
                      <a:r>
                        <a:rPr sz="1200" spc="-13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)</a:t>
                      </a:r>
                      <a:r>
                        <a:rPr sz="1200" spc="2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완전</a:t>
                      </a:r>
                      <a:r>
                        <a:rPr sz="1350" spc="-12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재현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6129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5012" y="1326972"/>
            <a:ext cx="2748915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b="1" spc="-459" dirty="0">
                <a:latin typeface="Malgun Gothic"/>
                <a:cs typeface="Malgun Gothic"/>
              </a:rPr>
              <a:t>개발</a:t>
            </a:r>
            <a:r>
              <a:rPr sz="2550" b="1" spc="-270" dirty="0">
                <a:latin typeface="Malgun Gothic"/>
                <a:cs typeface="Malgun Gothic"/>
              </a:rPr>
              <a:t> </a:t>
            </a:r>
            <a:r>
              <a:rPr sz="2550" b="1" spc="-459" dirty="0">
                <a:latin typeface="Malgun Gothic"/>
                <a:cs typeface="Malgun Gothic"/>
              </a:rPr>
              <a:t>일정</a:t>
            </a:r>
            <a:r>
              <a:rPr sz="2550" b="1" spc="-265" dirty="0">
                <a:latin typeface="Malgun Gothic"/>
                <a:cs typeface="Malgun Gothic"/>
              </a:rPr>
              <a:t> </a:t>
            </a:r>
            <a:r>
              <a:rPr sz="2550" b="1" spc="-459" dirty="0">
                <a:latin typeface="Malgun Gothic"/>
                <a:cs typeface="Malgun Gothic"/>
              </a:rPr>
              <a:t>개요</a:t>
            </a:r>
            <a:r>
              <a:rPr sz="2550" b="1" spc="-270" dirty="0">
                <a:latin typeface="Malgun Gothic"/>
                <a:cs typeface="Malgun Gothic"/>
              </a:rPr>
              <a:t> </a:t>
            </a:r>
            <a:r>
              <a:rPr spc="-165" dirty="0"/>
              <a:t>(3</a:t>
            </a:r>
            <a:r>
              <a:rPr sz="2550" b="1" spc="-165" dirty="0">
                <a:latin typeface="Malgun Gothic"/>
                <a:cs typeface="Malgun Gothic"/>
              </a:rPr>
              <a:t>개월</a:t>
            </a:r>
            <a:r>
              <a:rPr spc="-165" dirty="0"/>
              <a:t>)</a:t>
            </a:r>
            <a:endParaRPr sz="2550">
              <a:latin typeface="Malgun Gothic"/>
              <a:cs typeface="Malgun Gothic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559255" y="2144428"/>
          <a:ext cx="5278119" cy="1587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07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5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4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4785">
                <a:tc>
                  <a:txBody>
                    <a:bodyPr/>
                    <a:lstStyle/>
                    <a:p>
                      <a:pPr marL="200660">
                        <a:lnSpc>
                          <a:spcPts val="1280"/>
                        </a:lnSpc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M1</a:t>
                      </a:r>
                      <a:r>
                        <a:rPr sz="1200" spc="5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200" spc="-1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(1</a:t>
                      </a:r>
                      <a:r>
                        <a:rPr sz="1200" spc="-1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개월</a:t>
                      </a:r>
                      <a:r>
                        <a:rPr sz="1200" spc="-1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9584">
                        <a:lnSpc>
                          <a:spcPts val="1280"/>
                        </a:lnSpc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M2</a:t>
                      </a:r>
                      <a:r>
                        <a:rPr sz="1200" spc="5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200" spc="-1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(2</a:t>
                      </a:r>
                      <a:r>
                        <a:rPr sz="1200" spc="-1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개월</a:t>
                      </a:r>
                      <a:r>
                        <a:rPr sz="1200" spc="-1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5130">
                        <a:lnSpc>
                          <a:spcPts val="1280"/>
                        </a:lnSpc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M3</a:t>
                      </a:r>
                      <a:r>
                        <a:rPr sz="1200" spc="5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200" spc="-1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(3</a:t>
                      </a:r>
                      <a:r>
                        <a:rPr sz="1200" spc="-1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개월</a:t>
                      </a:r>
                      <a:r>
                        <a:rPr sz="1200" spc="-1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)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005">
                <a:tc>
                  <a:txBody>
                    <a:bodyPr/>
                    <a:lstStyle/>
                    <a:p>
                      <a:pPr marL="116205">
                        <a:lnSpc>
                          <a:spcPts val="1215"/>
                        </a:lnSpc>
                      </a:pPr>
                      <a:r>
                        <a:rPr sz="1200" spc="-1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─────────────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4330">
                        <a:lnSpc>
                          <a:spcPts val="1215"/>
                        </a:lnSpc>
                      </a:pPr>
                      <a:r>
                        <a:rPr sz="1200" spc="-1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─────────────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8440">
                        <a:lnSpc>
                          <a:spcPts val="1215"/>
                        </a:lnSpc>
                      </a:pPr>
                      <a:r>
                        <a:rPr sz="1200" spc="-1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─────────────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895">
                <a:tc>
                  <a:txBody>
                    <a:bodyPr/>
                    <a:lstStyle/>
                    <a:p>
                      <a:pPr marL="116205">
                        <a:lnSpc>
                          <a:spcPts val="1280"/>
                        </a:lnSpc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Model</a:t>
                      </a:r>
                      <a:r>
                        <a:rPr sz="1200" spc="5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200" spc="-3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완성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5130">
                        <a:lnSpc>
                          <a:spcPts val="1280"/>
                        </a:lnSpc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View</a:t>
                      </a:r>
                      <a:r>
                        <a:rPr sz="1200" spc="-5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기초</a:t>
                      </a:r>
                      <a:r>
                        <a:rPr sz="1200" spc="229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구현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55930">
                        <a:lnSpc>
                          <a:spcPts val="1280"/>
                        </a:lnSpc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View</a:t>
                      </a:r>
                      <a:r>
                        <a:rPr sz="1200" spc="5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20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완성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marL="116205">
                        <a:lnSpc>
                          <a:spcPts val="1315"/>
                        </a:lnSpc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Controller</a:t>
                      </a:r>
                      <a:r>
                        <a:rPr sz="1200" spc="5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20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연결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5130">
                        <a:lnSpc>
                          <a:spcPts val="1315"/>
                        </a:lnSpc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Controller</a:t>
                      </a:r>
                      <a:r>
                        <a:rPr sz="1200" spc="5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200" spc="-2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진입버튼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1475">
                        <a:lnSpc>
                          <a:spcPts val="1315"/>
                        </a:lnSpc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통합</a:t>
                      </a:r>
                      <a:r>
                        <a:rPr sz="1200" spc="22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테스트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5895">
                <a:tc>
                  <a:txBody>
                    <a:bodyPr/>
                    <a:lstStyle/>
                    <a:p>
                      <a:pPr marL="539115">
                        <a:lnSpc>
                          <a:spcPts val="1210"/>
                        </a:lnSpc>
                      </a:pPr>
                      <a:r>
                        <a:rPr sz="1200" spc="-5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│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0" algn="ctr">
                        <a:lnSpc>
                          <a:spcPts val="1210"/>
                        </a:lnSpc>
                      </a:pPr>
                      <a:r>
                        <a:rPr sz="1200" spc="-5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│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2715" algn="ctr">
                        <a:lnSpc>
                          <a:spcPts val="1210"/>
                        </a:lnSpc>
                      </a:pPr>
                      <a:r>
                        <a:rPr sz="1200" spc="-5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│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5895">
                <a:tc>
                  <a:txBody>
                    <a:bodyPr/>
                    <a:lstStyle/>
                    <a:p>
                      <a:pPr marL="539115">
                        <a:lnSpc>
                          <a:spcPts val="1245"/>
                        </a:lnSpc>
                      </a:pPr>
                      <a:r>
                        <a:rPr sz="1200" spc="-5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▼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0" algn="ctr">
                        <a:lnSpc>
                          <a:spcPts val="1245"/>
                        </a:lnSpc>
                      </a:pPr>
                      <a:r>
                        <a:rPr sz="1200" spc="-5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▼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2715" algn="ctr">
                        <a:lnSpc>
                          <a:spcPts val="1245"/>
                        </a:lnSpc>
                      </a:pPr>
                      <a:r>
                        <a:rPr sz="1200" spc="-5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▼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7005">
                <a:tc>
                  <a:txBody>
                    <a:bodyPr/>
                    <a:lstStyle/>
                    <a:p>
                      <a:pPr marL="31750">
                        <a:lnSpc>
                          <a:spcPts val="1210"/>
                        </a:lnSpc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[Milestone</a:t>
                      </a:r>
                      <a:r>
                        <a:rPr sz="1200" spc="5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200" spc="-25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1]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4330">
                        <a:lnSpc>
                          <a:spcPts val="1210"/>
                        </a:lnSpc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[Milestone</a:t>
                      </a:r>
                      <a:r>
                        <a:rPr sz="1200" spc="5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200" spc="-25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2]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8440">
                        <a:lnSpc>
                          <a:spcPts val="1210"/>
                        </a:lnSpc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[Milestone</a:t>
                      </a:r>
                      <a:r>
                        <a:rPr sz="1200" spc="5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200" spc="-25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3]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340">
                <a:tc>
                  <a:txBody>
                    <a:bodyPr/>
                    <a:lstStyle/>
                    <a:p>
                      <a:pPr marL="116205">
                        <a:lnSpc>
                          <a:spcPts val="1315"/>
                        </a:lnSpc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INI</a:t>
                      </a:r>
                      <a:r>
                        <a:rPr sz="1200" spc="-5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직접</a:t>
                      </a:r>
                      <a:r>
                        <a:rPr sz="1200" spc="229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편집</a:t>
                      </a:r>
                      <a:r>
                        <a:rPr sz="1200" spc="-25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,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1475">
                        <a:lnSpc>
                          <a:spcPts val="1315"/>
                        </a:lnSpc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UI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로</a:t>
                      </a:r>
                      <a:r>
                        <a:rPr sz="1200" spc="2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규칙</a:t>
                      </a:r>
                      <a:r>
                        <a:rPr sz="1200" spc="229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spc="-2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추가하여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315"/>
                        </a:lnSpc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전</a:t>
                      </a:r>
                      <a:r>
                        <a:rPr sz="1200" spc="23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spc="-2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모델에서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5895">
                <a:tc>
                  <a:txBody>
                    <a:bodyPr/>
                    <a:lstStyle/>
                    <a:p>
                      <a:pPr marL="116205">
                        <a:lnSpc>
                          <a:spcPts val="1290"/>
                        </a:lnSpc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기존</a:t>
                      </a:r>
                      <a:r>
                        <a:rPr sz="1200" spc="2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FAI </a:t>
                      </a:r>
                      <a:r>
                        <a:rPr sz="120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재현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55930">
                        <a:lnSpc>
                          <a:spcPts val="1290"/>
                        </a:lnSpc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기존</a:t>
                      </a:r>
                      <a:r>
                        <a:rPr sz="1200" spc="2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FAI </a:t>
                      </a:r>
                      <a:r>
                        <a:rPr sz="120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재현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290"/>
                        </a:lnSpc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기존</a:t>
                      </a:r>
                      <a:r>
                        <a:rPr sz="1200" spc="2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FAI </a:t>
                      </a:r>
                      <a:r>
                        <a:rPr sz="120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재현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2474" y="1190624"/>
            <a:ext cx="10696575" cy="19050"/>
          </a:xfrm>
          <a:custGeom>
            <a:avLst/>
            <a:gdLst/>
            <a:ahLst/>
            <a:cxnLst/>
            <a:rect l="l" t="t" r="r" b="b"/>
            <a:pathLst>
              <a:path w="10696575" h="19050">
                <a:moveTo>
                  <a:pt x="10696574" y="19049"/>
                </a:moveTo>
                <a:lnTo>
                  <a:pt x="0" y="19049"/>
                </a:lnTo>
                <a:lnTo>
                  <a:pt x="0" y="0"/>
                </a:lnTo>
                <a:lnTo>
                  <a:pt x="10696574" y="0"/>
                </a:lnTo>
                <a:lnTo>
                  <a:pt x="10696574" y="19049"/>
                </a:lnTo>
                <a:close/>
              </a:path>
            </a:pathLst>
          </a:custGeom>
          <a:solidFill>
            <a:srgbClr val="1A527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52474" y="1838324"/>
          <a:ext cx="54102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9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17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영역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1A5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작업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1A5275"/>
                    </a:solidFill>
                  </a:tcPr>
                </a:tc>
                <a:tc>
                  <a:txBody>
                    <a:bodyPr/>
                    <a:lstStyle/>
                    <a:p>
                      <a:pPr marL="55054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-25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관련</a:t>
                      </a:r>
                      <a:r>
                        <a:rPr sz="1350" b="1" spc="-13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spc="-20" dirty="0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TODO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1A52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spc="-10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Model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6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ExecuteP5/P7</a:t>
                      </a:r>
                      <a:r>
                        <a:rPr sz="1200" spc="2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로직</a:t>
                      </a:r>
                      <a:r>
                        <a:rPr sz="1350" spc="-12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0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구현</a:t>
                      </a:r>
                      <a:r>
                        <a:rPr sz="1200" spc="-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·</a:t>
                      </a:r>
                      <a:r>
                        <a:rPr sz="1350" spc="-20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단위</a:t>
                      </a:r>
                      <a:r>
                        <a:rPr sz="1350" spc="-12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테스트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TODO</a:t>
                      </a:r>
                      <a:r>
                        <a:rPr sz="1200" spc="-1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—</a:t>
                      </a:r>
                      <a:r>
                        <a:rPr sz="1200" spc="-1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2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Model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spc="-10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Controller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76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Inspector</a:t>
                      </a:r>
                      <a:r>
                        <a:rPr sz="1200" spc="2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17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5</a:t>
                      </a:r>
                      <a:r>
                        <a:rPr sz="1350" spc="-17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개에</a:t>
                      </a:r>
                      <a:r>
                        <a:rPr sz="1350" spc="-1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Execute</a:t>
                      </a:r>
                      <a:r>
                        <a:rPr sz="1200" spc="2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호출</a:t>
                      </a:r>
                      <a:r>
                        <a:rPr sz="1350" spc="-1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삽입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TODO</a:t>
                      </a:r>
                      <a:r>
                        <a:rPr sz="1200" spc="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—</a:t>
                      </a:r>
                      <a:r>
                        <a:rPr sz="1200" spc="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Controller</a:t>
                      </a:r>
                      <a:r>
                        <a:rPr sz="1200" spc="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2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1/2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3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spc="-10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Controller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6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LoadRules</a:t>
                      </a:r>
                      <a:r>
                        <a:rPr sz="1200" spc="1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호출</a:t>
                      </a:r>
                      <a:r>
                        <a:rPr sz="1350" spc="-1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시점</a:t>
                      </a:r>
                      <a:r>
                        <a:rPr sz="1350" spc="-1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결정</a:t>
                      </a:r>
                      <a:r>
                        <a:rPr sz="1350" spc="-13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1350" spc="-1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적용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TODO</a:t>
                      </a:r>
                      <a:r>
                        <a:rPr sz="1200" spc="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—</a:t>
                      </a:r>
                      <a:r>
                        <a:rPr sz="1200" spc="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Controller</a:t>
                      </a:r>
                      <a:r>
                        <a:rPr sz="1200" spc="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2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2/2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752474" y="3895724"/>
            <a:ext cx="10696575" cy="2447925"/>
            <a:chOff x="752474" y="3895724"/>
            <a:chExt cx="10696575" cy="2447925"/>
          </a:xfrm>
        </p:grpSpPr>
        <p:sp>
          <p:nvSpPr>
            <p:cNvPr id="5" name="object 5"/>
            <p:cNvSpPr/>
            <p:nvPr/>
          </p:nvSpPr>
          <p:spPr>
            <a:xfrm>
              <a:off x="757237" y="3900487"/>
              <a:ext cx="10687050" cy="2438400"/>
            </a:xfrm>
            <a:custGeom>
              <a:avLst/>
              <a:gdLst/>
              <a:ahLst/>
              <a:cxnLst/>
              <a:rect l="l" t="t" r="r" b="b"/>
              <a:pathLst>
                <a:path w="10687050" h="2438400">
                  <a:moveTo>
                    <a:pt x="10638100" y="2438399"/>
                  </a:moveTo>
                  <a:lnTo>
                    <a:pt x="48947" y="2438399"/>
                  </a:lnTo>
                  <a:lnTo>
                    <a:pt x="45540" y="2438063"/>
                  </a:lnTo>
                  <a:lnTo>
                    <a:pt x="10739" y="2417976"/>
                  </a:lnTo>
                  <a:lnTo>
                    <a:pt x="0" y="2389452"/>
                  </a:lnTo>
                  <a:lnTo>
                    <a:pt x="0" y="238601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2389452"/>
                  </a:lnTo>
                  <a:lnTo>
                    <a:pt x="10669272" y="2425487"/>
                  </a:lnTo>
                  <a:lnTo>
                    <a:pt x="10641507" y="2438063"/>
                  </a:lnTo>
                  <a:lnTo>
                    <a:pt x="10638100" y="2438399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57237" y="3900487"/>
              <a:ext cx="10687050" cy="2438400"/>
            </a:xfrm>
            <a:custGeom>
              <a:avLst/>
              <a:gdLst/>
              <a:ahLst/>
              <a:cxnLst/>
              <a:rect l="l" t="t" r="r" b="b"/>
              <a:pathLst>
                <a:path w="10687050" h="2438400">
                  <a:moveTo>
                    <a:pt x="0" y="238601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6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2386012"/>
                  </a:lnTo>
                  <a:lnTo>
                    <a:pt x="10687049" y="2389452"/>
                  </a:lnTo>
                  <a:lnTo>
                    <a:pt x="10686713" y="2392858"/>
                  </a:lnTo>
                  <a:lnTo>
                    <a:pt x="10666625" y="2427659"/>
                  </a:lnTo>
                  <a:lnTo>
                    <a:pt x="10654709" y="2434411"/>
                  </a:lnTo>
                  <a:lnTo>
                    <a:pt x="10651530" y="2435728"/>
                  </a:lnTo>
                  <a:lnTo>
                    <a:pt x="10648254" y="2436721"/>
                  </a:lnTo>
                  <a:lnTo>
                    <a:pt x="10644881" y="2437392"/>
                  </a:lnTo>
                  <a:lnTo>
                    <a:pt x="10641507" y="2438063"/>
                  </a:lnTo>
                  <a:lnTo>
                    <a:pt x="10638100" y="2438399"/>
                  </a:lnTo>
                  <a:lnTo>
                    <a:pt x="10634661" y="2438399"/>
                  </a:lnTo>
                  <a:lnTo>
                    <a:pt x="52387" y="2438399"/>
                  </a:lnTo>
                  <a:lnTo>
                    <a:pt x="48947" y="2438399"/>
                  </a:lnTo>
                  <a:lnTo>
                    <a:pt x="45540" y="2438063"/>
                  </a:lnTo>
                  <a:lnTo>
                    <a:pt x="42167" y="2437392"/>
                  </a:lnTo>
                  <a:lnTo>
                    <a:pt x="38793" y="2436721"/>
                  </a:lnTo>
                  <a:lnTo>
                    <a:pt x="35517" y="2435728"/>
                  </a:lnTo>
                  <a:lnTo>
                    <a:pt x="32339" y="2434411"/>
                  </a:lnTo>
                  <a:lnTo>
                    <a:pt x="29161" y="2433095"/>
                  </a:lnTo>
                  <a:lnTo>
                    <a:pt x="26142" y="2431481"/>
                  </a:lnTo>
                  <a:lnTo>
                    <a:pt x="23282" y="2429570"/>
                  </a:lnTo>
                  <a:lnTo>
                    <a:pt x="20422" y="2427659"/>
                  </a:lnTo>
                  <a:lnTo>
                    <a:pt x="17776" y="2425487"/>
                  </a:lnTo>
                  <a:lnTo>
                    <a:pt x="15343" y="2423055"/>
                  </a:lnTo>
                  <a:lnTo>
                    <a:pt x="12911" y="2420623"/>
                  </a:lnTo>
                  <a:lnTo>
                    <a:pt x="1006" y="2396232"/>
                  </a:lnTo>
                  <a:lnTo>
                    <a:pt x="335" y="2392858"/>
                  </a:lnTo>
                  <a:lnTo>
                    <a:pt x="0" y="2389452"/>
                  </a:lnTo>
                  <a:lnTo>
                    <a:pt x="0" y="2386012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M1</a:t>
            </a:r>
            <a:r>
              <a:rPr spc="30" dirty="0"/>
              <a:t> </a:t>
            </a:r>
            <a:r>
              <a:rPr dirty="0"/>
              <a:t>—</a:t>
            </a:r>
            <a:r>
              <a:rPr spc="35" dirty="0"/>
              <a:t> </a:t>
            </a:r>
            <a:r>
              <a:rPr dirty="0"/>
              <a:t>Model</a:t>
            </a:r>
            <a:r>
              <a:rPr spc="40" dirty="0"/>
              <a:t> </a:t>
            </a:r>
            <a:r>
              <a:rPr sz="2550" b="1" spc="-459" dirty="0">
                <a:latin typeface="Malgun Gothic"/>
                <a:cs typeface="Malgun Gothic"/>
              </a:rPr>
              <a:t>완성</a:t>
            </a:r>
            <a:r>
              <a:rPr sz="2550" b="1" spc="-240" dirty="0">
                <a:latin typeface="Malgun Gothic"/>
                <a:cs typeface="Malgun Gothic"/>
              </a:rPr>
              <a:t> </a:t>
            </a:r>
            <a:r>
              <a:rPr dirty="0"/>
              <a:t>+</a:t>
            </a:r>
            <a:r>
              <a:rPr spc="40" dirty="0"/>
              <a:t> </a:t>
            </a:r>
            <a:r>
              <a:rPr dirty="0"/>
              <a:t>Controller</a:t>
            </a:r>
            <a:r>
              <a:rPr spc="40" dirty="0"/>
              <a:t> </a:t>
            </a:r>
            <a:r>
              <a:rPr sz="2550" b="1" spc="-484" dirty="0">
                <a:latin typeface="Malgun Gothic"/>
                <a:cs typeface="Malgun Gothic"/>
              </a:rPr>
              <a:t>연결</a:t>
            </a:r>
            <a:endParaRPr sz="2550">
              <a:latin typeface="Malgun Gothic"/>
              <a:cs typeface="Malgun Gothic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6129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8" name="object 8"/>
          <p:cNvSpPr txBox="1"/>
          <p:nvPr/>
        </p:nvSpPr>
        <p:spPr>
          <a:xfrm>
            <a:off x="735012" y="1410173"/>
            <a:ext cx="812800" cy="2959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b="1" spc="-315" dirty="0">
                <a:solidFill>
                  <a:srgbClr val="1F618C"/>
                </a:solidFill>
                <a:latin typeface="Malgun Gothic"/>
                <a:cs typeface="Malgun Gothic"/>
              </a:rPr>
              <a:t>작업</a:t>
            </a:r>
            <a:r>
              <a:rPr sz="1750" b="1" spc="-185" dirty="0">
                <a:solidFill>
                  <a:srgbClr val="1F618C"/>
                </a:solidFill>
                <a:latin typeface="Malgun Gothic"/>
                <a:cs typeface="Malgun Gothic"/>
              </a:rPr>
              <a:t> </a:t>
            </a:r>
            <a:r>
              <a:rPr sz="1750" b="1" spc="-340" dirty="0">
                <a:solidFill>
                  <a:srgbClr val="1F618C"/>
                </a:solidFill>
                <a:latin typeface="Malgun Gothic"/>
                <a:cs typeface="Malgun Gothic"/>
              </a:rPr>
              <a:t>범위</a:t>
            </a:r>
            <a:endParaRPr sz="1750">
              <a:latin typeface="Malgun Gothic"/>
              <a:cs typeface="Malgun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5012" y="3467572"/>
            <a:ext cx="5507990" cy="271018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dirty="0">
                <a:solidFill>
                  <a:srgbClr val="1F618C"/>
                </a:solidFill>
                <a:latin typeface="Segoe UI Semibold"/>
                <a:cs typeface="Segoe UI Semibold"/>
              </a:rPr>
              <a:t>Milestone</a:t>
            </a:r>
            <a:r>
              <a:rPr sz="1550" spc="15" dirty="0">
                <a:solidFill>
                  <a:srgbClr val="1F618C"/>
                </a:solidFill>
                <a:latin typeface="Segoe UI Semibold"/>
                <a:cs typeface="Segoe UI Semibold"/>
              </a:rPr>
              <a:t> </a:t>
            </a:r>
            <a:r>
              <a:rPr sz="1550" dirty="0">
                <a:solidFill>
                  <a:srgbClr val="1F618C"/>
                </a:solidFill>
                <a:latin typeface="Segoe UI Semibold"/>
                <a:cs typeface="Segoe UI Semibold"/>
              </a:rPr>
              <a:t>1</a:t>
            </a:r>
            <a:r>
              <a:rPr sz="1550" spc="15" dirty="0">
                <a:solidFill>
                  <a:srgbClr val="1F618C"/>
                </a:solidFill>
                <a:latin typeface="Segoe UI Semibold"/>
                <a:cs typeface="Segoe UI Semibold"/>
              </a:rPr>
              <a:t> </a:t>
            </a:r>
            <a:r>
              <a:rPr sz="1750" b="1" spc="-315" dirty="0">
                <a:solidFill>
                  <a:srgbClr val="1F618C"/>
                </a:solidFill>
                <a:latin typeface="Malgun Gothic"/>
                <a:cs typeface="Malgun Gothic"/>
              </a:rPr>
              <a:t>검증</a:t>
            </a:r>
            <a:r>
              <a:rPr sz="1750" b="1" spc="-170" dirty="0">
                <a:solidFill>
                  <a:srgbClr val="1F618C"/>
                </a:solidFill>
                <a:latin typeface="Malgun Gothic"/>
                <a:cs typeface="Malgun Gothic"/>
              </a:rPr>
              <a:t> </a:t>
            </a:r>
            <a:r>
              <a:rPr sz="1750" b="1" spc="-350" dirty="0">
                <a:solidFill>
                  <a:srgbClr val="1F618C"/>
                </a:solidFill>
                <a:latin typeface="Malgun Gothic"/>
                <a:cs typeface="Malgun Gothic"/>
              </a:rPr>
              <a:t>항목</a:t>
            </a:r>
            <a:endParaRPr sz="1750">
              <a:latin typeface="Malgun Gothic"/>
              <a:cs typeface="Malgun Gothic"/>
            </a:endParaRPr>
          </a:p>
          <a:p>
            <a:pPr marL="179070" marR="2222500">
              <a:lnSpc>
                <a:spcPts val="1430"/>
              </a:lnSpc>
              <a:spcBef>
                <a:spcPts val="2330"/>
              </a:spcBef>
            </a:pP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검증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방법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: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INI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파일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직접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편집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(UI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없이</a:t>
            </a:r>
            <a:r>
              <a:rPr sz="1200" spc="-25" dirty="0">
                <a:solidFill>
                  <a:srgbClr val="1F2328"/>
                </a:solidFill>
                <a:latin typeface="Consolas"/>
                <a:cs typeface="Consolas"/>
              </a:rPr>
              <a:t>)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검증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대상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: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AKC</a:t>
            </a:r>
            <a:r>
              <a:rPr sz="1200" spc="-1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모델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단일</a:t>
            </a:r>
            <a:endParaRPr sz="1200">
              <a:latin typeface="Malgun Gothic"/>
              <a:cs typeface="Malgun Gothic"/>
            </a:endParaRPr>
          </a:p>
          <a:p>
            <a:pPr marL="179070">
              <a:lnSpc>
                <a:spcPts val="1395"/>
              </a:lnSpc>
              <a:spcBef>
                <a:spcPts val="1285"/>
              </a:spcBef>
            </a:pP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재현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대상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FAI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항목</a:t>
            </a:r>
            <a:r>
              <a:rPr sz="1200" spc="-25" dirty="0">
                <a:solidFill>
                  <a:srgbClr val="1F2328"/>
                </a:solidFill>
                <a:latin typeface="Consolas"/>
                <a:cs typeface="Consolas"/>
              </a:rPr>
              <a:t>:</a:t>
            </a:r>
            <a:endParaRPr sz="1200">
              <a:latin typeface="Consolas"/>
              <a:cs typeface="Consolas"/>
            </a:endParaRPr>
          </a:p>
          <a:p>
            <a:pPr marL="347980">
              <a:lnSpc>
                <a:spcPts val="1390"/>
              </a:lnSpc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FAI-146: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Hole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간</a:t>
            </a:r>
            <a:r>
              <a:rPr sz="1200" spc="23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거리</a:t>
            </a:r>
            <a:r>
              <a:rPr sz="1200" spc="229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(P5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POINT_DISTANCE)</a:t>
            </a:r>
            <a:endParaRPr sz="1200">
              <a:latin typeface="Consolas"/>
              <a:cs typeface="Consolas"/>
            </a:endParaRPr>
          </a:p>
          <a:p>
            <a:pPr marL="517525">
              <a:lnSpc>
                <a:spcPts val="1435"/>
              </a:lnSpc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→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INI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에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Rule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정의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후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동적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계산값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==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기존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Inspector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계산값</a:t>
            </a:r>
            <a:r>
              <a:rPr sz="1200" spc="229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확인</a:t>
            </a:r>
            <a:endParaRPr sz="1200">
              <a:latin typeface="Malgun Gothic"/>
              <a:cs typeface="Malgun Gothic"/>
            </a:endParaRPr>
          </a:p>
          <a:p>
            <a:pPr marL="347980">
              <a:lnSpc>
                <a:spcPts val="1435"/>
              </a:lnSpc>
              <a:spcBef>
                <a:spcPts val="1335"/>
              </a:spcBef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FAI-147: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Hole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원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지름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/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중심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(P5 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CIRCLE_8PT)</a:t>
            </a:r>
            <a:endParaRPr sz="1200">
              <a:latin typeface="Consolas"/>
              <a:cs typeface="Consolas"/>
            </a:endParaRPr>
          </a:p>
          <a:p>
            <a:pPr marL="517525">
              <a:lnSpc>
                <a:spcPts val="1390"/>
              </a:lnSpc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→</a:t>
            </a:r>
            <a:r>
              <a:rPr sz="1200" spc="-2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8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개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측정점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좌표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기반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원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지름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계산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결과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일치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확인</a:t>
            </a:r>
            <a:endParaRPr sz="1200">
              <a:latin typeface="Malgun Gothic"/>
              <a:cs typeface="Malgun Gothic"/>
            </a:endParaRPr>
          </a:p>
          <a:p>
            <a:pPr marL="517525">
              <a:lnSpc>
                <a:spcPts val="1395"/>
              </a:lnSpc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→</a:t>
            </a:r>
            <a:r>
              <a:rPr sz="1200" spc="-1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기존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FAI</a:t>
            </a:r>
            <a:r>
              <a:rPr sz="1200" spc="-1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Inspector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루틴과</a:t>
            </a:r>
            <a:r>
              <a:rPr sz="1200" spc="21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동일한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알고리즘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재사용</a:t>
            </a:r>
            <a:endParaRPr sz="1200">
              <a:latin typeface="Malgun Gothic"/>
              <a:cs typeface="Malgun Gothic"/>
            </a:endParaRPr>
          </a:p>
          <a:p>
            <a:pPr marL="179070">
              <a:lnSpc>
                <a:spcPct val="100000"/>
              </a:lnSpc>
              <a:spcBef>
                <a:spcPts val="1335"/>
              </a:spcBef>
            </a:pP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합격</a:t>
            </a:r>
            <a:r>
              <a:rPr sz="1200" spc="21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기준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: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동적</a:t>
            </a:r>
            <a:r>
              <a:rPr sz="1200" spc="21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계산값과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기존</a:t>
            </a:r>
            <a:r>
              <a:rPr sz="1200" spc="21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Inspector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값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오차</a:t>
            </a:r>
            <a:endParaRPr sz="12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2474" y="1190624"/>
            <a:ext cx="10696575" cy="19050"/>
          </a:xfrm>
          <a:custGeom>
            <a:avLst/>
            <a:gdLst/>
            <a:ahLst/>
            <a:cxnLst/>
            <a:rect l="l" t="t" r="r" b="b"/>
            <a:pathLst>
              <a:path w="10696575" h="19050">
                <a:moveTo>
                  <a:pt x="10696574" y="19049"/>
                </a:moveTo>
                <a:lnTo>
                  <a:pt x="0" y="19049"/>
                </a:lnTo>
                <a:lnTo>
                  <a:pt x="0" y="0"/>
                </a:lnTo>
                <a:lnTo>
                  <a:pt x="10696574" y="0"/>
                </a:lnTo>
                <a:lnTo>
                  <a:pt x="10696574" y="19049"/>
                </a:lnTo>
                <a:close/>
              </a:path>
            </a:pathLst>
          </a:custGeom>
          <a:solidFill>
            <a:srgbClr val="1A527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52474" y="1838324"/>
          <a:ext cx="6648450" cy="17684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8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7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17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영역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1A5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작업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1A5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-25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관련</a:t>
                      </a:r>
                      <a:r>
                        <a:rPr sz="1350" b="1" spc="-13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spc="-20" dirty="0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TODO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1A52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spc="-20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View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6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resource.h</a:t>
                      </a:r>
                      <a:r>
                        <a:rPr sz="1200" spc="1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ID</a:t>
                      </a:r>
                      <a:r>
                        <a:rPr sz="1200" spc="2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상수</a:t>
                      </a:r>
                      <a:r>
                        <a:rPr sz="1350" spc="-1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+</a:t>
                      </a:r>
                      <a:r>
                        <a:rPr sz="1200" spc="2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.rc</a:t>
                      </a:r>
                      <a:r>
                        <a:rPr sz="1200" spc="2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다이얼로그</a:t>
                      </a:r>
                      <a:r>
                        <a:rPr sz="1350" spc="-1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레이아웃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TODO</a:t>
                      </a:r>
                      <a:r>
                        <a:rPr sz="1200" spc="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—</a:t>
                      </a:r>
                      <a:r>
                        <a:rPr sz="1200" spc="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View</a:t>
                      </a:r>
                      <a:r>
                        <a:rPr sz="1200" spc="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다이얼로그</a:t>
                      </a:r>
                      <a:r>
                        <a:rPr sz="1350" spc="-14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리소스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spc="-20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View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76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OnInitDialog</a:t>
                      </a:r>
                      <a:r>
                        <a:rPr sz="1200" spc="2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컬럼</a:t>
                      </a:r>
                      <a:r>
                        <a:rPr sz="1350" spc="-12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설정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TODO</a:t>
                      </a:r>
                      <a:r>
                        <a:rPr sz="1200" spc="-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— View</a:t>
                      </a:r>
                      <a:r>
                        <a:rPr sz="1200" spc="-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Dlg.cpp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3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spc="-20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View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6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RefreshP5List</a:t>
                      </a:r>
                      <a:r>
                        <a:rPr sz="1200" spc="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/</a:t>
                      </a:r>
                      <a:r>
                        <a:rPr sz="1200" spc="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RefreshP7List</a:t>
                      </a:r>
                      <a:r>
                        <a:rPr sz="1200" spc="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구현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TODO</a:t>
                      </a:r>
                      <a:r>
                        <a:rPr sz="1200" spc="-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— View</a:t>
                      </a:r>
                      <a:r>
                        <a:rPr sz="1200" spc="-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Dlg.cpp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spc="-10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Controller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76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각</a:t>
                      </a:r>
                      <a:r>
                        <a:rPr sz="1350" spc="-12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spc="-3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TeachFai*Dlg</a:t>
                      </a:r>
                      <a:r>
                        <a:rPr sz="1350" spc="-3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에</a:t>
                      </a:r>
                      <a:r>
                        <a:rPr sz="1350" spc="-114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진입</a:t>
                      </a:r>
                      <a:r>
                        <a:rPr sz="1350" spc="-114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버튼</a:t>
                      </a:r>
                      <a:r>
                        <a:rPr sz="1350" spc="-12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+</a:t>
                      </a:r>
                      <a:r>
                        <a:rPr sz="1200" spc="3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DoModal</a:t>
                      </a:r>
                      <a:r>
                        <a:rPr sz="1200" spc="3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연결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TODO</a:t>
                      </a:r>
                      <a:r>
                        <a:rPr sz="1200" spc="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—</a:t>
                      </a:r>
                      <a:r>
                        <a:rPr sz="1200" spc="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Controller</a:t>
                      </a:r>
                      <a:r>
                        <a:rPr sz="1200" spc="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2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2/2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752474" y="4248149"/>
            <a:ext cx="10696575" cy="2447925"/>
            <a:chOff x="752474" y="4248149"/>
            <a:chExt cx="10696575" cy="2447925"/>
          </a:xfrm>
        </p:grpSpPr>
        <p:sp>
          <p:nvSpPr>
            <p:cNvPr id="5" name="object 5"/>
            <p:cNvSpPr/>
            <p:nvPr/>
          </p:nvSpPr>
          <p:spPr>
            <a:xfrm>
              <a:off x="757237" y="4252912"/>
              <a:ext cx="10687050" cy="2438400"/>
            </a:xfrm>
            <a:custGeom>
              <a:avLst/>
              <a:gdLst/>
              <a:ahLst/>
              <a:cxnLst/>
              <a:rect l="l" t="t" r="r" b="b"/>
              <a:pathLst>
                <a:path w="10687050" h="2438400">
                  <a:moveTo>
                    <a:pt x="10638100" y="2438399"/>
                  </a:moveTo>
                  <a:lnTo>
                    <a:pt x="48947" y="2438399"/>
                  </a:lnTo>
                  <a:lnTo>
                    <a:pt x="45540" y="2438064"/>
                  </a:lnTo>
                  <a:lnTo>
                    <a:pt x="10739" y="2417975"/>
                  </a:lnTo>
                  <a:lnTo>
                    <a:pt x="0" y="2389452"/>
                  </a:lnTo>
                  <a:lnTo>
                    <a:pt x="0" y="238601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2389452"/>
                  </a:lnTo>
                  <a:lnTo>
                    <a:pt x="10669272" y="2425487"/>
                  </a:lnTo>
                  <a:lnTo>
                    <a:pt x="10641507" y="2438064"/>
                  </a:lnTo>
                  <a:lnTo>
                    <a:pt x="10638100" y="2438399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57237" y="4252912"/>
              <a:ext cx="10687050" cy="2438400"/>
            </a:xfrm>
            <a:custGeom>
              <a:avLst/>
              <a:gdLst/>
              <a:ahLst/>
              <a:cxnLst/>
              <a:rect l="l" t="t" r="r" b="b"/>
              <a:pathLst>
                <a:path w="10687050" h="2438400">
                  <a:moveTo>
                    <a:pt x="0" y="238601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1"/>
                  </a:lnTo>
                  <a:lnTo>
                    <a:pt x="10680129" y="26141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2386012"/>
                  </a:lnTo>
                  <a:lnTo>
                    <a:pt x="10687049" y="2389452"/>
                  </a:lnTo>
                  <a:lnTo>
                    <a:pt x="10686713" y="2392858"/>
                  </a:lnTo>
                  <a:lnTo>
                    <a:pt x="10666625" y="2427658"/>
                  </a:lnTo>
                  <a:lnTo>
                    <a:pt x="10638100" y="2438399"/>
                  </a:lnTo>
                  <a:lnTo>
                    <a:pt x="10634661" y="2438399"/>
                  </a:lnTo>
                  <a:lnTo>
                    <a:pt x="52387" y="2438399"/>
                  </a:lnTo>
                  <a:lnTo>
                    <a:pt x="48947" y="2438399"/>
                  </a:lnTo>
                  <a:lnTo>
                    <a:pt x="45540" y="2438064"/>
                  </a:lnTo>
                  <a:lnTo>
                    <a:pt x="10739" y="2417975"/>
                  </a:lnTo>
                  <a:lnTo>
                    <a:pt x="3987" y="2406058"/>
                  </a:lnTo>
                  <a:lnTo>
                    <a:pt x="2671" y="2402881"/>
                  </a:lnTo>
                  <a:lnTo>
                    <a:pt x="1677" y="2399605"/>
                  </a:lnTo>
                  <a:lnTo>
                    <a:pt x="1006" y="2396232"/>
                  </a:lnTo>
                  <a:lnTo>
                    <a:pt x="335" y="2392858"/>
                  </a:lnTo>
                  <a:lnTo>
                    <a:pt x="0" y="2389452"/>
                  </a:lnTo>
                  <a:lnTo>
                    <a:pt x="0" y="2386012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M2</a:t>
            </a:r>
            <a:r>
              <a:rPr spc="25" dirty="0"/>
              <a:t> </a:t>
            </a:r>
            <a:r>
              <a:rPr dirty="0"/>
              <a:t>—</a:t>
            </a:r>
            <a:r>
              <a:rPr spc="20" dirty="0"/>
              <a:t> </a:t>
            </a:r>
            <a:r>
              <a:rPr dirty="0"/>
              <a:t>View</a:t>
            </a:r>
            <a:r>
              <a:rPr spc="25" dirty="0"/>
              <a:t> </a:t>
            </a:r>
            <a:r>
              <a:rPr sz="2550" b="1" spc="-459" dirty="0">
                <a:latin typeface="Malgun Gothic"/>
                <a:cs typeface="Malgun Gothic"/>
              </a:rPr>
              <a:t>기초</a:t>
            </a:r>
            <a:r>
              <a:rPr sz="2550" b="1" spc="-254" dirty="0">
                <a:latin typeface="Malgun Gothic"/>
                <a:cs typeface="Malgun Gothic"/>
              </a:rPr>
              <a:t> </a:t>
            </a:r>
            <a:r>
              <a:rPr dirty="0"/>
              <a:t>+</a:t>
            </a:r>
            <a:r>
              <a:rPr spc="25" dirty="0"/>
              <a:t> </a:t>
            </a:r>
            <a:r>
              <a:rPr sz="2550" b="1" spc="-459" dirty="0">
                <a:latin typeface="Malgun Gothic"/>
                <a:cs typeface="Malgun Gothic"/>
              </a:rPr>
              <a:t>진입</a:t>
            </a:r>
            <a:r>
              <a:rPr sz="2550" b="1" spc="-250" dirty="0">
                <a:latin typeface="Malgun Gothic"/>
                <a:cs typeface="Malgun Gothic"/>
              </a:rPr>
              <a:t> </a:t>
            </a:r>
            <a:r>
              <a:rPr sz="2550" b="1" spc="-459" dirty="0">
                <a:latin typeface="Malgun Gothic"/>
                <a:cs typeface="Malgun Gothic"/>
              </a:rPr>
              <a:t>버튼</a:t>
            </a:r>
            <a:r>
              <a:rPr sz="2550" b="1" spc="-254" dirty="0">
                <a:latin typeface="Malgun Gothic"/>
                <a:cs typeface="Malgun Gothic"/>
              </a:rPr>
              <a:t> </a:t>
            </a:r>
            <a:r>
              <a:rPr sz="2550" b="1" spc="-484" dirty="0">
                <a:latin typeface="Malgun Gothic"/>
                <a:cs typeface="Malgun Gothic"/>
              </a:rPr>
              <a:t>연결</a:t>
            </a:r>
            <a:endParaRPr sz="2550">
              <a:latin typeface="Malgun Gothic"/>
              <a:cs typeface="Malgun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5012" y="1410173"/>
            <a:ext cx="812800" cy="2959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b="1" spc="-315" dirty="0">
                <a:solidFill>
                  <a:srgbClr val="1F618C"/>
                </a:solidFill>
                <a:latin typeface="Malgun Gothic"/>
                <a:cs typeface="Malgun Gothic"/>
              </a:rPr>
              <a:t>작업</a:t>
            </a:r>
            <a:r>
              <a:rPr sz="1750" b="1" spc="-185" dirty="0">
                <a:solidFill>
                  <a:srgbClr val="1F618C"/>
                </a:solidFill>
                <a:latin typeface="Malgun Gothic"/>
                <a:cs typeface="Malgun Gothic"/>
              </a:rPr>
              <a:t> </a:t>
            </a:r>
            <a:r>
              <a:rPr sz="1750" b="1" spc="-340" dirty="0">
                <a:solidFill>
                  <a:srgbClr val="1F618C"/>
                </a:solidFill>
                <a:latin typeface="Malgun Gothic"/>
                <a:cs typeface="Malgun Gothic"/>
              </a:rPr>
              <a:t>범위</a:t>
            </a:r>
            <a:endParaRPr sz="1750">
              <a:latin typeface="Malgun Gothic"/>
              <a:cs typeface="Malgun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5012" y="3819997"/>
            <a:ext cx="5659120" cy="16529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dirty="0">
                <a:solidFill>
                  <a:srgbClr val="1F618C"/>
                </a:solidFill>
                <a:latin typeface="Segoe UI Semibold"/>
                <a:cs typeface="Segoe UI Semibold"/>
              </a:rPr>
              <a:t>Milestone</a:t>
            </a:r>
            <a:r>
              <a:rPr sz="1550" spc="15" dirty="0">
                <a:solidFill>
                  <a:srgbClr val="1F618C"/>
                </a:solidFill>
                <a:latin typeface="Segoe UI Semibold"/>
                <a:cs typeface="Segoe UI Semibold"/>
              </a:rPr>
              <a:t> </a:t>
            </a:r>
            <a:r>
              <a:rPr sz="1550" dirty="0">
                <a:solidFill>
                  <a:srgbClr val="1F618C"/>
                </a:solidFill>
                <a:latin typeface="Segoe UI Semibold"/>
                <a:cs typeface="Segoe UI Semibold"/>
              </a:rPr>
              <a:t>2</a:t>
            </a:r>
            <a:r>
              <a:rPr sz="1550" spc="15" dirty="0">
                <a:solidFill>
                  <a:srgbClr val="1F618C"/>
                </a:solidFill>
                <a:latin typeface="Segoe UI Semibold"/>
                <a:cs typeface="Segoe UI Semibold"/>
              </a:rPr>
              <a:t> </a:t>
            </a:r>
            <a:r>
              <a:rPr sz="1750" b="1" spc="-315" dirty="0">
                <a:solidFill>
                  <a:srgbClr val="1F618C"/>
                </a:solidFill>
                <a:latin typeface="Malgun Gothic"/>
                <a:cs typeface="Malgun Gothic"/>
              </a:rPr>
              <a:t>검증</a:t>
            </a:r>
            <a:r>
              <a:rPr sz="1750" b="1" spc="-170" dirty="0">
                <a:solidFill>
                  <a:srgbClr val="1F618C"/>
                </a:solidFill>
                <a:latin typeface="Malgun Gothic"/>
                <a:cs typeface="Malgun Gothic"/>
              </a:rPr>
              <a:t> </a:t>
            </a:r>
            <a:r>
              <a:rPr sz="1750" b="1" spc="-350" dirty="0">
                <a:solidFill>
                  <a:srgbClr val="1F618C"/>
                </a:solidFill>
                <a:latin typeface="Malgun Gothic"/>
                <a:cs typeface="Malgun Gothic"/>
              </a:rPr>
              <a:t>항목</a:t>
            </a:r>
            <a:endParaRPr sz="1750">
              <a:latin typeface="Malgun Gothic"/>
              <a:cs typeface="Malgun Gothic"/>
            </a:endParaRPr>
          </a:p>
          <a:p>
            <a:pPr marL="179070" marR="5080">
              <a:lnSpc>
                <a:spcPts val="1430"/>
              </a:lnSpc>
              <a:spcBef>
                <a:spcPts val="2330"/>
              </a:spcBef>
            </a:pP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검증</a:t>
            </a:r>
            <a:r>
              <a:rPr sz="1200" spc="21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방법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: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TeachFaiDlg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에서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버튼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클릭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→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CTeachFaiDynamicRuleDlg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오픈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검증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대상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: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BOI,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AKC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모델</a:t>
            </a:r>
            <a:endParaRPr sz="1200">
              <a:latin typeface="Malgun Gothic"/>
              <a:cs typeface="Malgun Gothic"/>
            </a:endParaRPr>
          </a:p>
          <a:p>
            <a:pPr marL="179070">
              <a:lnSpc>
                <a:spcPts val="1290"/>
              </a:lnSpc>
            </a:pP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재현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대상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FAI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항목</a:t>
            </a:r>
            <a:r>
              <a:rPr sz="1200" spc="-25" dirty="0">
                <a:solidFill>
                  <a:srgbClr val="1F2328"/>
                </a:solidFill>
                <a:latin typeface="Consolas"/>
                <a:cs typeface="Consolas"/>
              </a:rPr>
              <a:t>:</a:t>
            </a:r>
            <a:endParaRPr sz="1200">
              <a:latin typeface="Consolas"/>
              <a:cs typeface="Consolas"/>
            </a:endParaRPr>
          </a:p>
          <a:p>
            <a:pPr marL="347980">
              <a:lnSpc>
                <a:spcPts val="1390"/>
              </a:lnSpc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BOI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—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FAI-38: </a:t>
            </a:r>
            <a:r>
              <a:rPr sz="1200" spc="-20" dirty="0">
                <a:solidFill>
                  <a:srgbClr val="1F2328"/>
                </a:solidFill>
                <a:latin typeface="Malgun Gothic"/>
                <a:cs typeface="Malgun Gothic"/>
              </a:rPr>
              <a:t>기준선</a:t>
            </a:r>
            <a:r>
              <a:rPr sz="1200" spc="-20" dirty="0">
                <a:solidFill>
                  <a:srgbClr val="1F2328"/>
                </a:solidFill>
                <a:latin typeface="Consolas"/>
                <a:cs typeface="Consolas"/>
              </a:rPr>
              <a:t>-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피처선</a:t>
            </a:r>
            <a:r>
              <a:rPr sz="1200" spc="23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각도</a:t>
            </a:r>
            <a:r>
              <a:rPr sz="1200" spc="23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20" dirty="0">
                <a:solidFill>
                  <a:srgbClr val="1F2328"/>
                </a:solidFill>
                <a:latin typeface="Consolas"/>
                <a:cs typeface="Consolas"/>
              </a:rPr>
              <a:t>(P7)</a:t>
            </a:r>
            <a:endParaRPr sz="1200">
              <a:latin typeface="Consolas"/>
              <a:cs typeface="Consolas"/>
            </a:endParaRPr>
          </a:p>
          <a:p>
            <a:pPr marL="517525">
              <a:lnSpc>
                <a:spcPts val="1390"/>
              </a:lnSpc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→</a:t>
            </a:r>
            <a:r>
              <a:rPr sz="1200" spc="-2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UI</a:t>
            </a:r>
            <a:r>
              <a:rPr sz="1200" spc="-2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다이얼로그에서</a:t>
            </a:r>
            <a:r>
              <a:rPr sz="1200" spc="21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규칙</a:t>
            </a:r>
            <a:r>
              <a:rPr sz="1200" spc="21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확인</a:t>
            </a:r>
            <a:r>
              <a:rPr sz="1200" spc="21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가능</a:t>
            </a:r>
            <a:r>
              <a:rPr sz="1200" spc="21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(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리스트에</a:t>
            </a:r>
            <a:r>
              <a:rPr sz="1200" spc="21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표시</a:t>
            </a:r>
            <a:r>
              <a:rPr sz="1200" spc="-25" dirty="0">
                <a:solidFill>
                  <a:srgbClr val="1F2328"/>
                </a:solidFill>
                <a:latin typeface="Consolas"/>
                <a:cs typeface="Consolas"/>
              </a:rPr>
              <a:t>)</a:t>
            </a:r>
            <a:endParaRPr sz="1200">
              <a:latin typeface="Consolas"/>
              <a:cs typeface="Consolas"/>
            </a:endParaRPr>
          </a:p>
          <a:p>
            <a:pPr marL="517525">
              <a:lnSpc>
                <a:spcPts val="1435"/>
              </a:lnSpc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→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INI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저장</a:t>
            </a:r>
            <a:r>
              <a:rPr sz="1200" spc="229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후</a:t>
            </a:r>
            <a:r>
              <a:rPr sz="1200" spc="229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검사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실행</a:t>
            </a:r>
            <a:r>
              <a:rPr sz="1200" spc="229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→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기존</a:t>
            </a:r>
            <a:r>
              <a:rPr sz="1200" spc="229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Inspector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값과</a:t>
            </a:r>
            <a:r>
              <a:rPr sz="1200" spc="229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일치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1700" y="5615146"/>
            <a:ext cx="4073525" cy="9150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81610">
              <a:lnSpc>
                <a:spcPts val="1430"/>
              </a:lnSpc>
              <a:spcBef>
                <a:spcPts val="110"/>
              </a:spcBef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AKC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—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FAI-146,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148: </a:t>
            </a:r>
            <a:r>
              <a:rPr sz="1200" spc="-10" dirty="0">
                <a:solidFill>
                  <a:srgbClr val="1F2328"/>
                </a:solidFill>
                <a:latin typeface="Malgun Gothic"/>
                <a:cs typeface="Malgun Gothic"/>
              </a:rPr>
              <a:t>점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-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점</a:t>
            </a:r>
            <a:r>
              <a:rPr sz="1200" spc="23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거리</a:t>
            </a:r>
            <a:r>
              <a:rPr sz="1200" spc="23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20" dirty="0">
                <a:solidFill>
                  <a:srgbClr val="1F2328"/>
                </a:solidFill>
                <a:latin typeface="Consolas"/>
                <a:cs typeface="Consolas"/>
              </a:rPr>
              <a:t>(P5)</a:t>
            </a:r>
            <a:endParaRPr sz="1200">
              <a:latin typeface="Consolas"/>
              <a:cs typeface="Consolas"/>
            </a:endParaRPr>
          </a:p>
          <a:p>
            <a:pPr marL="12700" marR="1359535" indent="337820">
              <a:lnSpc>
                <a:spcPts val="1350"/>
              </a:lnSpc>
              <a:spcBef>
                <a:spcPts val="110"/>
              </a:spcBef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→</a:t>
            </a:r>
            <a:r>
              <a:rPr sz="1200" spc="-2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UI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에서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규칙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리스트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조회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가능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합격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기준</a:t>
            </a:r>
            <a:r>
              <a:rPr sz="1200" spc="-25" dirty="0">
                <a:solidFill>
                  <a:srgbClr val="1F2328"/>
                </a:solidFill>
                <a:latin typeface="Consolas"/>
                <a:cs typeface="Consolas"/>
              </a:rPr>
              <a:t>:</a:t>
            </a:r>
            <a:endParaRPr sz="1200">
              <a:latin typeface="Consolas"/>
              <a:cs typeface="Consolas"/>
            </a:endParaRPr>
          </a:p>
          <a:p>
            <a:pPr marL="350520" indent="-168910">
              <a:lnSpc>
                <a:spcPts val="1350"/>
              </a:lnSpc>
              <a:buFont typeface="Consolas"/>
              <a:buChar char="-"/>
              <a:tabLst>
                <a:tab pos="350520" algn="l"/>
              </a:tabLst>
            </a:pP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다이얼로그가</a:t>
            </a:r>
            <a:r>
              <a:rPr sz="1200" spc="20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열리고</a:t>
            </a:r>
            <a:r>
              <a:rPr sz="1200" spc="20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기존</a:t>
            </a:r>
            <a:r>
              <a:rPr sz="1200" spc="20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규칙</a:t>
            </a:r>
            <a:r>
              <a:rPr sz="1200" spc="20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리스트를</a:t>
            </a:r>
            <a:r>
              <a:rPr sz="1200" spc="20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표시할</a:t>
            </a:r>
            <a:r>
              <a:rPr sz="1200" spc="20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50" dirty="0">
                <a:solidFill>
                  <a:srgbClr val="1F2328"/>
                </a:solidFill>
                <a:latin typeface="Malgun Gothic"/>
                <a:cs typeface="Malgun Gothic"/>
              </a:rPr>
              <a:t>것</a:t>
            </a:r>
            <a:endParaRPr sz="1200">
              <a:latin typeface="Malgun Gothic"/>
              <a:cs typeface="Malgun Gothic"/>
            </a:endParaRPr>
          </a:p>
          <a:p>
            <a:pPr marL="350520" indent="-168910">
              <a:lnSpc>
                <a:spcPts val="1395"/>
              </a:lnSpc>
              <a:buChar char="-"/>
              <a:tabLst>
                <a:tab pos="350520" algn="l"/>
              </a:tabLst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INI</a:t>
            </a:r>
            <a:r>
              <a:rPr sz="1200" spc="-2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저장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→</a:t>
            </a:r>
            <a:r>
              <a:rPr sz="1200" spc="-1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재검사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결과값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오차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770319" y="6340474"/>
            <a:ext cx="149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777777"/>
                </a:solidFill>
                <a:latin typeface="Segoe UI"/>
                <a:cs typeface="Segoe UI"/>
              </a:rPr>
              <a:t>8</a:t>
            </a:r>
            <a:endParaRPr sz="1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2474" y="1190624"/>
            <a:ext cx="10696575" cy="19050"/>
          </a:xfrm>
          <a:custGeom>
            <a:avLst/>
            <a:gdLst/>
            <a:ahLst/>
            <a:cxnLst/>
            <a:rect l="l" t="t" r="r" b="b"/>
            <a:pathLst>
              <a:path w="10696575" h="19050">
                <a:moveTo>
                  <a:pt x="10696574" y="19049"/>
                </a:moveTo>
                <a:lnTo>
                  <a:pt x="0" y="19049"/>
                </a:lnTo>
                <a:lnTo>
                  <a:pt x="0" y="0"/>
                </a:lnTo>
                <a:lnTo>
                  <a:pt x="10696574" y="0"/>
                </a:lnTo>
                <a:lnTo>
                  <a:pt x="10696574" y="19049"/>
                </a:lnTo>
                <a:close/>
              </a:path>
            </a:pathLst>
          </a:custGeom>
          <a:solidFill>
            <a:srgbClr val="1A527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52474" y="1838324"/>
          <a:ext cx="5629275" cy="17684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1790"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영역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1A5275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작업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1A5275"/>
                    </a:solidFill>
                  </a:tcPr>
                </a:tc>
                <a:tc>
                  <a:txBody>
                    <a:bodyPr/>
                    <a:lstStyle/>
                    <a:p>
                      <a:pPr marL="52895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-25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관련</a:t>
                      </a:r>
                      <a:r>
                        <a:rPr sz="1350" b="1" spc="-13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spc="-20" dirty="0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TODO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1A52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spc="-20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View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OnBnClickedBtnAddP5/P7</a:t>
                      </a:r>
                      <a:r>
                        <a:rPr sz="1200" spc="3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완전</a:t>
                      </a:r>
                      <a:r>
                        <a:rPr sz="1350" spc="-10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구현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TODO</a:t>
                      </a:r>
                      <a:r>
                        <a:rPr sz="1200" spc="-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— View</a:t>
                      </a:r>
                      <a:r>
                        <a:rPr sz="1200" spc="-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핸들러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spc="-20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View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OnBnClickedBtnDelP5/P7</a:t>
                      </a:r>
                      <a:r>
                        <a:rPr sz="1200" spc="4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완전</a:t>
                      </a:r>
                      <a:r>
                        <a:rPr sz="1350" spc="-9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구현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TODO</a:t>
                      </a:r>
                      <a:r>
                        <a:rPr sz="1200" spc="-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— View</a:t>
                      </a:r>
                      <a:r>
                        <a:rPr sz="1200" spc="-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핸들러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3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spc="-20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View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PosName() —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포지션</a:t>
                      </a:r>
                      <a:r>
                        <a:rPr sz="1350" spc="-14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표시명</a:t>
                      </a:r>
                      <a:r>
                        <a:rPr sz="1350" spc="-14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연결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TODO</a:t>
                      </a:r>
                      <a:r>
                        <a:rPr sz="1200" spc="-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— View</a:t>
                      </a:r>
                      <a:r>
                        <a:rPr sz="1200" spc="-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Dlg.cpp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통합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전</a:t>
                      </a:r>
                      <a:r>
                        <a:rPr sz="1350" spc="-9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3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모델</a:t>
                      </a:r>
                      <a:r>
                        <a:rPr sz="1200" spc="-3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(BOI/AKC/ACT/ATW/BOS)</a:t>
                      </a:r>
                      <a:r>
                        <a:rPr sz="1200" spc="5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회귀</a:t>
                      </a:r>
                      <a:r>
                        <a:rPr sz="1350" spc="-9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테스트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spc="-5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—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752474" y="4248149"/>
            <a:ext cx="10696575" cy="2457450"/>
            <a:chOff x="752474" y="4248149"/>
            <a:chExt cx="10696575" cy="2457450"/>
          </a:xfrm>
        </p:grpSpPr>
        <p:sp>
          <p:nvSpPr>
            <p:cNvPr id="5" name="object 5"/>
            <p:cNvSpPr/>
            <p:nvPr/>
          </p:nvSpPr>
          <p:spPr>
            <a:xfrm>
              <a:off x="757237" y="4252912"/>
              <a:ext cx="10687050" cy="2447925"/>
            </a:xfrm>
            <a:custGeom>
              <a:avLst/>
              <a:gdLst/>
              <a:ahLst/>
              <a:cxnLst/>
              <a:rect l="l" t="t" r="r" b="b"/>
              <a:pathLst>
                <a:path w="10687050" h="2447925">
                  <a:moveTo>
                    <a:pt x="10638100" y="2447924"/>
                  </a:moveTo>
                  <a:lnTo>
                    <a:pt x="48947" y="2447924"/>
                  </a:lnTo>
                  <a:lnTo>
                    <a:pt x="45540" y="2447589"/>
                  </a:lnTo>
                  <a:lnTo>
                    <a:pt x="10739" y="2427501"/>
                  </a:lnTo>
                  <a:lnTo>
                    <a:pt x="0" y="2398977"/>
                  </a:lnTo>
                  <a:lnTo>
                    <a:pt x="0" y="239553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2398977"/>
                  </a:lnTo>
                  <a:lnTo>
                    <a:pt x="10669272" y="2435012"/>
                  </a:lnTo>
                  <a:lnTo>
                    <a:pt x="10641507" y="2447589"/>
                  </a:lnTo>
                  <a:lnTo>
                    <a:pt x="10638100" y="2447924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57237" y="4252912"/>
              <a:ext cx="10687050" cy="2447925"/>
            </a:xfrm>
            <a:custGeom>
              <a:avLst/>
              <a:gdLst/>
              <a:ahLst/>
              <a:cxnLst/>
              <a:rect l="l" t="t" r="r" b="b"/>
              <a:pathLst>
                <a:path w="10687050" h="2447925">
                  <a:moveTo>
                    <a:pt x="0" y="239553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1"/>
                  </a:lnTo>
                  <a:lnTo>
                    <a:pt x="10680129" y="26141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2395537"/>
                  </a:lnTo>
                  <a:lnTo>
                    <a:pt x="10687049" y="2398977"/>
                  </a:lnTo>
                  <a:lnTo>
                    <a:pt x="10686713" y="2402383"/>
                  </a:lnTo>
                  <a:lnTo>
                    <a:pt x="10666625" y="2437184"/>
                  </a:lnTo>
                  <a:lnTo>
                    <a:pt x="10638100" y="2447924"/>
                  </a:lnTo>
                  <a:lnTo>
                    <a:pt x="10634661" y="2447924"/>
                  </a:lnTo>
                  <a:lnTo>
                    <a:pt x="52387" y="2447924"/>
                  </a:lnTo>
                  <a:lnTo>
                    <a:pt x="48947" y="2447924"/>
                  </a:lnTo>
                  <a:lnTo>
                    <a:pt x="45540" y="2447589"/>
                  </a:lnTo>
                  <a:lnTo>
                    <a:pt x="23282" y="2439095"/>
                  </a:lnTo>
                  <a:lnTo>
                    <a:pt x="20422" y="2437184"/>
                  </a:lnTo>
                  <a:lnTo>
                    <a:pt x="8828" y="2424641"/>
                  </a:lnTo>
                  <a:lnTo>
                    <a:pt x="6917" y="2421781"/>
                  </a:lnTo>
                  <a:lnTo>
                    <a:pt x="1006" y="2405757"/>
                  </a:lnTo>
                  <a:lnTo>
                    <a:pt x="335" y="2402383"/>
                  </a:lnTo>
                  <a:lnTo>
                    <a:pt x="0" y="2398977"/>
                  </a:lnTo>
                  <a:lnTo>
                    <a:pt x="0" y="2395537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28924" y="6181724"/>
              <a:ext cx="152400" cy="152400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M3</a:t>
            </a:r>
            <a:r>
              <a:rPr spc="25" dirty="0"/>
              <a:t> </a:t>
            </a:r>
            <a:r>
              <a:rPr dirty="0"/>
              <a:t>—</a:t>
            </a:r>
            <a:r>
              <a:rPr spc="20" dirty="0"/>
              <a:t> </a:t>
            </a:r>
            <a:r>
              <a:rPr dirty="0"/>
              <a:t>View</a:t>
            </a:r>
            <a:r>
              <a:rPr spc="25" dirty="0"/>
              <a:t> </a:t>
            </a:r>
            <a:r>
              <a:rPr sz="2550" b="1" spc="-459" dirty="0">
                <a:latin typeface="Malgun Gothic"/>
                <a:cs typeface="Malgun Gothic"/>
              </a:rPr>
              <a:t>완성</a:t>
            </a:r>
            <a:r>
              <a:rPr sz="2550" b="1" spc="-254" dirty="0">
                <a:latin typeface="Malgun Gothic"/>
                <a:cs typeface="Malgun Gothic"/>
              </a:rPr>
              <a:t> </a:t>
            </a:r>
            <a:r>
              <a:rPr dirty="0"/>
              <a:t>+</a:t>
            </a:r>
            <a:r>
              <a:rPr spc="25" dirty="0"/>
              <a:t> </a:t>
            </a:r>
            <a:r>
              <a:rPr sz="2550" b="1" spc="-459" dirty="0">
                <a:latin typeface="Malgun Gothic"/>
                <a:cs typeface="Malgun Gothic"/>
              </a:rPr>
              <a:t>전체</a:t>
            </a:r>
            <a:r>
              <a:rPr sz="2550" b="1" spc="-250" dirty="0">
                <a:latin typeface="Malgun Gothic"/>
                <a:cs typeface="Malgun Gothic"/>
              </a:rPr>
              <a:t> </a:t>
            </a:r>
            <a:r>
              <a:rPr sz="2550" b="1" spc="-459" dirty="0">
                <a:latin typeface="Malgun Gothic"/>
                <a:cs typeface="Malgun Gothic"/>
              </a:rPr>
              <a:t>통합</a:t>
            </a:r>
            <a:r>
              <a:rPr sz="2550" b="1" spc="-254" dirty="0">
                <a:latin typeface="Malgun Gothic"/>
                <a:cs typeface="Malgun Gothic"/>
              </a:rPr>
              <a:t> </a:t>
            </a:r>
            <a:r>
              <a:rPr sz="2550" b="1" spc="-484" dirty="0">
                <a:latin typeface="Malgun Gothic"/>
                <a:cs typeface="Malgun Gothic"/>
              </a:rPr>
              <a:t>테스트</a:t>
            </a:r>
            <a:endParaRPr sz="2550">
              <a:latin typeface="Malgun Gothic"/>
              <a:cs typeface="Malgun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5012" y="1410173"/>
            <a:ext cx="812800" cy="2959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b="1" spc="-315" dirty="0">
                <a:solidFill>
                  <a:srgbClr val="1F618C"/>
                </a:solidFill>
                <a:latin typeface="Malgun Gothic"/>
                <a:cs typeface="Malgun Gothic"/>
              </a:rPr>
              <a:t>작업</a:t>
            </a:r>
            <a:r>
              <a:rPr sz="1750" b="1" spc="-185" dirty="0">
                <a:solidFill>
                  <a:srgbClr val="1F618C"/>
                </a:solidFill>
                <a:latin typeface="Malgun Gothic"/>
                <a:cs typeface="Malgun Gothic"/>
              </a:rPr>
              <a:t> </a:t>
            </a:r>
            <a:r>
              <a:rPr sz="1750" b="1" spc="-340" dirty="0">
                <a:solidFill>
                  <a:srgbClr val="1F618C"/>
                </a:solidFill>
                <a:latin typeface="Malgun Gothic"/>
                <a:cs typeface="Malgun Gothic"/>
              </a:rPr>
              <a:t>범위</a:t>
            </a:r>
            <a:endParaRPr sz="1750">
              <a:latin typeface="Malgun Gothic"/>
              <a:cs typeface="Malgun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5012" y="3819997"/>
            <a:ext cx="5268595" cy="25387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dirty="0">
                <a:solidFill>
                  <a:srgbClr val="1F618C"/>
                </a:solidFill>
                <a:latin typeface="Segoe UI Semibold"/>
                <a:cs typeface="Segoe UI Semibold"/>
              </a:rPr>
              <a:t>Milestone</a:t>
            </a:r>
            <a:r>
              <a:rPr sz="1550" spc="15" dirty="0">
                <a:solidFill>
                  <a:srgbClr val="1F618C"/>
                </a:solidFill>
                <a:latin typeface="Segoe UI Semibold"/>
                <a:cs typeface="Segoe UI Semibold"/>
              </a:rPr>
              <a:t> </a:t>
            </a:r>
            <a:r>
              <a:rPr sz="1550" dirty="0">
                <a:solidFill>
                  <a:srgbClr val="1F618C"/>
                </a:solidFill>
                <a:latin typeface="Segoe UI Semibold"/>
                <a:cs typeface="Segoe UI Semibold"/>
              </a:rPr>
              <a:t>3</a:t>
            </a:r>
            <a:r>
              <a:rPr sz="1550" spc="15" dirty="0">
                <a:solidFill>
                  <a:srgbClr val="1F618C"/>
                </a:solidFill>
                <a:latin typeface="Segoe UI Semibold"/>
                <a:cs typeface="Segoe UI Semibold"/>
              </a:rPr>
              <a:t> </a:t>
            </a:r>
            <a:r>
              <a:rPr sz="1750" b="1" spc="-315" dirty="0">
                <a:solidFill>
                  <a:srgbClr val="1F618C"/>
                </a:solidFill>
                <a:latin typeface="Malgun Gothic"/>
                <a:cs typeface="Malgun Gothic"/>
              </a:rPr>
              <a:t>검증</a:t>
            </a:r>
            <a:r>
              <a:rPr sz="1750" b="1" spc="-170" dirty="0">
                <a:solidFill>
                  <a:srgbClr val="1F618C"/>
                </a:solidFill>
                <a:latin typeface="Malgun Gothic"/>
                <a:cs typeface="Malgun Gothic"/>
              </a:rPr>
              <a:t> </a:t>
            </a:r>
            <a:r>
              <a:rPr sz="1750" b="1" spc="-350" dirty="0">
                <a:solidFill>
                  <a:srgbClr val="1F618C"/>
                </a:solidFill>
                <a:latin typeface="Malgun Gothic"/>
                <a:cs typeface="Malgun Gothic"/>
              </a:rPr>
              <a:t>항목</a:t>
            </a:r>
            <a:endParaRPr sz="1750">
              <a:latin typeface="Malgun Gothic"/>
              <a:cs typeface="Malgun Gothic"/>
            </a:endParaRPr>
          </a:p>
          <a:p>
            <a:pPr marL="179070" marR="356870">
              <a:lnSpc>
                <a:spcPct val="96400"/>
              </a:lnSpc>
              <a:spcBef>
                <a:spcPts val="2325"/>
              </a:spcBef>
            </a:pP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검증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방법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: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UI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에서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규칙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추가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→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저장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→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검사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실행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→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기존값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비교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검증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대상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: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전</a:t>
            </a:r>
            <a:r>
              <a:rPr sz="1200" spc="229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지원</a:t>
            </a:r>
            <a:r>
              <a:rPr sz="1200" spc="229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모델</a:t>
            </a:r>
            <a:r>
              <a:rPr sz="1200" spc="229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5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종</a:t>
            </a:r>
            <a:r>
              <a:rPr sz="1200" spc="229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(BOI / AKC / ACT / ATW / </a:t>
            </a:r>
            <a:r>
              <a:rPr sz="1200" spc="-20" dirty="0">
                <a:solidFill>
                  <a:srgbClr val="1F2328"/>
                </a:solidFill>
                <a:latin typeface="Consolas"/>
                <a:cs typeface="Consolas"/>
              </a:rPr>
              <a:t>BOS)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재현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대상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FAI</a:t>
            </a:r>
            <a:r>
              <a:rPr sz="1200" spc="-1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항목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(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모델별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20" dirty="0">
                <a:solidFill>
                  <a:srgbClr val="1F2328"/>
                </a:solidFill>
                <a:latin typeface="Malgun Gothic"/>
                <a:cs typeface="Malgun Gothic"/>
              </a:rPr>
              <a:t>대표</a:t>
            </a:r>
            <a:r>
              <a:rPr sz="1200" spc="-20" dirty="0">
                <a:solidFill>
                  <a:srgbClr val="1F2328"/>
                </a:solidFill>
                <a:latin typeface="Consolas"/>
                <a:cs typeface="Consolas"/>
              </a:rPr>
              <a:t>):</a:t>
            </a:r>
            <a:endParaRPr sz="1200">
              <a:latin typeface="Consolas"/>
              <a:cs typeface="Consolas"/>
            </a:endParaRPr>
          </a:p>
          <a:p>
            <a:pPr marL="347980">
              <a:lnSpc>
                <a:spcPts val="1380"/>
              </a:lnSpc>
              <a:tabLst>
                <a:tab pos="770890" algn="l"/>
                <a:tab pos="1616710" algn="l"/>
              </a:tabLst>
            </a:pPr>
            <a:r>
              <a:rPr sz="1200" spc="-25" dirty="0">
                <a:solidFill>
                  <a:srgbClr val="1F2328"/>
                </a:solidFill>
                <a:latin typeface="Consolas"/>
                <a:cs typeface="Consolas"/>
              </a:rPr>
              <a:t>BOI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	—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FAI-</a:t>
            </a:r>
            <a:r>
              <a:rPr sz="1200" spc="-25" dirty="0">
                <a:solidFill>
                  <a:srgbClr val="1F2328"/>
                </a:solidFill>
                <a:latin typeface="Consolas"/>
                <a:cs typeface="Consolas"/>
              </a:rPr>
              <a:t>38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	(P7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1F2328"/>
                </a:solidFill>
                <a:latin typeface="Malgun Gothic"/>
                <a:cs typeface="Malgun Gothic"/>
              </a:rPr>
              <a:t>선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-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선</a:t>
            </a:r>
            <a:r>
              <a:rPr sz="1200" spc="24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각도</a:t>
            </a:r>
            <a:r>
              <a:rPr sz="1200" spc="-25" dirty="0">
                <a:solidFill>
                  <a:srgbClr val="1F2328"/>
                </a:solidFill>
                <a:latin typeface="Consolas"/>
                <a:cs typeface="Consolas"/>
              </a:rPr>
              <a:t>)</a:t>
            </a:r>
            <a:endParaRPr sz="1200">
              <a:latin typeface="Consolas"/>
              <a:cs typeface="Consolas"/>
            </a:endParaRPr>
          </a:p>
          <a:p>
            <a:pPr marL="347980" marR="5080">
              <a:lnSpc>
                <a:spcPts val="1430"/>
              </a:lnSpc>
              <a:spcBef>
                <a:spcPts val="15"/>
              </a:spcBef>
              <a:tabLst>
                <a:tab pos="770890" algn="l"/>
                <a:tab pos="1616710" algn="l"/>
              </a:tabLst>
            </a:pPr>
            <a:r>
              <a:rPr sz="1200" spc="-25" dirty="0">
                <a:solidFill>
                  <a:srgbClr val="1F2328"/>
                </a:solidFill>
                <a:latin typeface="Consolas"/>
                <a:cs typeface="Consolas"/>
              </a:rPr>
              <a:t>AKC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	—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FAI-146 (P5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1F2328"/>
                </a:solidFill>
                <a:latin typeface="Malgun Gothic"/>
                <a:cs typeface="Malgun Gothic"/>
              </a:rPr>
              <a:t>점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-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점</a:t>
            </a:r>
            <a:r>
              <a:rPr sz="1200" spc="229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거리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), FAI-147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(P5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원</a:t>
            </a:r>
            <a:r>
              <a:rPr sz="1200" spc="23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1F2328"/>
                </a:solidFill>
                <a:latin typeface="Malgun Gothic"/>
                <a:cs typeface="Malgun Gothic"/>
              </a:rPr>
              <a:t>지름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·8</a:t>
            </a:r>
            <a:r>
              <a:rPr sz="1200" spc="-10" dirty="0">
                <a:solidFill>
                  <a:srgbClr val="1F2328"/>
                </a:solidFill>
                <a:latin typeface="Malgun Gothic"/>
                <a:cs typeface="Malgun Gothic"/>
              </a:rPr>
              <a:t>포인트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) </a:t>
            </a:r>
            <a:r>
              <a:rPr sz="1200" spc="-25" dirty="0">
                <a:solidFill>
                  <a:srgbClr val="1F2328"/>
                </a:solidFill>
                <a:latin typeface="Consolas"/>
                <a:cs typeface="Consolas"/>
              </a:rPr>
              <a:t>ACT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	—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FAI-</a:t>
            </a:r>
            <a:r>
              <a:rPr sz="1200" spc="-25" dirty="0">
                <a:solidFill>
                  <a:srgbClr val="1F2328"/>
                </a:solidFill>
                <a:latin typeface="Consolas"/>
                <a:cs typeface="Consolas"/>
              </a:rPr>
              <a:t>29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	(P7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1F2328"/>
                </a:solidFill>
                <a:latin typeface="Malgun Gothic"/>
                <a:cs typeface="Malgun Gothic"/>
              </a:rPr>
              <a:t>선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-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선</a:t>
            </a:r>
            <a:r>
              <a:rPr sz="1200" spc="24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각도</a:t>
            </a:r>
            <a:r>
              <a:rPr sz="1200" spc="-25" dirty="0">
                <a:solidFill>
                  <a:srgbClr val="1F2328"/>
                </a:solidFill>
                <a:latin typeface="Consolas"/>
                <a:cs typeface="Consolas"/>
              </a:rPr>
              <a:t>)</a:t>
            </a:r>
            <a:endParaRPr sz="1200">
              <a:latin typeface="Consolas"/>
              <a:cs typeface="Consolas"/>
            </a:endParaRPr>
          </a:p>
          <a:p>
            <a:pPr marL="347980">
              <a:lnSpc>
                <a:spcPts val="1290"/>
              </a:lnSpc>
              <a:tabLst>
                <a:tab pos="770890" algn="l"/>
              </a:tabLst>
            </a:pPr>
            <a:r>
              <a:rPr sz="1200" spc="-25" dirty="0">
                <a:solidFill>
                  <a:srgbClr val="1F2328"/>
                </a:solidFill>
                <a:latin typeface="Consolas"/>
                <a:cs typeface="Consolas"/>
              </a:rPr>
              <a:t>ATW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	—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P5 /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P7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해당</a:t>
            </a:r>
            <a:r>
              <a:rPr sz="1200" spc="229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항목</a:t>
            </a:r>
            <a:r>
              <a:rPr sz="1200" spc="229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(ATW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FAI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정의서</a:t>
            </a:r>
            <a:r>
              <a:rPr sz="1200" spc="229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기준</a:t>
            </a:r>
            <a:r>
              <a:rPr sz="1200" spc="-25" dirty="0">
                <a:solidFill>
                  <a:srgbClr val="1F2328"/>
                </a:solidFill>
                <a:latin typeface="Consolas"/>
                <a:cs typeface="Consolas"/>
              </a:rPr>
              <a:t>)</a:t>
            </a:r>
            <a:endParaRPr sz="1200">
              <a:latin typeface="Consolas"/>
              <a:cs typeface="Consolas"/>
            </a:endParaRPr>
          </a:p>
          <a:p>
            <a:pPr marL="179070" marR="1172210" indent="168910">
              <a:lnSpc>
                <a:spcPts val="1420"/>
              </a:lnSpc>
              <a:spcBef>
                <a:spcPts val="55"/>
              </a:spcBef>
              <a:tabLst>
                <a:tab pos="770890" algn="l"/>
              </a:tabLst>
            </a:pPr>
            <a:r>
              <a:rPr sz="1200" spc="-25" dirty="0">
                <a:solidFill>
                  <a:srgbClr val="1F2328"/>
                </a:solidFill>
                <a:latin typeface="Consolas"/>
                <a:cs typeface="Consolas"/>
              </a:rPr>
              <a:t>BOS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	—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P5 /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P7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해당</a:t>
            </a:r>
            <a:r>
              <a:rPr sz="1200" spc="229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항목</a:t>
            </a:r>
            <a:r>
              <a:rPr sz="1200" spc="229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(BOS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FAI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정의서</a:t>
            </a:r>
            <a:r>
              <a:rPr sz="1200" spc="229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기준</a:t>
            </a:r>
            <a:r>
              <a:rPr sz="1200" spc="-25" dirty="0">
                <a:solidFill>
                  <a:srgbClr val="1F2328"/>
                </a:solidFill>
                <a:latin typeface="Consolas"/>
                <a:cs typeface="Consolas"/>
              </a:rPr>
              <a:t>)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합격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기준</a:t>
            </a:r>
            <a:r>
              <a:rPr sz="1200" spc="-25" dirty="0">
                <a:solidFill>
                  <a:srgbClr val="1F2328"/>
                </a:solidFill>
                <a:latin typeface="Consolas"/>
                <a:cs typeface="Consolas"/>
              </a:rPr>
              <a:t>:</a:t>
            </a:r>
            <a:endParaRPr sz="1200">
              <a:latin typeface="Consolas"/>
              <a:cs typeface="Consolas"/>
            </a:endParaRPr>
          </a:p>
          <a:p>
            <a:pPr marL="516890" indent="-168910">
              <a:lnSpc>
                <a:spcPts val="1305"/>
              </a:lnSpc>
              <a:buChar char="-"/>
              <a:tabLst>
                <a:tab pos="516890" algn="l"/>
              </a:tabLst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UI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로</a:t>
            </a:r>
            <a:r>
              <a:rPr sz="1200" spc="19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규칙</a:t>
            </a:r>
            <a:r>
              <a:rPr sz="1200" spc="21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추가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/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삭제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/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저장이</a:t>
            </a:r>
            <a:r>
              <a:rPr sz="1200" spc="204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오류</a:t>
            </a:r>
            <a:r>
              <a:rPr sz="1200" spc="21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없이</a:t>
            </a:r>
            <a:r>
              <a:rPr sz="1200" spc="204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동작할</a:t>
            </a:r>
            <a:r>
              <a:rPr sz="1200" spc="21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50" dirty="0">
                <a:solidFill>
                  <a:srgbClr val="1F2328"/>
                </a:solidFill>
                <a:latin typeface="Malgun Gothic"/>
                <a:cs typeface="Malgun Gothic"/>
              </a:rPr>
              <a:t>것</a:t>
            </a:r>
            <a:endParaRPr sz="1200">
              <a:latin typeface="Malgun Gothic"/>
              <a:cs typeface="Malgun Gothic"/>
            </a:endParaRPr>
          </a:p>
          <a:p>
            <a:pPr marL="516890" indent="-168910">
              <a:lnSpc>
                <a:spcPts val="1430"/>
              </a:lnSpc>
              <a:buFont typeface="Consolas"/>
              <a:buChar char="-"/>
              <a:tabLst>
                <a:tab pos="516890" algn="l"/>
                <a:tab pos="2336165" algn="l"/>
              </a:tabLst>
            </a:pP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전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모델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동적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계산값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	기존</a:t>
            </a:r>
            <a:r>
              <a:rPr sz="1200" spc="229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Inspector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값</a:t>
            </a:r>
            <a:r>
              <a:rPr sz="1200" spc="229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오차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70851" y="6329521"/>
            <a:ext cx="358203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-</a:t>
            </a:r>
            <a:r>
              <a:rPr sz="1200" spc="-2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앱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재시작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후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INI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로드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→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동일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결과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재현될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50" dirty="0">
                <a:solidFill>
                  <a:srgbClr val="1F2328"/>
                </a:solidFill>
                <a:latin typeface="Malgun Gothic"/>
                <a:cs typeface="Malgun Gothic"/>
              </a:rPr>
              <a:t>것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770319" y="6340474"/>
            <a:ext cx="149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777777"/>
                </a:solidFill>
                <a:latin typeface="Segoe UI"/>
                <a:cs typeface="Segoe UI"/>
              </a:rPr>
              <a:t>9</a:t>
            </a:r>
            <a:endParaRPr sz="1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3155772"/>
            <a:ext cx="1431290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TODO</a:t>
            </a:r>
            <a:r>
              <a:rPr spc="-30" dirty="0"/>
              <a:t> </a:t>
            </a:r>
            <a:r>
              <a:rPr sz="2550" b="1" spc="-484" dirty="0">
                <a:latin typeface="Malgun Gothic"/>
                <a:cs typeface="Malgun Gothic"/>
              </a:rPr>
              <a:t>목록</a:t>
            </a:r>
            <a:endParaRPr sz="2550">
              <a:latin typeface="Malgun Gothic"/>
              <a:cs typeface="Malgun Gothic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2474" y="1809749"/>
            <a:ext cx="10696575" cy="19050"/>
          </a:xfrm>
          <a:custGeom>
            <a:avLst/>
            <a:gdLst/>
            <a:ahLst/>
            <a:cxnLst/>
            <a:rect l="l" t="t" r="r" b="b"/>
            <a:pathLst>
              <a:path w="10696575" h="19050">
                <a:moveTo>
                  <a:pt x="10696574" y="19049"/>
                </a:moveTo>
                <a:lnTo>
                  <a:pt x="0" y="19049"/>
                </a:lnTo>
                <a:lnTo>
                  <a:pt x="0" y="0"/>
                </a:lnTo>
                <a:lnTo>
                  <a:pt x="10696574" y="0"/>
                </a:lnTo>
                <a:lnTo>
                  <a:pt x="10696574" y="19049"/>
                </a:lnTo>
                <a:close/>
              </a:path>
            </a:pathLst>
          </a:custGeom>
          <a:solidFill>
            <a:srgbClr val="1A527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752474" y="1981199"/>
            <a:ext cx="10696575" cy="1924050"/>
            <a:chOff x="752474" y="1981199"/>
            <a:chExt cx="10696575" cy="1924050"/>
          </a:xfrm>
        </p:grpSpPr>
        <p:sp>
          <p:nvSpPr>
            <p:cNvPr id="4" name="object 4"/>
            <p:cNvSpPr/>
            <p:nvPr/>
          </p:nvSpPr>
          <p:spPr>
            <a:xfrm>
              <a:off x="757237" y="1985962"/>
              <a:ext cx="10687050" cy="1914525"/>
            </a:xfrm>
            <a:custGeom>
              <a:avLst/>
              <a:gdLst/>
              <a:ahLst/>
              <a:cxnLst/>
              <a:rect l="l" t="t" r="r" b="b"/>
              <a:pathLst>
                <a:path w="10687050" h="1914525">
                  <a:moveTo>
                    <a:pt x="10638100" y="1914524"/>
                  </a:moveTo>
                  <a:lnTo>
                    <a:pt x="48947" y="1914524"/>
                  </a:lnTo>
                  <a:lnTo>
                    <a:pt x="45540" y="1914189"/>
                  </a:lnTo>
                  <a:lnTo>
                    <a:pt x="10739" y="1894101"/>
                  </a:lnTo>
                  <a:lnTo>
                    <a:pt x="0" y="1865576"/>
                  </a:lnTo>
                  <a:lnTo>
                    <a:pt x="0" y="186213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6"/>
                  </a:lnTo>
                  <a:lnTo>
                    <a:pt x="10687049" y="48947"/>
                  </a:lnTo>
                  <a:lnTo>
                    <a:pt x="10687049" y="1865576"/>
                  </a:lnTo>
                  <a:lnTo>
                    <a:pt x="10669272" y="1901612"/>
                  </a:lnTo>
                  <a:lnTo>
                    <a:pt x="10641507" y="1914189"/>
                  </a:lnTo>
                  <a:lnTo>
                    <a:pt x="10638100" y="1914524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7237" y="1985962"/>
              <a:ext cx="10687050" cy="1914525"/>
            </a:xfrm>
            <a:custGeom>
              <a:avLst/>
              <a:gdLst/>
              <a:ahLst/>
              <a:cxnLst/>
              <a:rect l="l" t="t" r="r" b="b"/>
              <a:pathLst>
                <a:path w="10687050" h="1914525">
                  <a:moveTo>
                    <a:pt x="0" y="186213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63765" y="8828"/>
                  </a:lnTo>
                  <a:lnTo>
                    <a:pt x="10666625" y="10739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1862137"/>
                  </a:lnTo>
                  <a:lnTo>
                    <a:pt x="10687049" y="1865576"/>
                  </a:lnTo>
                  <a:lnTo>
                    <a:pt x="10686713" y="1868983"/>
                  </a:lnTo>
                  <a:lnTo>
                    <a:pt x="10666625" y="1903784"/>
                  </a:lnTo>
                  <a:lnTo>
                    <a:pt x="10634661" y="1914524"/>
                  </a:lnTo>
                  <a:lnTo>
                    <a:pt x="52387" y="1914524"/>
                  </a:lnTo>
                  <a:lnTo>
                    <a:pt x="23282" y="1905695"/>
                  </a:lnTo>
                  <a:lnTo>
                    <a:pt x="20422" y="1903784"/>
                  </a:lnTo>
                  <a:lnTo>
                    <a:pt x="1006" y="1872357"/>
                  </a:lnTo>
                  <a:lnTo>
                    <a:pt x="335" y="1868983"/>
                  </a:lnTo>
                  <a:lnTo>
                    <a:pt x="0" y="1865576"/>
                  </a:lnTo>
                  <a:lnTo>
                    <a:pt x="0" y="1862137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52474" y="4057649"/>
          <a:ext cx="5324475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17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영역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1A5275"/>
                    </a:solidFill>
                  </a:tcPr>
                </a:tc>
                <a:tc>
                  <a:txBody>
                    <a:bodyPr/>
                    <a:lstStyle/>
                    <a:p>
                      <a:pPr marL="30734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상태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1A5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-25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주요</a:t>
                      </a:r>
                      <a:r>
                        <a:rPr sz="1350" b="1" spc="-13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spc="-20" dirty="0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TODO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1A52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3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spc="-10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Model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607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미완성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계산</a:t>
                      </a:r>
                      <a:r>
                        <a:rPr sz="1350" spc="-13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구현</a:t>
                      </a:r>
                      <a:r>
                        <a:rPr sz="1350" spc="-13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1350" spc="-13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테스트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spc="-10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View(UI)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34607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미완성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리스트</a:t>
                      </a:r>
                      <a:r>
                        <a:rPr sz="1350" spc="-13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17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표시</a:t>
                      </a:r>
                      <a:r>
                        <a:rPr sz="1200" spc="-17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,</a:t>
                      </a:r>
                      <a:r>
                        <a:rPr sz="1200" spc="2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규칙</a:t>
                      </a:r>
                      <a:r>
                        <a:rPr sz="1350" spc="-1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0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추가</a:t>
                      </a:r>
                      <a:r>
                        <a:rPr sz="1200" spc="-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/</a:t>
                      </a:r>
                      <a:r>
                        <a:rPr sz="1350" spc="-20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삭제</a:t>
                      </a:r>
                      <a:r>
                        <a:rPr sz="1350" spc="-13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UI</a:t>
                      </a:r>
                      <a:r>
                        <a:rPr sz="1200" spc="2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구현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spc="-10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Controller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607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미연결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Inspector</a:t>
                      </a:r>
                      <a:r>
                        <a:rPr sz="1200" spc="2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Execute</a:t>
                      </a:r>
                      <a:r>
                        <a:rPr sz="1200" spc="2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7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연결</a:t>
                      </a:r>
                      <a:r>
                        <a:rPr sz="1200" spc="-17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,</a:t>
                      </a:r>
                      <a:r>
                        <a:rPr sz="1200" spc="2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진입</a:t>
                      </a:r>
                      <a:r>
                        <a:rPr sz="1350" spc="-1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버튼</a:t>
                      </a:r>
                      <a:r>
                        <a:rPr sz="1350" spc="-1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17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연결</a:t>
                      </a:r>
                      <a:r>
                        <a:rPr sz="1200" spc="-17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,</a:t>
                      </a:r>
                      <a:r>
                        <a:rPr sz="1200" spc="2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빌드</a:t>
                      </a:r>
                      <a:r>
                        <a:rPr sz="1350" spc="-1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3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등록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5012" y="1326972"/>
            <a:ext cx="2413000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TODO</a:t>
            </a:r>
            <a:r>
              <a:rPr spc="-5" dirty="0"/>
              <a:t> </a:t>
            </a:r>
            <a:r>
              <a:rPr dirty="0"/>
              <a:t>—</a:t>
            </a:r>
            <a:r>
              <a:rPr spc="5" dirty="0"/>
              <a:t> </a:t>
            </a:r>
            <a:r>
              <a:rPr sz="2550" b="1" spc="-459" dirty="0">
                <a:latin typeface="Malgun Gothic"/>
                <a:cs typeface="Malgun Gothic"/>
              </a:rPr>
              <a:t>전체</a:t>
            </a:r>
            <a:r>
              <a:rPr sz="2550" b="1" spc="-270" dirty="0">
                <a:latin typeface="Malgun Gothic"/>
                <a:cs typeface="Malgun Gothic"/>
              </a:rPr>
              <a:t> </a:t>
            </a:r>
            <a:r>
              <a:rPr sz="2550" b="1" spc="-495" dirty="0">
                <a:latin typeface="Malgun Gothic"/>
                <a:cs typeface="Malgun Gothic"/>
              </a:rPr>
              <a:t>구조</a:t>
            </a:r>
            <a:endParaRPr sz="2550">
              <a:latin typeface="Malgun Gothic"/>
              <a:cs typeface="Malgun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1700" y="2109946"/>
            <a:ext cx="476186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┌──────────────────────────────────────────────────────┐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62364" y="2290921"/>
            <a:ext cx="66992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MVC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구조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16091" y="2643346"/>
            <a:ext cx="1294130" cy="56261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>
              <a:lnSpc>
                <a:spcPct val="96400"/>
              </a:lnSpc>
              <a:spcBef>
                <a:spcPts val="160"/>
              </a:spcBef>
            </a:pP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[View] TeachFaiDynamic RuleDlg.cpp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1700" y="2290921"/>
            <a:ext cx="2055495" cy="12769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1395"/>
              </a:lnSpc>
              <a:spcBef>
                <a:spcPts val="110"/>
              </a:spcBef>
            </a:pPr>
            <a:r>
              <a:rPr sz="1200" spc="-50" dirty="0">
                <a:solidFill>
                  <a:srgbClr val="1F2328"/>
                </a:solidFill>
                <a:latin typeface="Consolas"/>
                <a:cs typeface="Consolas"/>
              </a:rPr>
              <a:t>│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ts val="1390"/>
              </a:lnSpc>
            </a:pPr>
            <a:r>
              <a:rPr sz="1200" spc="-50" dirty="0">
                <a:solidFill>
                  <a:srgbClr val="1F2328"/>
                </a:solidFill>
                <a:latin typeface="Consolas"/>
                <a:cs typeface="Consolas"/>
              </a:rPr>
              <a:t>│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ts val="1390"/>
              </a:lnSpc>
              <a:tabLst>
                <a:tab pos="266065" algn="l"/>
              </a:tabLst>
            </a:pPr>
            <a:r>
              <a:rPr sz="1200" spc="-50" dirty="0">
                <a:solidFill>
                  <a:srgbClr val="1F2328"/>
                </a:solidFill>
                <a:latin typeface="Consolas"/>
                <a:cs typeface="Consolas"/>
              </a:rPr>
              <a:t>│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	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[Model]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ts val="1390"/>
              </a:lnSpc>
              <a:tabLst>
                <a:tab pos="266065" algn="l"/>
              </a:tabLst>
            </a:pPr>
            <a:r>
              <a:rPr sz="1200" spc="-50" dirty="0">
                <a:solidFill>
                  <a:srgbClr val="1F2328"/>
                </a:solidFill>
                <a:latin typeface="Consolas"/>
                <a:cs typeface="Consolas"/>
              </a:rPr>
              <a:t>│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	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FAIDynamicRule.h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ts val="1390"/>
              </a:lnSpc>
              <a:tabLst>
                <a:tab pos="266065" algn="l"/>
              </a:tabLst>
            </a:pPr>
            <a:r>
              <a:rPr sz="1200" spc="-50" dirty="0">
                <a:solidFill>
                  <a:srgbClr val="1F2328"/>
                </a:solidFill>
                <a:latin typeface="Consolas"/>
                <a:cs typeface="Consolas"/>
              </a:rPr>
              <a:t>│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	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FAIDynamicRuleManager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ts val="1395"/>
              </a:lnSpc>
            </a:pPr>
            <a:r>
              <a:rPr sz="1200" spc="-50" dirty="0">
                <a:solidFill>
                  <a:srgbClr val="1F2328"/>
                </a:solidFill>
                <a:latin typeface="Consolas"/>
                <a:cs typeface="Consolas"/>
              </a:rPr>
              <a:t>│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200" spc="-50" dirty="0">
                <a:solidFill>
                  <a:srgbClr val="1F2328"/>
                </a:solidFill>
                <a:latin typeface="Consolas"/>
                <a:cs typeface="Consolas"/>
              </a:rPr>
              <a:t>│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181095" y="3382801"/>
            <a:ext cx="3528695" cy="147320"/>
            <a:chOff x="1181095" y="3382801"/>
            <a:chExt cx="3528695" cy="14732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81095" y="3382801"/>
              <a:ext cx="152412" cy="14674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71820" y="3382801"/>
              <a:ext cx="152412" cy="14674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67656" y="3386692"/>
              <a:ext cx="141905" cy="140868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416686" y="3357721"/>
            <a:ext cx="386651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999614" algn="l"/>
                <a:tab pos="3394710" algn="l"/>
              </a:tabLst>
            </a:pP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미완성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	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미완성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	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미연결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69301" y="2290921"/>
            <a:ext cx="1345565" cy="12769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47775">
              <a:lnSpc>
                <a:spcPts val="1395"/>
              </a:lnSpc>
              <a:spcBef>
                <a:spcPts val="110"/>
              </a:spcBef>
            </a:pPr>
            <a:r>
              <a:rPr sz="1200" spc="-50" dirty="0">
                <a:solidFill>
                  <a:srgbClr val="1F2328"/>
                </a:solidFill>
                <a:latin typeface="Consolas"/>
                <a:cs typeface="Consolas"/>
              </a:rPr>
              <a:t>│</a:t>
            </a:r>
            <a:endParaRPr sz="1200">
              <a:latin typeface="Consolas"/>
              <a:cs typeface="Consolas"/>
            </a:endParaRPr>
          </a:p>
          <a:p>
            <a:pPr marL="12700" marR="55880" indent="1183640" algn="just">
              <a:lnSpc>
                <a:spcPct val="96400"/>
              </a:lnSpc>
              <a:spcBef>
                <a:spcPts val="5"/>
              </a:spcBef>
            </a:pPr>
            <a:r>
              <a:rPr sz="1200" spc="-50" dirty="0">
                <a:solidFill>
                  <a:srgbClr val="1F2328"/>
                </a:solidFill>
                <a:latin typeface="Consolas"/>
                <a:cs typeface="Consolas"/>
              </a:rPr>
              <a:t>│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[Controller]  </a:t>
            </a:r>
            <a:r>
              <a:rPr sz="1200" spc="-50" dirty="0">
                <a:solidFill>
                  <a:srgbClr val="1F2328"/>
                </a:solidFill>
                <a:latin typeface="Consolas"/>
                <a:cs typeface="Consolas"/>
              </a:rPr>
              <a:t>│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Inspector</a:t>
            </a:r>
            <a:r>
              <a:rPr sz="1200" spc="225" dirty="0">
                <a:solidFill>
                  <a:srgbClr val="1F2328"/>
                </a:solidFill>
                <a:latin typeface="Consolas"/>
                <a:cs typeface="Consolas"/>
              </a:rPr>
              <a:t>   </a:t>
            </a:r>
            <a:r>
              <a:rPr sz="1200" spc="-50" dirty="0">
                <a:solidFill>
                  <a:srgbClr val="1F2328"/>
                </a:solidFill>
                <a:latin typeface="Consolas"/>
                <a:cs typeface="Consolas"/>
              </a:rPr>
              <a:t>│</a:t>
            </a:r>
            <a:endParaRPr sz="1200">
              <a:latin typeface="Consolas"/>
              <a:cs typeface="Consolas"/>
            </a:endParaRPr>
          </a:p>
          <a:p>
            <a:pPr marL="97155">
              <a:lnSpc>
                <a:spcPts val="1380"/>
              </a:lnSpc>
              <a:tabLst>
                <a:tab pos="1230630" algn="l"/>
              </a:tabLst>
            </a:pP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연결부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	</a:t>
            </a:r>
            <a:r>
              <a:rPr sz="1200" spc="-50" dirty="0">
                <a:solidFill>
                  <a:srgbClr val="1F2328"/>
                </a:solidFill>
                <a:latin typeface="Consolas"/>
                <a:cs typeface="Consolas"/>
              </a:rPr>
              <a:t>│</a:t>
            </a:r>
            <a:endParaRPr sz="1200">
              <a:latin typeface="Consolas"/>
              <a:cs typeface="Consolas"/>
            </a:endParaRPr>
          </a:p>
          <a:p>
            <a:pPr marL="1196340">
              <a:lnSpc>
                <a:spcPts val="1395"/>
              </a:lnSpc>
            </a:pPr>
            <a:r>
              <a:rPr sz="1200" spc="-50" dirty="0">
                <a:solidFill>
                  <a:srgbClr val="1F2328"/>
                </a:solidFill>
                <a:latin typeface="Consolas"/>
                <a:cs typeface="Consolas"/>
              </a:rPr>
              <a:t>│</a:t>
            </a:r>
            <a:endParaRPr sz="1200">
              <a:latin typeface="Consolas"/>
              <a:cs typeface="Consolas"/>
            </a:endParaRPr>
          </a:p>
          <a:p>
            <a:pPr marL="1237615">
              <a:lnSpc>
                <a:spcPct val="100000"/>
              </a:lnSpc>
              <a:spcBef>
                <a:spcPts val="60"/>
              </a:spcBef>
            </a:pPr>
            <a:r>
              <a:rPr sz="1200" spc="-50" dirty="0">
                <a:solidFill>
                  <a:srgbClr val="1F2328"/>
                </a:solidFill>
                <a:latin typeface="Consolas"/>
                <a:cs typeface="Consolas"/>
              </a:rPr>
              <a:t>│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01700" y="3529171"/>
            <a:ext cx="476186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└──────────────────────────────────────────────────────┘</a:t>
            </a:r>
            <a:endParaRPr sz="1200">
              <a:latin typeface="Consolas"/>
              <a:cs typeface="Consolas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7370" y="4516276"/>
            <a:ext cx="152412" cy="14674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7370" y="4868701"/>
            <a:ext cx="152412" cy="14674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62556" y="5225016"/>
            <a:ext cx="141905" cy="140868"/>
          </a:xfrm>
          <a:prstGeom prst="rect">
            <a:avLst/>
          </a:prstGeom>
        </p:spPr>
      </p:pic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2474" y="1943099"/>
            <a:ext cx="10696575" cy="19050"/>
          </a:xfrm>
          <a:custGeom>
            <a:avLst/>
            <a:gdLst/>
            <a:ahLst/>
            <a:cxnLst/>
            <a:rect l="l" t="t" r="r" b="b"/>
            <a:pathLst>
              <a:path w="10696575" h="19050">
                <a:moveTo>
                  <a:pt x="10696574" y="19049"/>
                </a:moveTo>
                <a:lnTo>
                  <a:pt x="0" y="19049"/>
                </a:lnTo>
                <a:lnTo>
                  <a:pt x="0" y="0"/>
                </a:lnTo>
                <a:lnTo>
                  <a:pt x="10696574" y="0"/>
                </a:lnTo>
                <a:lnTo>
                  <a:pt x="10696574" y="19049"/>
                </a:lnTo>
                <a:close/>
              </a:path>
            </a:pathLst>
          </a:custGeom>
          <a:solidFill>
            <a:srgbClr val="1A52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52474" y="2114549"/>
            <a:ext cx="38100" cy="276225"/>
          </a:xfrm>
          <a:custGeom>
            <a:avLst/>
            <a:gdLst/>
            <a:ahLst/>
            <a:cxnLst/>
            <a:rect l="l" t="t" r="r" b="b"/>
            <a:pathLst>
              <a:path w="38100" h="276225">
                <a:moveTo>
                  <a:pt x="38099" y="276224"/>
                </a:moveTo>
                <a:lnTo>
                  <a:pt x="0" y="276224"/>
                </a:lnTo>
                <a:lnTo>
                  <a:pt x="0" y="0"/>
                </a:lnTo>
                <a:lnTo>
                  <a:pt x="38099" y="0"/>
                </a:lnTo>
                <a:lnTo>
                  <a:pt x="38099" y="276224"/>
                </a:lnTo>
                <a:close/>
              </a:path>
            </a:pathLst>
          </a:custGeom>
          <a:solidFill>
            <a:srgbClr val="D0D9D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52474" y="2543174"/>
            <a:ext cx="10696575" cy="2809875"/>
            <a:chOff x="752474" y="2543174"/>
            <a:chExt cx="10696575" cy="2809875"/>
          </a:xfrm>
        </p:grpSpPr>
        <p:sp>
          <p:nvSpPr>
            <p:cNvPr id="5" name="object 5"/>
            <p:cNvSpPr/>
            <p:nvPr/>
          </p:nvSpPr>
          <p:spPr>
            <a:xfrm>
              <a:off x="757237" y="2547937"/>
              <a:ext cx="10687050" cy="2800350"/>
            </a:xfrm>
            <a:custGeom>
              <a:avLst/>
              <a:gdLst/>
              <a:ahLst/>
              <a:cxnLst/>
              <a:rect l="l" t="t" r="r" b="b"/>
              <a:pathLst>
                <a:path w="10687050" h="2800350">
                  <a:moveTo>
                    <a:pt x="10638100" y="2800349"/>
                  </a:moveTo>
                  <a:lnTo>
                    <a:pt x="48947" y="2800349"/>
                  </a:lnTo>
                  <a:lnTo>
                    <a:pt x="45540" y="2800013"/>
                  </a:lnTo>
                  <a:lnTo>
                    <a:pt x="10739" y="2779926"/>
                  </a:lnTo>
                  <a:lnTo>
                    <a:pt x="0" y="2751401"/>
                  </a:lnTo>
                  <a:lnTo>
                    <a:pt x="0" y="2747961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2751401"/>
                  </a:lnTo>
                  <a:lnTo>
                    <a:pt x="10669272" y="2787437"/>
                  </a:lnTo>
                  <a:lnTo>
                    <a:pt x="10641507" y="2800013"/>
                  </a:lnTo>
                  <a:lnTo>
                    <a:pt x="10638100" y="2800349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57237" y="2547937"/>
              <a:ext cx="10687050" cy="2800350"/>
            </a:xfrm>
            <a:custGeom>
              <a:avLst/>
              <a:gdLst/>
              <a:ahLst/>
              <a:cxnLst/>
              <a:rect l="l" t="t" r="r" b="b"/>
              <a:pathLst>
                <a:path w="10687050" h="2800350">
                  <a:moveTo>
                    <a:pt x="0" y="27479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71704" y="15343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2747962"/>
                  </a:lnTo>
                  <a:lnTo>
                    <a:pt x="10687049" y="2751401"/>
                  </a:lnTo>
                  <a:lnTo>
                    <a:pt x="10686713" y="2754808"/>
                  </a:lnTo>
                  <a:lnTo>
                    <a:pt x="10666625" y="2789609"/>
                  </a:lnTo>
                  <a:lnTo>
                    <a:pt x="10644881" y="2799342"/>
                  </a:lnTo>
                  <a:lnTo>
                    <a:pt x="10641507" y="2800013"/>
                  </a:lnTo>
                  <a:lnTo>
                    <a:pt x="10638100" y="2800349"/>
                  </a:lnTo>
                  <a:lnTo>
                    <a:pt x="10634661" y="2800349"/>
                  </a:lnTo>
                  <a:lnTo>
                    <a:pt x="52387" y="2800349"/>
                  </a:lnTo>
                  <a:lnTo>
                    <a:pt x="48947" y="2800349"/>
                  </a:lnTo>
                  <a:lnTo>
                    <a:pt x="45540" y="2800013"/>
                  </a:lnTo>
                  <a:lnTo>
                    <a:pt x="42167" y="2799342"/>
                  </a:lnTo>
                  <a:lnTo>
                    <a:pt x="38793" y="2798671"/>
                  </a:lnTo>
                  <a:lnTo>
                    <a:pt x="23282" y="2791520"/>
                  </a:lnTo>
                  <a:lnTo>
                    <a:pt x="20422" y="2789609"/>
                  </a:lnTo>
                  <a:lnTo>
                    <a:pt x="17776" y="2787437"/>
                  </a:lnTo>
                  <a:lnTo>
                    <a:pt x="15343" y="2785005"/>
                  </a:lnTo>
                  <a:lnTo>
                    <a:pt x="12911" y="2782572"/>
                  </a:lnTo>
                  <a:lnTo>
                    <a:pt x="1006" y="2758182"/>
                  </a:lnTo>
                  <a:lnTo>
                    <a:pt x="335" y="2754808"/>
                  </a:lnTo>
                  <a:lnTo>
                    <a:pt x="0" y="2751401"/>
                  </a:lnTo>
                  <a:lnTo>
                    <a:pt x="0" y="2747962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5012" y="1460322"/>
            <a:ext cx="3939540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TODO</a:t>
            </a:r>
            <a:r>
              <a:rPr spc="20" dirty="0"/>
              <a:t> </a:t>
            </a:r>
            <a:r>
              <a:rPr dirty="0"/>
              <a:t>—</a:t>
            </a:r>
            <a:r>
              <a:rPr spc="15" dirty="0"/>
              <a:t> </a:t>
            </a:r>
            <a:r>
              <a:rPr dirty="0"/>
              <a:t>Model,</a:t>
            </a:r>
            <a:r>
              <a:rPr spc="20" dirty="0"/>
              <a:t> </a:t>
            </a:r>
            <a:r>
              <a:rPr sz="2550" b="1" spc="-459" dirty="0">
                <a:latin typeface="Malgun Gothic"/>
                <a:cs typeface="Malgun Gothic"/>
              </a:rPr>
              <a:t>실제</a:t>
            </a:r>
            <a:r>
              <a:rPr sz="2550" b="1" spc="-260" dirty="0">
                <a:latin typeface="Malgun Gothic"/>
                <a:cs typeface="Malgun Gothic"/>
              </a:rPr>
              <a:t> </a:t>
            </a:r>
            <a:r>
              <a:rPr sz="2550" b="1" spc="-480" dirty="0">
                <a:latin typeface="Malgun Gothic"/>
                <a:cs typeface="Malgun Gothic"/>
              </a:rPr>
              <a:t>계산부분</a:t>
            </a:r>
            <a:endParaRPr sz="2550">
              <a:latin typeface="Malgun Gothic"/>
              <a:cs typeface="Malgun Gothic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1549" y="2152649"/>
            <a:ext cx="1466850" cy="238125"/>
          </a:xfrm>
          <a:custGeom>
            <a:avLst/>
            <a:gdLst/>
            <a:ahLst/>
            <a:cxnLst/>
            <a:rect l="l" t="t" r="r" b="b"/>
            <a:pathLst>
              <a:path w="1466850" h="238125">
                <a:moveTo>
                  <a:pt x="1413452" y="238124"/>
                </a:moveTo>
                <a:lnTo>
                  <a:pt x="53397" y="238124"/>
                </a:lnTo>
                <a:lnTo>
                  <a:pt x="49680" y="237758"/>
                </a:lnTo>
                <a:lnTo>
                  <a:pt x="14085" y="218732"/>
                </a:lnTo>
                <a:lnTo>
                  <a:pt x="0" y="184727"/>
                </a:lnTo>
                <a:lnTo>
                  <a:pt x="0" y="180974"/>
                </a:lnTo>
                <a:lnTo>
                  <a:pt x="0" y="53397"/>
                </a:lnTo>
                <a:lnTo>
                  <a:pt x="19392" y="14085"/>
                </a:lnTo>
                <a:lnTo>
                  <a:pt x="53397" y="0"/>
                </a:lnTo>
                <a:lnTo>
                  <a:pt x="1413452" y="0"/>
                </a:lnTo>
                <a:lnTo>
                  <a:pt x="1452764" y="19392"/>
                </a:lnTo>
                <a:lnTo>
                  <a:pt x="1466849" y="53397"/>
                </a:lnTo>
                <a:lnTo>
                  <a:pt x="1466849" y="184727"/>
                </a:lnTo>
                <a:lnTo>
                  <a:pt x="1447457" y="224039"/>
                </a:lnTo>
                <a:lnTo>
                  <a:pt x="1417168" y="237758"/>
                </a:lnTo>
                <a:lnTo>
                  <a:pt x="1413452" y="238124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609849" y="2152649"/>
            <a:ext cx="2409825" cy="238125"/>
          </a:xfrm>
          <a:custGeom>
            <a:avLst/>
            <a:gdLst/>
            <a:ahLst/>
            <a:cxnLst/>
            <a:rect l="l" t="t" r="r" b="b"/>
            <a:pathLst>
              <a:path w="2409825" h="238125">
                <a:moveTo>
                  <a:pt x="2356427" y="238124"/>
                </a:moveTo>
                <a:lnTo>
                  <a:pt x="53397" y="238124"/>
                </a:lnTo>
                <a:lnTo>
                  <a:pt x="49681" y="237758"/>
                </a:lnTo>
                <a:lnTo>
                  <a:pt x="14085" y="218732"/>
                </a:lnTo>
                <a:lnTo>
                  <a:pt x="0" y="184727"/>
                </a:lnTo>
                <a:lnTo>
                  <a:pt x="0" y="180974"/>
                </a:lnTo>
                <a:lnTo>
                  <a:pt x="0" y="53397"/>
                </a:lnTo>
                <a:lnTo>
                  <a:pt x="19392" y="14085"/>
                </a:lnTo>
                <a:lnTo>
                  <a:pt x="53397" y="0"/>
                </a:lnTo>
                <a:lnTo>
                  <a:pt x="2356427" y="0"/>
                </a:lnTo>
                <a:lnTo>
                  <a:pt x="2395738" y="19392"/>
                </a:lnTo>
                <a:lnTo>
                  <a:pt x="2409824" y="53397"/>
                </a:lnTo>
                <a:lnTo>
                  <a:pt x="2409824" y="184727"/>
                </a:lnTo>
                <a:lnTo>
                  <a:pt x="2390432" y="224039"/>
                </a:lnTo>
                <a:lnTo>
                  <a:pt x="2360143" y="237758"/>
                </a:lnTo>
                <a:lnTo>
                  <a:pt x="2356427" y="238124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01700" y="2108981"/>
            <a:ext cx="7840980" cy="3078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6364">
              <a:lnSpc>
                <a:spcPct val="100000"/>
              </a:lnSpc>
              <a:spcBef>
                <a:spcPts val="110"/>
              </a:spcBef>
            </a:pPr>
            <a:r>
              <a:rPr sz="1200" dirty="0">
                <a:solidFill>
                  <a:srgbClr val="58626E"/>
                </a:solidFill>
                <a:latin typeface="Consolas"/>
                <a:cs typeface="Consolas"/>
              </a:rPr>
              <a:t>FAIDynamicRule.h</a:t>
            </a:r>
            <a:r>
              <a:rPr sz="1200" spc="215" dirty="0">
                <a:solidFill>
                  <a:srgbClr val="58626E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58626E"/>
                </a:solidFill>
                <a:latin typeface="Segoe UI"/>
                <a:cs typeface="Segoe UI"/>
              </a:rPr>
              <a:t>/</a:t>
            </a:r>
            <a:r>
              <a:rPr sz="1400" spc="495" dirty="0">
                <a:solidFill>
                  <a:srgbClr val="58626E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58626E"/>
                </a:solidFill>
                <a:latin typeface="Consolas"/>
                <a:cs typeface="Consolas"/>
              </a:rPr>
              <a:t>FAIDynamicRuleManager.h/cpp</a:t>
            </a:r>
            <a:r>
              <a:rPr sz="1200" spc="220" dirty="0">
                <a:solidFill>
                  <a:srgbClr val="58626E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58626E"/>
                </a:solidFill>
                <a:latin typeface="Segoe UI"/>
                <a:cs typeface="Segoe UI"/>
              </a:rPr>
              <a:t>—</a:t>
            </a:r>
            <a:r>
              <a:rPr sz="1400" spc="5" dirty="0">
                <a:solidFill>
                  <a:srgbClr val="58626E"/>
                </a:solidFill>
                <a:latin typeface="Segoe UI"/>
                <a:cs typeface="Segoe UI"/>
              </a:rPr>
              <a:t> </a:t>
            </a:r>
            <a:r>
              <a:rPr sz="1400" spc="-20" dirty="0">
                <a:solidFill>
                  <a:srgbClr val="58626E"/>
                </a:solidFill>
                <a:latin typeface="Segoe UI Semibold"/>
                <a:cs typeface="Segoe UI Semibold"/>
              </a:rPr>
              <a:t>(</a:t>
            </a:r>
            <a:r>
              <a:rPr sz="1600" b="1" spc="-20" dirty="0">
                <a:solidFill>
                  <a:srgbClr val="58626E"/>
                </a:solidFill>
                <a:latin typeface="Malgun Gothic"/>
                <a:cs typeface="Malgun Gothic"/>
              </a:rPr>
              <a:t>초안</a:t>
            </a:r>
            <a:r>
              <a:rPr sz="1400" spc="-20" dirty="0">
                <a:solidFill>
                  <a:srgbClr val="58626E"/>
                </a:solidFill>
                <a:latin typeface="Segoe UI Semibold"/>
                <a:cs typeface="Segoe UI Semibold"/>
              </a:rPr>
              <a:t>)</a:t>
            </a:r>
            <a:endParaRPr sz="1400">
              <a:latin typeface="Segoe UI Semibold"/>
              <a:cs typeface="Segoe UI Semibold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1200">
              <a:latin typeface="Segoe UI Semibold"/>
              <a:cs typeface="Segoe UI Semibold"/>
            </a:endParaRPr>
          </a:p>
          <a:p>
            <a:pPr marL="12700">
              <a:lnSpc>
                <a:spcPts val="1430"/>
              </a:lnSpc>
            </a:pP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FAIDynamicRule.h</a:t>
            </a:r>
            <a:endParaRPr sz="1200">
              <a:latin typeface="Consolas"/>
              <a:cs typeface="Consolas"/>
            </a:endParaRPr>
          </a:p>
          <a:p>
            <a:pPr marL="266065">
              <a:lnSpc>
                <a:spcPts val="1390"/>
              </a:lnSpc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FAIDynamicP5Rule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구조체</a:t>
            </a:r>
            <a:r>
              <a:rPr sz="1200" spc="229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(faiId, type, posA/B, idxA/B, multiple,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offset)</a:t>
            </a:r>
            <a:endParaRPr sz="1200">
              <a:latin typeface="Consolas"/>
              <a:cs typeface="Consolas"/>
            </a:endParaRPr>
          </a:p>
          <a:p>
            <a:pPr marL="266065">
              <a:lnSpc>
                <a:spcPts val="1395"/>
              </a:lnSpc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FAIDynamicP7Rule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구조체</a:t>
            </a:r>
            <a:r>
              <a:rPr sz="1200" spc="229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(faiId, posL1[2],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posL2[2], idxL1/L2, bAbsAngle, multiple,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offset)</a:t>
            </a:r>
            <a:endParaRPr sz="1200">
              <a:latin typeface="Consolas"/>
              <a:cs typeface="Consolas"/>
            </a:endParaRPr>
          </a:p>
          <a:p>
            <a:pPr marL="266065" marR="4570730" indent="-254000">
              <a:lnSpc>
                <a:spcPct val="97700"/>
              </a:lnSpc>
              <a:spcBef>
                <a:spcPts val="1370"/>
              </a:spcBef>
              <a:tabLst>
                <a:tab pos="2126615" algn="l"/>
              </a:tabLst>
            </a:pP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FAIDynamicRuleManager.h/cpp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GetInstance()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—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싱글턴 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LoadRules(modelType)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	—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INI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→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메모리 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SaveRules(modelType)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	—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메모리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→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Consolas"/>
                <a:cs typeface="Consolas"/>
              </a:rPr>
              <a:t>INI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AddP5Rule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/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AddP7Rule</a:t>
            </a:r>
            <a:endParaRPr sz="1200">
              <a:latin typeface="Consolas"/>
              <a:cs typeface="Consolas"/>
            </a:endParaRPr>
          </a:p>
          <a:p>
            <a:pPr marL="266065">
              <a:lnSpc>
                <a:spcPts val="1340"/>
              </a:lnSpc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UpdateP5Rule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/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UpdateP7Rule</a:t>
            </a:r>
            <a:endParaRPr sz="1200">
              <a:latin typeface="Consolas"/>
              <a:cs typeface="Consolas"/>
            </a:endParaRPr>
          </a:p>
          <a:p>
            <a:pPr marL="266065" marR="5282565">
              <a:lnSpc>
                <a:spcPts val="1350"/>
              </a:lnSpc>
              <a:spcBef>
                <a:spcPts val="110"/>
              </a:spcBef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RemoveP5Rule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/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RemoveP7Rule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GetP5Rules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/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GetP7Rules</a:t>
            </a:r>
            <a:endParaRPr sz="1200">
              <a:latin typeface="Consolas"/>
              <a:cs typeface="Consolas"/>
            </a:endParaRPr>
          </a:p>
          <a:p>
            <a:pPr marL="266065">
              <a:lnSpc>
                <a:spcPts val="1390"/>
              </a:lnSpc>
              <a:tabLst>
                <a:tab pos="2126615" algn="l"/>
              </a:tabLst>
            </a:pP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ExecuteP5Rules(...)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	— DistancePp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/ InnerCircle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계산</a:t>
            </a:r>
            <a:r>
              <a:rPr sz="1200" spc="23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+ Review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XLD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생성</a:t>
            </a:r>
            <a:endParaRPr sz="1200">
              <a:latin typeface="Malgun Gothic"/>
              <a:cs typeface="Malgun Gothic"/>
            </a:endParaRPr>
          </a:p>
          <a:p>
            <a:pPr marL="266065">
              <a:lnSpc>
                <a:spcPts val="1435"/>
              </a:lnSpc>
              <a:tabLst>
                <a:tab pos="2126615" algn="l"/>
              </a:tabLst>
            </a:pP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ExecuteP7Rules(...)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	— AngleLl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/ TupleDeg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계산</a:t>
            </a:r>
            <a:r>
              <a:rPr sz="1200" spc="23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+ Review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XLD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생성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2474" y="1190624"/>
            <a:ext cx="10696575" cy="19050"/>
          </a:xfrm>
          <a:custGeom>
            <a:avLst/>
            <a:gdLst/>
            <a:ahLst/>
            <a:cxnLst/>
            <a:rect l="l" t="t" r="r" b="b"/>
            <a:pathLst>
              <a:path w="10696575" h="19050">
                <a:moveTo>
                  <a:pt x="10696574" y="19049"/>
                </a:moveTo>
                <a:lnTo>
                  <a:pt x="0" y="19049"/>
                </a:lnTo>
                <a:lnTo>
                  <a:pt x="0" y="0"/>
                </a:lnTo>
                <a:lnTo>
                  <a:pt x="10696574" y="0"/>
                </a:lnTo>
                <a:lnTo>
                  <a:pt x="10696574" y="19049"/>
                </a:lnTo>
                <a:close/>
              </a:path>
            </a:pathLst>
          </a:custGeom>
          <a:solidFill>
            <a:srgbClr val="1A52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52474" y="1362074"/>
            <a:ext cx="38100" cy="276225"/>
          </a:xfrm>
          <a:custGeom>
            <a:avLst/>
            <a:gdLst/>
            <a:ahLst/>
            <a:cxnLst/>
            <a:rect l="l" t="t" r="r" b="b"/>
            <a:pathLst>
              <a:path w="38100" h="276225">
                <a:moveTo>
                  <a:pt x="38099" y="276224"/>
                </a:moveTo>
                <a:lnTo>
                  <a:pt x="0" y="276224"/>
                </a:lnTo>
                <a:lnTo>
                  <a:pt x="0" y="0"/>
                </a:lnTo>
                <a:lnTo>
                  <a:pt x="38099" y="0"/>
                </a:lnTo>
                <a:lnTo>
                  <a:pt x="38099" y="276224"/>
                </a:lnTo>
                <a:close/>
              </a:path>
            </a:pathLst>
          </a:custGeom>
          <a:solidFill>
            <a:srgbClr val="D0D9D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52474" y="1790699"/>
            <a:ext cx="10696575" cy="4400550"/>
            <a:chOff x="752474" y="1790699"/>
            <a:chExt cx="10696575" cy="4400550"/>
          </a:xfrm>
        </p:grpSpPr>
        <p:sp>
          <p:nvSpPr>
            <p:cNvPr id="5" name="object 5"/>
            <p:cNvSpPr/>
            <p:nvPr/>
          </p:nvSpPr>
          <p:spPr>
            <a:xfrm>
              <a:off x="757237" y="1795462"/>
              <a:ext cx="10687050" cy="4391025"/>
            </a:xfrm>
            <a:custGeom>
              <a:avLst/>
              <a:gdLst/>
              <a:ahLst/>
              <a:cxnLst/>
              <a:rect l="l" t="t" r="r" b="b"/>
              <a:pathLst>
                <a:path w="10687050" h="4391025">
                  <a:moveTo>
                    <a:pt x="10638100" y="4391024"/>
                  </a:moveTo>
                  <a:lnTo>
                    <a:pt x="48947" y="4391024"/>
                  </a:lnTo>
                  <a:lnTo>
                    <a:pt x="45540" y="4390688"/>
                  </a:lnTo>
                  <a:lnTo>
                    <a:pt x="10739" y="4370601"/>
                  </a:lnTo>
                  <a:lnTo>
                    <a:pt x="0" y="4342076"/>
                  </a:lnTo>
                  <a:lnTo>
                    <a:pt x="0" y="4338636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4342076"/>
                  </a:lnTo>
                  <a:lnTo>
                    <a:pt x="10669272" y="4378111"/>
                  </a:lnTo>
                  <a:lnTo>
                    <a:pt x="10641507" y="4390688"/>
                  </a:lnTo>
                  <a:lnTo>
                    <a:pt x="10638100" y="4391024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57237" y="1795462"/>
              <a:ext cx="10687050" cy="4391025"/>
            </a:xfrm>
            <a:custGeom>
              <a:avLst/>
              <a:gdLst/>
              <a:ahLst/>
              <a:cxnLst/>
              <a:rect l="l" t="t" r="r" b="b"/>
              <a:pathLst>
                <a:path w="10687050" h="4391025">
                  <a:moveTo>
                    <a:pt x="0" y="433863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63765" y="8828"/>
                  </a:lnTo>
                  <a:lnTo>
                    <a:pt x="10666625" y="10739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4338637"/>
                  </a:lnTo>
                  <a:lnTo>
                    <a:pt x="10687049" y="4342077"/>
                  </a:lnTo>
                  <a:lnTo>
                    <a:pt x="10686713" y="4345483"/>
                  </a:lnTo>
                  <a:lnTo>
                    <a:pt x="10666625" y="4380283"/>
                  </a:lnTo>
                  <a:lnTo>
                    <a:pt x="10638100" y="4391024"/>
                  </a:lnTo>
                  <a:lnTo>
                    <a:pt x="10634661" y="4391024"/>
                  </a:lnTo>
                  <a:lnTo>
                    <a:pt x="52387" y="4391024"/>
                  </a:lnTo>
                  <a:lnTo>
                    <a:pt x="48947" y="4391024"/>
                  </a:lnTo>
                  <a:lnTo>
                    <a:pt x="45540" y="4390688"/>
                  </a:lnTo>
                  <a:lnTo>
                    <a:pt x="10739" y="4370601"/>
                  </a:lnTo>
                  <a:lnTo>
                    <a:pt x="1006" y="4348857"/>
                  </a:lnTo>
                  <a:lnTo>
                    <a:pt x="335" y="4345483"/>
                  </a:lnTo>
                  <a:lnTo>
                    <a:pt x="0" y="4342077"/>
                  </a:lnTo>
                  <a:lnTo>
                    <a:pt x="0" y="4338637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TODO</a:t>
            </a:r>
            <a:r>
              <a:rPr spc="10" dirty="0"/>
              <a:t> </a:t>
            </a:r>
            <a:r>
              <a:rPr dirty="0"/>
              <a:t>—</a:t>
            </a:r>
            <a:r>
              <a:rPr spc="20" dirty="0"/>
              <a:t> </a:t>
            </a:r>
            <a:r>
              <a:rPr dirty="0"/>
              <a:t>View</a:t>
            </a:r>
            <a:r>
              <a:rPr spc="20" dirty="0"/>
              <a:t> </a:t>
            </a:r>
            <a:r>
              <a:rPr dirty="0"/>
              <a:t>(1/2)</a:t>
            </a:r>
            <a:r>
              <a:rPr spc="20" dirty="0"/>
              <a:t> </a:t>
            </a:r>
            <a:r>
              <a:rPr dirty="0"/>
              <a:t>:</a:t>
            </a:r>
            <a:r>
              <a:rPr spc="20" dirty="0"/>
              <a:t> </a:t>
            </a:r>
            <a:r>
              <a:rPr sz="2550" b="1" spc="-459" dirty="0">
                <a:latin typeface="Malgun Gothic"/>
                <a:cs typeface="Malgun Gothic"/>
              </a:rPr>
              <a:t>다이얼로그</a:t>
            </a:r>
            <a:r>
              <a:rPr sz="2550" b="1" spc="-250" dirty="0">
                <a:latin typeface="Malgun Gothic"/>
                <a:cs typeface="Malgun Gothic"/>
              </a:rPr>
              <a:t> </a:t>
            </a:r>
            <a:r>
              <a:rPr sz="2550" b="1" spc="-484" dirty="0">
                <a:latin typeface="Malgun Gothic"/>
                <a:cs typeface="Malgun Gothic"/>
              </a:rPr>
              <a:t>리소스</a:t>
            </a:r>
            <a:endParaRPr sz="2550">
              <a:latin typeface="Malgun Gothic"/>
              <a:cs typeface="Malgun Gothic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1549" y="1390649"/>
            <a:ext cx="790575" cy="247650"/>
          </a:xfrm>
          <a:custGeom>
            <a:avLst/>
            <a:gdLst/>
            <a:ahLst/>
            <a:cxnLst/>
            <a:rect l="l" t="t" r="r" b="b"/>
            <a:pathLst>
              <a:path w="790575" h="247650">
                <a:moveTo>
                  <a:pt x="737177" y="247649"/>
                </a:moveTo>
                <a:lnTo>
                  <a:pt x="53397" y="247649"/>
                </a:lnTo>
                <a:lnTo>
                  <a:pt x="49680" y="247283"/>
                </a:lnTo>
                <a:lnTo>
                  <a:pt x="14085" y="228257"/>
                </a:lnTo>
                <a:lnTo>
                  <a:pt x="0" y="194252"/>
                </a:lnTo>
                <a:lnTo>
                  <a:pt x="0" y="190499"/>
                </a:lnTo>
                <a:lnTo>
                  <a:pt x="0" y="53397"/>
                </a:lnTo>
                <a:lnTo>
                  <a:pt x="19392" y="14085"/>
                </a:lnTo>
                <a:lnTo>
                  <a:pt x="53397" y="0"/>
                </a:lnTo>
                <a:lnTo>
                  <a:pt x="737177" y="0"/>
                </a:lnTo>
                <a:lnTo>
                  <a:pt x="776489" y="19392"/>
                </a:lnTo>
                <a:lnTo>
                  <a:pt x="790574" y="53397"/>
                </a:lnTo>
                <a:lnTo>
                  <a:pt x="790574" y="194252"/>
                </a:lnTo>
                <a:lnTo>
                  <a:pt x="771182" y="233564"/>
                </a:lnTo>
                <a:lnTo>
                  <a:pt x="740893" y="247283"/>
                </a:lnTo>
                <a:lnTo>
                  <a:pt x="737177" y="247649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90724" y="1390649"/>
            <a:ext cx="971550" cy="247650"/>
          </a:xfrm>
          <a:custGeom>
            <a:avLst/>
            <a:gdLst/>
            <a:ahLst/>
            <a:cxnLst/>
            <a:rect l="l" t="t" r="r" b="b"/>
            <a:pathLst>
              <a:path w="971550" h="247650">
                <a:moveTo>
                  <a:pt x="918152" y="247649"/>
                </a:moveTo>
                <a:lnTo>
                  <a:pt x="53397" y="247649"/>
                </a:lnTo>
                <a:lnTo>
                  <a:pt x="49680" y="247283"/>
                </a:lnTo>
                <a:lnTo>
                  <a:pt x="14085" y="228257"/>
                </a:lnTo>
                <a:lnTo>
                  <a:pt x="0" y="194252"/>
                </a:lnTo>
                <a:lnTo>
                  <a:pt x="0" y="190499"/>
                </a:lnTo>
                <a:lnTo>
                  <a:pt x="0" y="53397"/>
                </a:lnTo>
                <a:lnTo>
                  <a:pt x="19392" y="14085"/>
                </a:lnTo>
                <a:lnTo>
                  <a:pt x="53397" y="0"/>
                </a:lnTo>
                <a:lnTo>
                  <a:pt x="918152" y="0"/>
                </a:lnTo>
                <a:lnTo>
                  <a:pt x="957464" y="19392"/>
                </a:lnTo>
                <a:lnTo>
                  <a:pt x="971549" y="53397"/>
                </a:lnTo>
                <a:lnTo>
                  <a:pt x="971549" y="194252"/>
                </a:lnTo>
                <a:lnTo>
                  <a:pt x="952157" y="233564"/>
                </a:lnTo>
                <a:lnTo>
                  <a:pt x="921868" y="247283"/>
                </a:lnTo>
                <a:lnTo>
                  <a:pt x="918152" y="247649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01700" y="1354423"/>
            <a:ext cx="5429250" cy="7753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6364">
              <a:lnSpc>
                <a:spcPct val="100000"/>
              </a:lnSpc>
              <a:spcBef>
                <a:spcPts val="110"/>
              </a:spcBef>
            </a:pPr>
            <a:r>
              <a:rPr sz="1800" baseline="2314" dirty="0">
                <a:solidFill>
                  <a:srgbClr val="58626E"/>
                </a:solidFill>
                <a:latin typeface="Consolas"/>
                <a:cs typeface="Consolas"/>
              </a:rPr>
              <a:t>uScan.rc</a:t>
            </a:r>
            <a:r>
              <a:rPr sz="1800" spc="330" baseline="2314" dirty="0">
                <a:solidFill>
                  <a:srgbClr val="58626E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58626E"/>
                </a:solidFill>
                <a:latin typeface="Segoe UI"/>
                <a:cs typeface="Segoe UI"/>
              </a:rPr>
              <a:t>+</a:t>
            </a:r>
            <a:r>
              <a:rPr sz="1400" spc="495" dirty="0">
                <a:solidFill>
                  <a:srgbClr val="58626E"/>
                </a:solidFill>
                <a:latin typeface="Segoe UI"/>
                <a:cs typeface="Segoe UI"/>
              </a:rPr>
              <a:t> </a:t>
            </a:r>
            <a:r>
              <a:rPr sz="1800" baseline="2314" dirty="0">
                <a:solidFill>
                  <a:srgbClr val="58626E"/>
                </a:solidFill>
                <a:latin typeface="Consolas"/>
                <a:cs typeface="Consolas"/>
              </a:rPr>
              <a:t>resource.h</a:t>
            </a:r>
            <a:r>
              <a:rPr sz="1800" spc="330" baseline="2314" dirty="0">
                <a:solidFill>
                  <a:srgbClr val="58626E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58626E"/>
                </a:solidFill>
                <a:latin typeface="Segoe UI"/>
                <a:cs typeface="Segoe UI"/>
              </a:rPr>
              <a:t>—</a:t>
            </a:r>
            <a:r>
              <a:rPr sz="1400" spc="5" dirty="0">
                <a:solidFill>
                  <a:srgbClr val="58626E"/>
                </a:solidFill>
                <a:latin typeface="Segoe UI"/>
                <a:cs typeface="Segoe UI"/>
              </a:rPr>
              <a:t> </a:t>
            </a:r>
            <a:r>
              <a:rPr sz="1600" b="1" spc="-305" dirty="0">
                <a:solidFill>
                  <a:srgbClr val="58626E"/>
                </a:solidFill>
                <a:latin typeface="Malgun Gothic"/>
                <a:cs typeface="Malgun Gothic"/>
              </a:rPr>
              <a:t>리소스</a:t>
            </a:r>
            <a:r>
              <a:rPr sz="1600" b="1" spc="-170" dirty="0">
                <a:solidFill>
                  <a:srgbClr val="58626E"/>
                </a:solidFill>
                <a:latin typeface="Malgun Gothic"/>
                <a:cs typeface="Malgun Gothic"/>
              </a:rPr>
              <a:t> </a:t>
            </a:r>
            <a:r>
              <a:rPr sz="1600" b="1" spc="-305" dirty="0">
                <a:solidFill>
                  <a:srgbClr val="58626E"/>
                </a:solidFill>
                <a:latin typeface="Malgun Gothic"/>
                <a:cs typeface="Malgun Gothic"/>
              </a:rPr>
              <a:t>파일에</a:t>
            </a:r>
            <a:r>
              <a:rPr sz="1600" b="1" spc="-175" dirty="0">
                <a:solidFill>
                  <a:srgbClr val="58626E"/>
                </a:solidFill>
                <a:latin typeface="Malgun Gothic"/>
                <a:cs typeface="Malgun Gothic"/>
              </a:rPr>
              <a:t> </a:t>
            </a:r>
            <a:r>
              <a:rPr sz="1600" b="1" spc="-305" dirty="0">
                <a:solidFill>
                  <a:srgbClr val="58626E"/>
                </a:solidFill>
                <a:latin typeface="Malgun Gothic"/>
                <a:cs typeface="Malgun Gothic"/>
              </a:rPr>
              <a:t>다이얼로그</a:t>
            </a:r>
            <a:r>
              <a:rPr sz="1600" b="1" spc="-170" dirty="0">
                <a:solidFill>
                  <a:srgbClr val="58626E"/>
                </a:solidFill>
                <a:latin typeface="Malgun Gothic"/>
                <a:cs typeface="Malgun Gothic"/>
              </a:rPr>
              <a:t> </a:t>
            </a:r>
            <a:r>
              <a:rPr sz="1600" b="1" spc="-305" dirty="0">
                <a:solidFill>
                  <a:srgbClr val="58626E"/>
                </a:solidFill>
                <a:latin typeface="Malgun Gothic"/>
                <a:cs typeface="Malgun Gothic"/>
              </a:rPr>
              <a:t>정의</a:t>
            </a:r>
            <a:r>
              <a:rPr sz="1600" b="1" spc="-170" dirty="0">
                <a:solidFill>
                  <a:srgbClr val="58626E"/>
                </a:solidFill>
                <a:latin typeface="Malgun Gothic"/>
                <a:cs typeface="Malgun Gothic"/>
              </a:rPr>
              <a:t> </a:t>
            </a:r>
            <a:r>
              <a:rPr sz="1600" b="1" spc="-305" dirty="0">
                <a:solidFill>
                  <a:srgbClr val="58626E"/>
                </a:solidFill>
                <a:latin typeface="Malgun Gothic"/>
                <a:cs typeface="Malgun Gothic"/>
              </a:rPr>
              <a:t>추가</a:t>
            </a:r>
            <a:r>
              <a:rPr sz="1600" b="1" spc="-175" dirty="0">
                <a:solidFill>
                  <a:srgbClr val="58626E"/>
                </a:solidFill>
                <a:latin typeface="Malgun Gothic"/>
                <a:cs typeface="Malgun Gothic"/>
              </a:rPr>
              <a:t> </a:t>
            </a:r>
            <a:r>
              <a:rPr sz="1600" b="1" spc="-330" dirty="0">
                <a:solidFill>
                  <a:srgbClr val="58626E"/>
                </a:solidFill>
                <a:latin typeface="Malgun Gothic"/>
                <a:cs typeface="Malgun Gothic"/>
              </a:rPr>
              <a:t>필요</a:t>
            </a:r>
            <a:endParaRPr sz="16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2530"/>
              </a:spcBef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//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resource.h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에</a:t>
            </a:r>
            <a:r>
              <a:rPr sz="1200" spc="23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추가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882650" y="2152705"/>
          <a:ext cx="3869055" cy="676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6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6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65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2560">
                <a:tc>
                  <a:txBody>
                    <a:bodyPr/>
                    <a:lstStyle/>
                    <a:p>
                      <a:pPr marR="2540" algn="ctr">
                        <a:lnSpc>
                          <a:spcPts val="1140"/>
                        </a:lnSpc>
                      </a:pPr>
                      <a:r>
                        <a:rPr sz="1200" spc="-1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#define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40"/>
                        </a:lnSpc>
                      </a:pPr>
                      <a:r>
                        <a:rPr sz="1200" spc="-1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IDD_TEACH_FAI_DYNAMIC_RULE_DLG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140"/>
                        </a:lnSpc>
                      </a:pPr>
                      <a:r>
                        <a:rPr sz="1200" spc="-25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419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895">
                <a:tc>
                  <a:txBody>
                    <a:bodyPr/>
                    <a:lstStyle/>
                    <a:p>
                      <a:pPr marR="2540" algn="ctr">
                        <a:lnSpc>
                          <a:spcPts val="1210"/>
                        </a:lnSpc>
                      </a:pPr>
                      <a:r>
                        <a:rPr sz="1200" spc="-1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#define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210"/>
                        </a:lnSpc>
                      </a:pPr>
                      <a:r>
                        <a:rPr sz="1200" spc="-1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IDC_LIST_DYNAMIC_P5_RULES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210"/>
                        </a:lnSpc>
                      </a:pPr>
                      <a:r>
                        <a:rPr sz="1200" spc="-2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8628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455">
                <a:tc>
                  <a:txBody>
                    <a:bodyPr/>
                    <a:lstStyle/>
                    <a:p>
                      <a:pPr marL="31750">
                        <a:lnSpc>
                          <a:spcPts val="1200"/>
                        </a:lnSpc>
                      </a:pPr>
                      <a:r>
                        <a:rPr sz="1200" spc="-25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...</a:t>
                      </a:r>
                      <a:endParaRPr sz="1200">
                        <a:latin typeface="Consolas"/>
                        <a:cs typeface="Consolas"/>
                      </a:endParaRPr>
                    </a:p>
                    <a:p>
                      <a:pPr marL="31750">
                        <a:lnSpc>
                          <a:spcPts val="1365"/>
                        </a:lnSpc>
                      </a:pPr>
                      <a:r>
                        <a:rPr sz="1200" spc="-1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#define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410"/>
                        </a:lnSpc>
                        <a:spcBef>
                          <a:spcPts val="1155"/>
                        </a:spcBef>
                      </a:pPr>
                      <a:r>
                        <a:rPr sz="1200" spc="-1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IDC_BTN_DYN_CLOSE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T="146685" marB="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410"/>
                        </a:lnSpc>
                        <a:spcBef>
                          <a:spcPts val="1155"/>
                        </a:spcBef>
                      </a:pPr>
                      <a:r>
                        <a:rPr sz="1200" spc="-2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8635</a:t>
                      </a:r>
                      <a:endParaRPr sz="1200">
                        <a:latin typeface="Consolas"/>
                        <a:cs typeface="Consolas"/>
                      </a:endParaRPr>
                    </a:p>
                  </a:txBody>
                  <a:tcPr marL="0" marR="0" marT="14668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901700" y="2976721"/>
            <a:ext cx="4375785" cy="1981835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165"/>
              </a:spcBef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//</a:t>
            </a:r>
            <a:r>
              <a:rPr sz="1200" spc="-2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uScan.rc</a:t>
            </a:r>
            <a:r>
              <a:rPr sz="1200" spc="-2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에</a:t>
            </a:r>
            <a:r>
              <a:rPr sz="1200" spc="21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다이얼로그</a:t>
            </a:r>
            <a:r>
              <a:rPr sz="1200" spc="21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레이아웃</a:t>
            </a:r>
            <a:r>
              <a:rPr sz="1200" spc="21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추가</a:t>
            </a:r>
            <a:r>
              <a:rPr sz="1200" spc="21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(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대략적인</a:t>
            </a:r>
            <a:r>
              <a:rPr sz="1200" spc="21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구조</a:t>
            </a:r>
            <a:r>
              <a:rPr sz="1200" spc="-25" dirty="0">
                <a:solidFill>
                  <a:srgbClr val="1F2328"/>
                </a:solidFill>
                <a:latin typeface="Consolas"/>
                <a:cs typeface="Consolas"/>
              </a:rPr>
              <a:t>)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IDD_TEACH_FAI_DYNAMIC_RULE_DLG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DIALOG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Consolas"/>
                <a:cs typeface="Consolas"/>
              </a:rPr>
              <a:t>...</a:t>
            </a:r>
            <a:endParaRPr sz="1200">
              <a:latin typeface="Consolas"/>
              <a:cs typeface="Consolas"/>
            </a:endParaRPr>
          </a:p>
          <a:p>
            <a:pPr marL="181610">
              <a:lnSpc>
                <a:spcPts val="1330"/>
              </a:lnSpc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//</a:t>
            </a:r>
            <a:r>
              <a:rPr sz="1200" spc="-2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상단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영역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: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P5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규칙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리스트</a:t>
            </a:r>
            <a:endParaRPr sz="1200">
              <a:latin typeface="Malgun Gothic"/>
              <a:cs typeface="Malgun Gothic"/>
            </a:endParaRPr>
          </a:p>
          <a:p>
            <a:pPr marL="181610" marR="73660">
              <a:lnSpc>
                <a:spcPct val="96400"/>
              </a:lnSpc>
              <a:spcBef>
                <a:spcPts val="10"/>
              </a:spcBef>
              <a:tabLst>
                <a:tab pos="1111885" algn="l"/>
                <a:tab pos="1450340" algn="l"/>
                <a:tab pos="1755139" algn="l"/>
              </a:tabLst>
            </a:pP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GROUPBOX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	"P5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규칙</a:t>
            </a:r>
            <a:r>
              <a:rPr sz="1200" spc="23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(</a:t>
            </a:r>
            <a:r>
              <a:rPr sz="1200" spc="-10" dirty="0">
                <a:solidFill>
                  <a:srgbClr val="1F2328"/>
                </a:solidFill>
                <a:latin typeface="Malgun Gothic"/>
                <a:cs typeface="Malgun Gothic"/>
              </a:rPr>
              <a:t>점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-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점</a:t>
            </a:r>
            <a:r>
              <a:rPr sz="1200" spc="229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거리</a:t>
            </a:r>
            <a:r>
              <a:rPr sz="1200" spc="23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/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원</a:t>
            </a:r>
            <a:r>
              <a:rPr sz="1200" spc="23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1F2328"/>
                </a:solidFill>
                <a:latin typeface="Malgun Gothic"/>
                <a:cs typeface="Malgun Gothic"/>
              </a:rPr>
              <a:t>지름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·8</a:t>
            </a:r>
            <a:r>
              <a:rPr sz="1200" spc="-10" dirty="0">
                <a:solidFill>
                  <a:srgbClr val="1F2328"/>
                </a:solidFill>
                <a:latin typeface="Malgun Gothic"/>
                <a:cs typeface="Malgun Gothic"/>
              </a:rPr>
              <a:t>포인트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)" SysListView32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	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IDC_LIST_DYNAMIC_P5_RULES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PUSHBUTTON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20" dirty="0">
                <a:solidFill>
                  <a:srgbClr val="1F2328"/>
                </a:solidFill>
                <a:latin typeface="Consolas"/>
                <a:cs typeface="Consolas"/>
              </a:rPr>
              <a:t>"</a:t>
            </a:r>
            <a:r>
              <a:rPr sz="1200" spc="-20" dirty="0">
                <a:solidFill>
                  <a:srgbClr val="1F2328"/>
                </a:solidFill>
                <a:latin typeface="Malgun Gothic"/>
                <a:cs typeface="Malgun Gothic"/>
              </a:rPr>
              <a:t>추가</a:t>
            </a:r>
            <a:r>
              <a:rPr sz="1200" spc="-20" dirty="0">
                <a:solidFill>
                  <a:srgbClr val="1F2328"/>
                </a:solidFill>
                <a:latin typeface="Consolas"/>
                <a:cs typeface="Consolas"/>
              </a:rPr>
              <a:t>"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	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IDC_BTN_DYN_ADD_P5</a:t>
            </a:r>
            <a:endParaRPr sz="1200">
              <a:latin typeface="Consolas"/>
              <a:cs typeface="Consolas"/>
            </a:endParaRPr>
          </a:p>
          <a:p>
            <a:pPr marL="181610">
              <a:lnSpc>
                <a:spcPts val="1425"/>
              </a:lnSpc>
              <a:tabLst>
                <a:tab pos="1755139" algn="l"/>
              </a:tabLst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PUSHBUTTON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20" dirty="0">
                <a:solidFill>
                  <a:srgbClr val="1F2328"/>
                </a:solidFill>
                <a:latin typeface="Consolas"/>
                <a:cs typeface="Consolas"/>
              </a:rPr>
              <a:t>"</a:t>
            </a:r>
            <a:r>
              <a:rPr sz="1200" spc="-20" dirty="0">
                <a:solidFill>
                  <a:srgbClr val="1F2328"/>
                </a:solidFill>
                <a:latin typeface="Malgun Gothic"/>
                <a:cs typeface="Malgun Gothic"/>
              </a:rPr>
              <a:t>삭제</a:t>
            </a:r>
            <a:r>
              <a:rPr sz="1200" spc="-20" dirty="0">
                <a:solidFill>
                  <a:srgbClr val="1F2328"/>
                </a:solidFill>
                <a:latin typeface="Consolas"/>
                <a:cs typeface="Consolas"/>
              </a:rPr>
              <a:t>"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	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IDC_BTN_DYN_DEL_P5</a:t>
            </a:r>
            <a:endParaRPr sz="1200">
              <a:latin typeface="Consolas"/>
              <a:cs typeface="Consolas"/>
            </a:endParaRPr>
          </a:p>
          <a:p>
            <a:pPr marL="181610">
              <a:lnSpc>
                <a:spcPts val="1430"/>
              </a:lnSpc>
              <a:spcBef>
                <a:spcPts val="1335"/>
              </a:spcBef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//</a:t>
            </a:r>
            <a:r>
              <a:rPr sz="1200" spc="-2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하단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영역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: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P7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규칙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리스트</a:t>
            </a:r>
            <a:endParaRPr sz="1200">
              <a:latin typeface="Malgun Gothic"/>
              <a:cs typeface="Malgun Gothic"/>
            </a:endParaRPr>
          </a:p>
          <a:p>
            <a:pPr marL="181610">
              <a:lnSpc>
                <a:spcPts val="1390"/>
              </a:lnSpc>
              <a:tabLst>
                <a:tab pos="1111885" algn="l"/>
              </a:tabLst>
            </a:pP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GROUPBOX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	"P7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규칙</a:t>
            </a:r>
            <a:r>
              <a:rPr sz="1200" spc="23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(</a:t>
            </a:r>
            <a:r>
              <a:rPr sz="1200" spc="-10" dirty="0">
                <a:solidFill>
                  <a:srgbClr val="1F2328"/>
                </a:solidFill>
                <a:latin typeface="Malgun Gothic"/>
                <a:cs typeface="Malgun Gothic"/>
              </a:rPr>
              <a:t>선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-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선</a:t>
            </a:r>
            <a:r>
              <a:rPr sz="1200" spc="23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20" dirty="0">
                <a:solidFill>
                  <a:srgbClr val="1F2328"/>
                </a:solidFill>
                <a:latin typeface="Malgun Gothic"/>
                <a:cs typeface="Malgun Gothic"/>
              </a:rPr>
              <a:t>각도</a:t>
            </a:r>
            <a:r>
              <a:rPr sz="1200" spc="-20" dirty="0">
                <a:solidFill>
                  <a:srgbClr val="1F2328"/>
                </a:solidFill>
                <a:latin typeface="Consolas"/>
                <a:cs typeface="Consolas"/>
              </a:rPr>
              <a:t>)"</a:t>
            </a:r>
            <a:endParaRPr sz="1200">
              <a:latin typeface="Consolas"/>
              <a:cs typeface="Consolas"/>
            </a:endParaRPr>
          </a:p>
          <a:p>
            <a:pPr marL="181610">
              <a:lnSpc>
                <a:spcPts val="1395"/>
              </a:lnSpc>
              <a:tabLst>
                <a:tab pos="1450340" algn="l"/>
              </a:tabLst>
            </a:pP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SysListView32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	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IDC_LIST_DYNAMIC_P7_RULES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70851" y="4929346"/>
            <a:ext cx="1430020" cy="38163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>
              <a:lnSpc>
                <a:spcPts val="1350"/>
              </a:lnSpc>
              <a:spcBef>
                <a:spcPts val="229"/>
              </a:spcBef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PUSHBUTTON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20" dirty="0">
                <a:solidFill>
                  <a:srgbClr val="1F2328"/>
                </a:solidFill>
                <a:latin typeface="Consolas"/>
                <a:cs typeface="Consolas"/>
              </a:rPr>
              <a:t>"</a:t>
            </a:r>
            <a:r>
              <a:rPr sz="1200" spc="-20" dirty="0">
                <a:solidFill>
                  <a:srgbClr val="1F2328"/>
                </a:solidFill>
                <a:latin typeface="Malgun Gothic"/>
                <a:cs typeface="Malgun Gothic"/>
              </a:rPr>
              <a:t>추가</a:t>
            </a:r>
            <a:r>
              <a:rPr sz="1200" spc="-20" dirty="0">
                <a:solidFill>
                  <a:srgbClr val="1F2328"/>
                </a:solidFill>
                <a:latin typeface="Consolas"/>
                <a:cs typeface="Consolas"/>
              </a:rPr>
              <a:t>"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PUSHBUTTON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20" dirty="0">
                <a:solidFill>
                  <a:srgbClr val="1F2328"/>
                </a:solidFill>
                <a:latin typeface="Consolas"/>
                <a:cs typeface="Consolas"/>
              </a:rPr>
              <a:t>"</a:t>
            </a:r>
            <a:r>
              <a:rPr sz="1200" spc="-20" dirty="0">
                <a:solidFill>
                  <a:srgbClr val="1F2328"/>
                </a:solidFill>
                <a:latin typeface="Malgun Gothic"/>
                <a:cs typeface="Malgun Gothic"/>
              </a:rPr>
              <a:t>삭제</a:t>
            </a:r>
            <a:r>
              <a:rPr sz="1200" spc="-20" dirty="0">
                <a:solidFill>
                  <a:srgbClr val="1F2328"/>
                </a:solidFill>
                <a:latin typeface="Consolas"/>
                <a:cs typeface="Consolas"/>
              </a:rPr>
              <a:t>"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44285" y="4929346"/>
            <a:ext cx="1548130" cy="38163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>
              <a:lnSpc>
                <a:spcPts val="1350"/>
              </a:lnSpc>
              <a:spcBef>
                <a:spcPts val="229"/>
              </a:spcBef>
            </a:pP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IDC_BTN_DYN_ADD_P7 IDC_BTN_DYN_DEL_P7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70851" y="5462746"/>
            <a:ext cx="1449070" cy="56261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algn="just">
              <a:lnSpc>
                <a:spcPct val="96400"/>
              </a:lnSpc>
              <a:spcBef>
                <a:spcPts val="160"/>
              </a:spcBef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//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우측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: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1F2328"/>
                </a:solidFill>
                <a:latin typeface="Malgun Gothic"/>
                <a:cs typeface="Malgun Gothic"/>
              </a:rPr>
              <a:t>저장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/</a:t>
            </a:r>
            <a:r>
              <a:rPr sz="1200" spc="-10" dirty="0">
                <a:solidFill>
                  <a:srgbClr val="1F2328"/>
                </a:solidFill>
                <a:latin typeface="Malgun Gothic"/>
                <a:cs typeface="Malgun Gothic"/>
              </a:rPr>
              <a:t>닫기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PUSHBUTTON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20" dirty="0">
                <a:solidFill>
                  <a:srgbClr val="1F2328"/>
                </a:solidFill>
                <a:latin typeface="Consolas"/>
                <a:cs typeface="Consolas"/>
              </a:rPr>
              <a:t>"</a:t>
            </a:r>
            <a:r>
              <a:rPr sz="1200" spc="-20" dirty="0">
                <a:solidFill>
                  <a:srgbClr val="1F2328"/>
                </a:solidFill>
                <a:latin typeface="Malgun Gothic"/>
                <a:cs typeface="Malgun Gothic"/>
              </a:rPr>
              <a:t>저장</a:t>
            </a:r>
            <a:r>
              <a:rPr sz="1200" spc="-20" dirty="0">
                <a:solidFill>
                  <a:srgbClr val="1F2328"/>
                </a:solidFill>
                <a:latin typeface="Consolas"/>
                <a:cs typeface="Consolas"/>
              </a:rPr>
              <a:t>"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PUSHBUTTON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20" dirty="0">
                <a:solidFill>
                  <a:srgbClr val="1F2328"/>
                </a:solidFill>
                <a:latin typeface="Consolas"/>
                <a:cs typeface="Consolas"/>
              </a:rPr>
              <a:t>"</a:t>
            </a:r>
            <a:r>
              <a:rPr sz="1200" spc="-20" dirty="0">
                <a:solidFill>
                  <a:srgbClr val="1F2328"/>
                </a:solidFill>
                <a:latin typeface="Malgun Gothic"/>
                <a:cs typeface="Malgun Gothic"/>
              </a:rPr>
              <a:t>닫기</a:t>
            </a:r>
            <a:r>
              <a:rPr sz="1200" spc="-20" dirty="0">
                <a:solidFill>
                  <a:srgbClr val="1F2328"/>
                </a:solidFill>
                <a:latin typeface="Consolas"/>
                <a:cs typeface="Consolas"/>
              </a:rPr>
              <a:t>"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44285" y="5634196"/>
            <a:ext cx="1463675" cy="39116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ts val="1420"/>
              </a:lnSpc>
              <a:spcBef>
                <a:spcPts val="175"/>
              </a:spcBef>
            </a:pP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IDC_BTN_DYN_SAVE IDC_BTN_DYN_CLOSE</a:t>
            </a:r>
            <a:endParaRPr sz="12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2474" y="1238249"/>
            <a:ext cx="10696575" cy="19050"/>
          </a:xfrm>
          <a:custGeom>
            <a:avLst/>
            <a:gdLst/>
            <a:ahLst/>
            <a:cxnLst/>
            <a:rect l="l" t="t" r="r" b="b"/>
            <a:pathLst>
              <a:path w="10696575" h="19050">
                <a:moveTo>
                  <a:pt x="10696574" y="19049"/>
                </a:moveTo>
                <a:lnTo>
                  <a:pt x="0" y="19049"/>
                </a:lnTo>
                <a:lnTo>
                  <a:pt x="0" y="0"/>
                </a:lnTo>
                <a:lnTo>
                  <a:pt x="10696574" y="0"/>
                </a:lnTo>
                <a:lnTo>
                  <a:pt x="10696574" y="19049"/>
                </a:lnTo>
                <a:close/>
              </a:path>
            </a:pathLst>
          </a:custGeom>
          <a:solidFill>
            <a:srgbClr val="1A52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52474" y="1409699"/>
            <a:ext cx="38100" cy="276225"/>
          </a:xfrm>
          <a:custGeom>
            <a:avLst/>
            <a:gdLst/>
            <a:ahLst/>
            <a:cxnLst/>
            <a:rect l="l" t="t" r="r" b="b"/>
            <a:pathLst>
              <a:path w="38100" h="276225">
                <a:moveTo>
                  <a:pt x="38099" y="276224"/>
                </a:moveTo>
                <a:lnTo>
                  <a:pt x="0" y="276224"/>
                </a:lnTo>
                <a:lnTo>
                  <a:pt x="0" y="0"/>
                </a:lnTo>
                <a:lnTo>
                  <a:pt x="38099" y="0"/>
                </a:lnTo>
                <a:lnTo>
                  <a:pt x="38099" y="276224"/>
                </a:lnTo>
                <a:close/>
              </a:path>
            </a:pathLst>
          </a:custGeom>
          <a:solidFill>
            <a:srgbClr val="D0D9D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52474" y="1838324"/>
            <a:ext cx="10696575" cy="4219575"/>
            <a:chOff x="752474" y="1838324"/>
            <a:chExt cx="10696575" cy="4219575"/>
          </a:xfrm>
        </p:grpSpPr>
        <p:sp>
          <p:nvSpPr>
            <p:cNvPr id="5" name="object 5"/>
            <p:cNvSpPr/>
            <p:nvPr/>
          </p:nvSpPr>
          <p:spPr>
            <a:xfrm>
              <a:off x="757237" y="1843087"/>
              <a:ext cx="10687050" cy="4210050"/>
            </a:xfrm>
            <a:custGeom>
              <a:avLst/>
              <a:gdLst/>
              <a:ahLst/>
              <a:cxnLst/>
              <a:rect l="l" t="t" r="r" b="b"/>
              <a:pathLst>
                <a:path w="10687050" h="4210050">
                  <a:moveTo>
                    <a:pt x="10638100" y="4210049"/>
                  </a:moveTo>
                  <a:lnTo>
                    <a:pt x="48947" y="4210049"/>
                  </a:lnTo>
                  <a:lnTo>
                    <a:pt x="45540" y="4209713"/>
                  </a:lnTo>
                  <a:lnTo>
                    <a:pt x="10739" y="4189626"/>
                  </a:lnTo>
                  <a:lnTo>
                    <a:pt x="0" y="4161102"/>
                  </a:lnTo>
                  <a:lnTo>
                    <a:pt x="0" y="41576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6"/>
                  </a:lnTo>
                  <a:lnTo>
                    <a:pt x="10687049" y="48947"/>
                  </a:lnTo>
                  <a:lnTo>
                    <a:pt x="10687049" y="4161102"/>
                  </a:lnTo>
                  <a:lnTo>
                    <a:pt x="10669272" y="4197137"/>
                  </a:lnTo>
                  <a:lnTo>
                    <a:pt x="10641507" y="4209713"/>
                  </a:lnTo>
                  <a:lnTo>
                    <a:pt x="10638100" y="4210049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57237" y="1843087"/>
              <a:ext cx="10687050" cy="4210050"/>
            </a:xfrm>
            <a:custGeom>
              <a:avLst/>
              <a:gdLst/>
              <a:ahLst/>
              <a:cxnLst/>
              <a:rect l="l" t="t" r="r" b="b"/>
              <a:pathLst>
                <a:path w="10687050" h="4210050">
                  <a:moveTo>
                    <a:pt x="0" y="41576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6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63765" y="8828"/>
                  </a:lnTo>
                  <a:lnTo>
                    <a:pt x="10666625" y="10739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4157662"/>
                  </a:lnTo>
                  <a:lnTo>
                    <a:pt x="10687049" y="4161102"/>
                  </a:lnTo>
                  <a:lnTo>
                    <a:pt x="10686713" y="4164508"/>
                  </a:lnTo>
                  <a:lnTo>
                    <a:pt x="10666625" y="4199309"/>
                  </a:lnTo>
                  <a:lnTo>
                    <a:pt x="10644881" y="4209042"/>
                  </a:lnTo>
                  <a:lnTo>
                    <a:pt x="10641507" y="4209713"/>
                  </a:lnTo>
                  <a:lnTo>
                    <a:pt x="10638100" y="4210049"/>
                  </a:lnTo>
                  <a:lnTo>
                    <a:pt x="10634661" y="4210049"/>
                  </a:lnTo>
                  <a:lnTo>
                    <a:pt x="52387" y="4210049"/>
                  </a:lnTo>
                  <a:lnTo>
                    <a:pt x="48947" y="4210049"/>
                  </a:lnTo>
                  <a:lnTo>
                    <a:pt x="45540" y="4209713"/>
                  </a:lnTo>
                  <a:lnTo>
                    <a:pt x="42167" y="4209042"/>
                  </a:lnTo>
                  <a:lnTo>
                    <a:pt x="38793" y="4208371"/>
                  </a:lnTo>
                  <a:lnTo>
                    <a:pt x="23282" y="4201219"/>
                  </a:lnTo>
                  <a:lnTo>
                    <a:pt x="20422" y="4199309"/>
                  </a:lnTo>
                  <a:lnTo>
                    <a:pt x="1006" y="4167881"/>
                  </a:lnTo>
                  <a:lnTo>
                    <a:pt x="335" y="4164508"/>
                  </a:lnTo>
                  <a:lnTo>
                    <a:pt x="0" y="4161102"/>
                  </a:lnTo>
                  <a:lnTo>
                    <a:pt x="0" y="4157662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5012" y="793115"/>
            <a:ext cx="6682740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TODO</a:t>
            </a:r>
            <a:r>
              <a:rPr spc="25" dirty="0"/>
              <a:t> </a:t>
            </a:r>
            <a:r>
              <a:rPr dirty="0"/>
              <a:t>—</a:t>
            </a:r>
            <a:r>
              <a:rPr spc="20" dirty="0"/>
              <a:t> </a:t>
            </a:r>
            <a:r>
              <a:rPr dirty="0"/>
              <a:t>View</a:t>
            </a:r>
            <a:r>
              <a:rPr spc="25" dirty="0"/>
              <a:t> </a:t>
            </a:r>
            <a:r>
              <a:rPr dirty="0"/>
              <a:t>(2/2)</a:t>
            </a:r>
            <a:r>
              <a:rPr spc="25" dirty="0"/>
              <a:t> </a:t>
            </a:r>
            <a:r>
              <a:rPr dirty="0"/>
              <a:t>:</a:t>
            </a:r>
            <a:r>
              <a:rPr spc="20" dirty="0"/>
              <a:t> </a:t>
            </a:r>
            <a:r>
              <a:rPr spc="-10" dirty="0"/>
              <a:t>TeachFaiDynamicRuleDlg.cpp</a:t>
            </a:r>
          </a:p>
        </p:txBody>
      </p:sp>
      <p:sp>
        <p:nvSpPr>
          <p:cNvPr id="8" name="object 8"/>
          <p:cNvSpPr/>
          <p:nvPr/>
        </p:nvSpPr>
        <p:spPr>
          <a:xfrm>
            <a:off x="1352549" y="1447799"/>
            <a:ext cx="2314575" cy="238125"/>
          </a:xfrm>
          <a:custGeom>
            <a:avLst/>
            <a:gdLst/>
            <a:ahLst/>
            <a:cxnLst/>
            <a:rect l="l" t="t" r="r" b="b"/>
            <a:pathLst>
              <a:path w="2314575" h="238125">
                <a:moveTo>
                  <a:pt x="2261177" y="238124"/>
                </a:moveTo>
                <a:lnTo>
                  <a:pt x="53397" y="238124"/>
                </a:lnTo>
                <a:lnTo>
                  <a:pt x="49680" y="237758"/>
                </a:lnTo>
                <a:lnTo>
                  <a:pt x="14085" y="218732"/>
                </a:lnTo>
                <a:lnTo>
                  <a:pt x="0" y="184727"/>
                </a:lnTo>
                <a:lnTo>
                  <a:pt x="0" y="180974"/>
                </a:lnTo>
                <a:lnTo>
                  <a:pt x="0" y="53397"/>
                </a:lnTo>
                <a:lnTo>
                  <a:pt x="19392" y="14085"/>
                </a:lnTo>
                <a:lnTo>
                  <a:pt x="53397" y="0"/>
                </a:lnTo>
                <a:lnTo>
                  <a:pt x="2261177" y="0"/>
                </a:lnTo>
                <a:lnTo>
                  <a:pt x="2300488" y="19392"/>
                </a:lnTo>
                <a:lnTo>
                  <a:pt x="2314574" y="53397"/>
                </a:lnTo>
                <a:lnTo>
                  <a:pt x="2314574" y="184727"/>
                </a:lnTo>
                <a:lnTo>
                  <a:pt x="2295182" y="224039"/>
                </a:lnTo>
                <a:lnTo>
                  <a:pt x="2264893" y="237758"/>
                </a:lnTo>
                <a:lnTo>
                  <a:pt x="2261177" y="238124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398190" y="1454804"/>
            <a:ext cx="222440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-10" dirty="0">
                <a:solidFill>
                  <a:srgbClr val="58626E"/>
                </a:solidFill>
                <a:latin typeface="Consolas"/>
                <a:cs typeface="Consolas"/>
              </a:rPr>
              <a:t>TeachFaiDynamicRuleDlg.cpp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954087" y="1402048"/>
            <a:ext cx="5344795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766695" algn="l"/>
              </a:tabLst>
            </a:pPr>
            <a:r>
              <a:rPr sz="1600" spc="-330" dirty="0">
                <a:solidFill>
                  <a:srgbClr val="58626E"/>
                </a:solidFill>
                <a:latin typeface="Malgun Gothic"/>
                <a:cs typeface="Malgun Gothic"/>
              </a:rPr>
              <a:t>모두</a:t>
            </a:r>
            <a:r>
              <a:rPr sz="1600" dirty="0">
                <a:solidFill>
                  <a:srgbClr val="58626E"/>
                </a:solidFill>
                <a:latin typeface="Malgun Gothic"/>
                <a:cs typeface="Malgun Gothic"/>
              </a:rPr>
              <a:t>	</a:t>
            </a:r>
            <a:r>
              <a:rPr sz="1600" spc="-305" dirty="0">
                <a:solidFill>
                  <a:srgbClr val="58626E"/>
                </a:solidFill>
                <a:latin typeface="Malgun Gothic"/>
                <a:cs typeface="Malgun Gothic"/>
              </a:rPr>
              <a:t>내부</a:t>
            </a:r>
            <a:r>
              <a:rPr sz="1600" spc="-175" dirty="0">
                <a:solidFill>
                  <a:srgbClr val="58626E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58626E"/>
                </a:solidFill>
                <a:latin typeface="Segoe UI"/>
                <a:cs typeface="Segoe UI"/>
              </a:rPr>
              <a:t>—</a:t>
            </a:r>
            <a:r>
              <a:rPr sz="1400" spc="-30" dirty="0">
                <a:solidFill>
                  <a:srgbClr val="58626E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58626E"/>
                </a:solidFill>
                <a:latin typeface="Segoe UI Semibold"/>
                <a:cs typeface="Segoe UI Semibold"/>
              </a:rPr>
              <a:t>FAI </a:t>
            </a:r>
            <a:r>
              <a:rPr sz="1600" b="1" spc="-305" dirty="0">
                <a:solidFill>
                  <a:srgbClr val="58626E"/>
                </a:solidFill>
                <a:latin typeface="Malgun Gothic"/>
                <a:cs typeface="Malgun Gothic"/>
              </a:rPr>
              <a:t>설정</a:t>
            </a:r>
            <a:r>
              <a:rPr sz="1600" b="1" spc="-175" dirty="0">
                <a:solidFill>
                  <a:srgbClr val="58626E"/>
                </a:solidFill>
                <a:latin typeface="Malgun Gothic"/>
                <a:cs typeface="Malgun Gothic"/>
              </a:rPr>
              <a:t> </a:t>
            </a:r>
            <a:r>
              <a:rPr sz="1600" b="1" spc="-305" dirty="0">
                <a:solidFill>
                  <a:srgbClr val="58626E"/>
                </a:solidFill>
                <a:latin typeface="Malgun Gothic"/>
                <a:cs typeface="Malgun Gothic"/>
              </a:rPr>
              <a:t>함수들</a:t>
            </a:r>
            <a:r>
              <a:rPr sz="1600" b="1" spc="-175" dirty="0">
                <a:solidFill>
                  <a:srgbClr val="58626E"/>
                </a:solidFill>
                <a:latin typeface="Malgun Gothic"/>
                <a:cs typeface="Malgun Gothic"/>
              </a:rPr>
              <a:t> </a:t>
            </a:r>
            <a:r>
              <a:rPr sz="1600" b="1" spc="-305" dirty="0">
                <a:solidFill>
                  <a:srgbClr val="58626E"/>
                </a:solidFill>
                <a:latin typeface="Malgun Gothic"/>
                <a:cs typeface="Malgun Gothic"/>
              </a:rPr>
              <a:t>구현</a:t>
            </a:r>
            <a:r>
              <a:rPr sz="1600" b="1" spc="-175" dirty="0">
                <a:solidFill>
                  <a:srgbClr val="58626E"/>
                </a:solidFill>
                <a:latin typeface="Malgun Gothic"/>
                <a:cs typeface="Malgun Gothic"/>
              </a:rPr>
              <a:t> </a:t>
            </a:r>
            <a:r>
              <a:rPr sz="1600" b="1" spc="-330" dirty="0">
                <a:solidFill>
                  <a:srgbClr val="58626E"/>
                </a:solidFill>
                <a:latin typeface="Malgun Gothic"/>
                <a:cs typeface="Malgun Gothic"/>
              </a:rPr>
              <a:t>필요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1700" y="1967071"/>
            <a:ext cx="3580129" cy="3911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1430"/>
              </a:lnSpc>
              <a:spcBef>
                <a:spcPts val="110"/>
              </a:spcBef>
            </a:pP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OnInitDialog():</a:t>
            </a:r>
            <a:endParaRPr sz="1200">
              <a:latin typeface="Consolas"/>
              <a:cs typeface="Consolas"/>
            </a:endParaRPr>
          </a:p>
          <a:p>
            <a:pPr marL="181610">
              <a:lnSpc>
                <a:spcPts val="1430"/>
              </a:lnSpc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//</a:t>
            </a:r>
            <a:r>
              <a:rPr sz="1200" spc="-1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P5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리스트</a:t>
            </a:r>
            <a:r>
              <a:rPr sz="1200" spc="21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컬럼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설정</a:t>
            </a:r>
            <a:r>
              <a:rPr sz="1200" spc="21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(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현재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주석처리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상태</a:t>
            </a:r>
            <a:r>
              <a:rPr sz="1200" spc="-25" dirty="0">
                <a:solidFill>
                  <a:srgbClr val="1F2328"/>
                </a:solidFill>
                <a:latin typeface="Consolas"/>
                <a:cs typeface="Consolas"/>
              </a:rPr>
              <a:t>)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30998" y="2319496"/>
            <a:ext cx="786765" cy="39116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165"/>
              </a:spcBef>
            </a:pP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width=50) width=90)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45906" y="2500471"/>
            <a:ext cx="264731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//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"POINT_DIST"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or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"CIRCLE_8PT"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70851" y="2319496"/>
            <a:ext cx="2732405" cy="56261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165"/>
              </a:spcBef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m_listP5.InsertColumn(0,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"FAI#",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m_listP5.InsertColumn(1,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"Type",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ts val="1300"/>
              </a:lnSpc>
            </a:pPr>
            <a:r>
              <a:rPr sz="1200" spc="-25" dirty="0">
                <a:solidFill>
                  <a:srgbClr val="1F2328"/>
                </a:solidFill>
                <a:latin typeface="Consolas"/>
                <a:cs typeface="Consolas"/>
              </a:rPr>
              <a:t>...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01700" y="3024346"/>
            <a:ext cx="7199630" cy="286766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81610" marR="4302760">
              <a:lnSpc>
                <a:spcPts val="1430"/>
              </a:lnSpc>
              <a:spcBef>
                <a:spcPts val="165"/>
              </a:spcBef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//</a:t>
            </a:r>
            <a:r>
              <a:rPr sz="1200" spc="-2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P7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리스트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컬럼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설정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(</a:t>
            </a:r>
            <a:r>
              <a:rPr sz="1200" spc="-10" dirty="0">
                <a:solidFill>
                  <a:srgbClr val="1F2328"/>
                </a:solidFill>
                <a:latin typeface="Malgun Gothic"/>
                <a:cs typeface="Malgun Gothic"/>
              </a:rPr>
              <a:t>유사하게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)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m_listP7.InsertColumn(0,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"FAI#")</a:t>
            </a:r>
            <a:endParaRPr sz="1200">
              <a:latin typeface="Consolas"/>
              <a:cs typeface="Consolas"/>
            </a:endParaRPr>
          </a:p>
          <a:p>
            <a:pPr marL="181610">
              <a:lnSpc>
                <a:spcPts val="1330"/>
              </a:lnSpc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m_listP7.InsertColumn(1,</a:t>
            </a:r>
            <a:r>
              <a:rPr sz="1200" spc="-2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"L1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시작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Pos")</a:t>
            </a:r>
            <a:r>
              <a:rPr sz="1200" spc="-1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...</a:t>
            </a:r>
            <a:r>
              <a:rPr sz="1200" spc="-1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(L1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끝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r>
              <a:rPr sz="1200" spc="-1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L2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시작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r>
              <a:rPr sz="1200" spc="-1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L2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끝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r>
              <a:rPr sz="1200" spc="-1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절대각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r>
              <a:rPr sz="1200" spc="-1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x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배율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r>
              <a:rPr sz="1200" spc="-1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offset)</a:t>
            </a:r>
            <a:endParaRPr sz="1200">
              <a:latin typeface="Consolas"/>
              <a:cs typeface="Consolas"/>
            </a:endParaRPr>
          </a:p>
          <a:p>
            <a:pPr marL="181610">
              <a:lnSpc>
                <a:spcPts val="1395"/>
              </a:lnSpc>
            </a:pPr>
            <a:r>
              <a:rPr sz="1200" spc="-25" dirty="0">
                <a:solidFill>
                  <a:srgbClr val="1F2328"/>
                </a:solidFill>
                <a:latin typeface="Consolas"/>
                <a:cs typeface="Consolas"/>
              </a:rPr>
              <a:t>...</a:t>
            </a:r>
            <a:endParaRPr sz="1200">
              <a:latin typeface="Consolas"/>
              <a:cs typeface="Consolas"/>
            </a:endParaRPr>
          </a:p>
          <a:p>
            <a:pPr marL="181610" marR="4895215" indent="-169545">
              <a:lnSpc>
                <a:spcPts val="1430"/>
              </a:lnSpc>
              <a:spcBef>
                <a:spcPts val="1390"/>
              </a:spcBef>
            </a:pP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RefreshP5List(): m_listP5.DeleteAllItems()</a:t>
            </a:r>
            <a:endParaRPr sz="1200">
              <a:latin typeface="Consolas"/>
              <a:cs typeface="Consolas"/>
            </a:endParaRPr>
          </a:p>
          <a:p>
            <a:pPr marL="181610" marR="3710940">
              <a:lnSpc>
                <a:spcPts val="1350"/>
              </a:lnSpc>
              <a:spcBef>
                <a:spcPts val="55"/>
              </a:spcBef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rules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=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manager.GetP5Rules(m_modelType)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for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i,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rule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in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rules:</a:t>
            </a:r>
            <a:endParaRPr sz="1200">
              <a:latin typeface="Consolas"/>
              <a:cs typeface="Consolas"/>
            </a:endParaRPr>
          </a:p>
          <a:p>
            <a:pPr marL="350520" marR="2694305">
              <a:lnSpc>
                <a:spcPct val="96400"/>
              </a:lnSpc>
              <a:spcBef>
                <a:spcPts val="10"/>
              </a:spcBef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m_listP5.InsertItem(i, FAI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번호</a:t>
            </a:r>
            <a:r>
              <a:rPr sz="1200" spc="229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정의</a:t>
            </a:r>
            <a:r>
              <a:rPr sz="1200" spc="-25" dirty="0">
                <a:solidFill>
                  <a:srgbClr val="1F2328"/>
                </a:solidFill>
                <a:latin typeface="Consolas"/>
                <a:cs typeface="Consolas"/>
              </a:rPr>
              <a:t>)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m_listP5.SetItemText(i,</a:t>
            </a:r>
            <a:r>
              <a:rPr sz="1200" spc="-1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1,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인덱스와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계산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방법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정의</a:t>
            </a:r>
            <a:r>
              <a:rPr sz="1200" spc="-25" dirty="0">
                <a:solidFill>
                  <a:srgbClr val="1F2328"/>
                </a:solidFill>
                <a:latin typeface="Consolas"/>
                <a:cs typeface="Consolas"/>
              </a:rPr>
              <a:t>)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m_listP5.SetItemText(i,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2,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측정</a:t>
            </a:r>
            <a:r>
              <a:rPr sz="1200" spc="229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위치</a:t>
            </a:r>
            <a:r>
              <a:rPr sz="1200" spc="229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정의</a:t>
            </a:r>
            <a:r>
              <a:rPr sz="1200" spc="-25" dirty="0">
                <a:solidFill>
                  <a:srgbClr val="1F2328"/>
                </a:solidFill>
                <a:latin typeface="Consolas"/>
                <a:cs typeface="Consolas"/>
              </a:rPr>
              <a:t>)</a:t>
            </a:r>
            <a:endParaRPr sz="1200">
              <a:latin typeface="Consolas"/>
              <a:cs typeface="Consolas"/>
            </a:endParaRPr>
          </a:p>
          <a:p>
            <a:pPr marL="350520">
              <a:lnSpc>
                <a:spcPts val="1350"/>
              </a:lnSpc>
            </a:pPr>
            <a:r>
              <a:rPr sz="1200" spc="-25" dirty="0">
                <a:solidFill>
                  <a:srgbClr val="1F2328"/>
                </a:solidFill>
                <a:latin typeface="Consolas"/>
                <a:cs typeface="Consolas"/>
              </a:rPr>
              <a:t>...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200">
              <a:latin typeface="Consolas"/>
              <a:cs typeface="Consolas"/>
            </a:endParaRPr>
          </a:p>
          <a:p>
            <a:pPr marL="12700">
              <a:lnSpc>
                <a:spcPts val="1395"/>
              </a:lnSpc>
              <a:spcBef>
                <a:spcPts val="5"/>
              </a:spcBef>
            </a:pP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RefreshP7List():</a:t>
            </a:r>
            <a:endParaRPr sz="1200">
              <a:latin typeface="Consolas"/>
              <a:cs typeface="Consolas"/>
            </a:endParaRPr>
          </a:p>
          <a:p>
            <a:pPr marL="181610">
              <a:lnSpc>
                <a:spcPts val="1395"/>
              </a:lnSpc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//</a:t>
            </a:r>
            <a:r>
              <a:rPr sz="1200" spc="-1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P5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와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동일한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패턴으로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L1/L2</a:t>
            </a:r>
            <a:r>
              <a:rPr sz="1200" spc="-1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4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개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포인트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표시</a:t>
            </a:r>
            <a:endParaRPr sz="12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2474" y="1190624"/>
            <a:ext cx="10696575" cy="19050"/>
          </a:xfrm>
          <a:custGeom>
            <a:avLst/>
            <a:gdLst/>
            <a:ahLst/>
            <a:cxnLst/>
            <a:rect l="l" t="t" r="r" b="b"/>
            <a:pathLst>
              <a:path w="10696575" h="19050">
                <a:moveTo>
                  <a:pt x="10696574" y="19049"/>
                </a:moveTo>
                <a:lnTo>
                  <a:pt x="0" y="19049"/>
                </a:lnTo>
                <a:lnTo>
                  <a:pt x="0" y="0"/>
                </a:lnTo>
                <a:lnTo>
                  <a:pt x="10696574" y="0"/>
                </a:lnTo>
                <a:lnTo>
                  <a:pt x="10696574" y="19049"/>
                </a:lnTo>
                <a:close/>
              </a:path>
            </a:pathLst>
          </a:custGeom>
          <a:solidFill>
            <a:srgbClr val="1A527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752474" y="1362074"/>
            <a:ext cx="10696575" cy="5105400"/>
            <a:chOff x="752474" y="1362074"/>
            <a:chExt cx="10696575" cy="5105400"/>
          </a:xfrm>
        </p:grpSpPr>
        <p:sp>
          <p:nvSpPr>
            <p:cNvPr id="4" name="object 4"/>
            <p:cNvSpPr/>
            <p:nvPr/>
          </p:nvSpPr>
          <p:spPr>
            <a:xfrm>
              <a:off x="757237" y="1366837"/>
              <a:ext cx="10687050" cy="5095875"/>
            </a:xfrm>
            <a:custGeom>
              <a:avLst/>
              <a:gdLst/>
              <a:ahLst/>
              <a:cxnLst/>
              <a:rect l="l" t="t" r="r" b="b"/>
              <a:pathLst>
                <a:path w="10687050" h="5095875">
                  <a:moveTo>
                    <a:pt x="10638100" y="5095874"/>
                  </a:moveTo>
                  <a:lnTo>
                    <a:pt x="48947" y="5095874"/>
                  </a:lnTo>
                  <a:lnTo>
                    <a:pt x="45540" y="5095538"/>
                  </a:lnTo>
                  <a:lnTo>
                    <a:pt x="10739" y="5075451"/>
                  </a:lnTo>
                  <a:lnTo>
                    <a:pt x="0" y="5046927"/>
                  </a:lnTo>
                  <a:lnTo>
                    <a:pt x="0" y="504348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6"/>
                  </a:lnTo>
                  <a:lnTo>
                    <a:pt x="10687049" y="48947"/>
                  </a:lnTo>
                  <a:lnTo>
                    <a:pt x="10687049" y="5046927"/>
                  </a:lnTo>
                  <a:lnTo>
                    <a:pt x="10669272" y="5082962"/>
                  </a:lnTo>
                  <a:lnTo>
                    <a:pt x="10641507" y="5095538"/>
                  </a:lnTo>
                  <a:lnTo>
                    <a:pt x="10638100" y="5095874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7237" y="1366837"/>
              <a:ext cx="10687050" cy="5095875"/>
            </a:xfrm>
            <a:custGeom>
              <a:avLst/>
              <a:gdLst/>
              <a:ahLst/>
              <a:cxnLst/>
              <a:rect l="l" t="t" r="r" b="b"/>
              <a:pathLst>
                <a:path w="10687050" h="5095875">
                  <a:moveTo>
                    <a:pt x="0" y="50434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043487"/>
                  </a:lnTo>
                  <a:lnTo>
                    <a:pt x="10687049" y="5046927"/>
                  </a:lnTo>
                  <a:lnTo>
                    <a:pt x="10686713" y="5050333"/>
                  </a:lnTo>
                  <a:lnTo>
                    <a:pt x="10666625" y="5085134"/>
                  </a:lnTo>
                  <a:lnTo>
                    <a:pt x="10634661" y="5095874"/>
                  </a:lnTo>
                  <a:lnTo>
                    <a:pt x="52387" y="5095874"/>
                  </a:lnTo>
                  <a:lnTo>
                    <a:pt x="15343" y="5080530"/>
                  </a:lnTo>
                  <a:lnTo>
                    <a:pt x="8828" y="5072591"/>
                  </a:lnTo>
                  <a:lnTo>
                    <a:pt x="6917" y="5069731"/>
                  </a:lnTo>
                  <a:lnTo>
                    <a:pt x="0" y="5046927"/>
                  </a:lnTo>
                  <a:lnTo>
                    <a:pt x="0" y="5043487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TODO</a:t>
            </a:r>
            <a:r>
              <a:rPr spc="20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dirty="0"/>
              <a:t>View</a:t>
            </a:r>
            <a:r>
              <a:rPr spc="20" dirty="0"/>
              <a:t> </a:t>
            </a:r>
            <a:r>
              <a:rPr dirty="0"/>
              <a:t>(2/2)</a:t>
            </a:r>
            <a:r>
              <a:rPr spc="20" dirty="0"/>
              <a:t> </a:t>
            </a:r>
            <a:r>
              <a:rPr dirty="0"/>
              <a:t>:</a:t>
            </a:r>
            <a:r>
              <a:rPr spc="25" dirty="0"/>
              <a:t> </a:t>
            </a:r>
            <a:r>
              <a:rPr sz="2550" b="1" spc="-459" dirty="0">
                <a:latin typeface="Malgun Gothic"/>
                <a:cs typeface="Malgun Gothic"/>
              </a:rPr>
              <a:t>규칙</a:t>
            </a:r>
            <a:r>
              <a:rPr sz="2550" b="1" spc="-254" dirty="0">
                <a:latin typeface="Malgun Gothic"/>
                <a:cs typeface="Malgun Gothic"/>
              </a:rPr>
              <a:t> </a:t>
            </a:r>
            <a:r>
              <a:rPr sz="2550" b="1" spc="-370" dirty="0">
                <a:latin typeface="Malgun Gothic"/>
                <a:cs typeface="Malgun Gothic"/>
              </a:rPr>
              <a:t>추가</a:t>
            </a:r>
            <a:r>
              <a:rPr spc="-370" dirty="0"/>
              <a:t>/</a:t>
            </a:r>
            <a:r>
              <a:rPr sz="2550" b="1" spc="-370" dirty="0">
                <a:latin typeface="Malgun Gothic"/>
                <a:cs typeface="Malgun Gothic"/>
              </a:rPr>
              <a:t>삭제</a:t>
            </a:r>
            <a:r>
              <a:rPr sz="2550" b="1" spc="-254" dirty="0">
                <a:latin typeface="Malgun Gothic"/>
                <a:cs typeface="Malgun Gothic"/>
              </a:rPr>
              <a:t> </a:t>
            </a:r>
            <a:r>
              <a:rPr sz="2550" b="1" spc="-484" dirty="0">
                <a:latin typeface="Malgun Gothic"/>
                <a:cs typeface="Malgun Gothic"/>
              </a:rPr>
              <a:t>핸들러</a:t>
            </a:r>
            <a:endParaRPr sz="2550">
              <a:latin typeface="Malgun Gothic"/>
              <a:cs typeface="Malgun Gothic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901700" y="1490821"/>
            <a:ext cx="6625590" cy="48107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1430"/>
              </a:lnSpc>
              <a:spcBef>
                <a:spcPts val="110"/>
              </a:spcBef>
            </a:pP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OnBnClickedBtnAddP5():</a:t>
            </a:r>
            <a:endParaRPr sz="1200">
              <a:latin typeface="Consolas"/>
              <a:cs typeface="Consolas"/>
            </a:endParaRPr>
          </a:p>
          <a:p>
            <a:pPr marL="181610">
              <a:lnSpc>
                <a:spcPts val="1390"/>
              </a:lnSpc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//</a:t>
            </a:r>
            <a:r>
              <a:rPr sz="1200" spc="-2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방법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A</a:t>
            </a:r>
            <a:r>
              <a:rPr sz="1200" spc="-2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(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단순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):</a:t>
            </a:r>
            <a:r>
              <a:rPr sz="1200" spc="-1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입력</a:t>
            </a:r>
            <a:r>
              <a:rPr sz="1200" spc="21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다이얼로그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띄우기</a:t>
            </a:r>
            <a:endParaRPr sz="1200">
              <a:latin typeface="Malgun Gothic"/>
              <a:cs typeface="Malgun Gothic"/>
            </a:endParaRPr>
          </a:p>
          <a:p>
            <a:pPr marL="181610">
              <a:lnSpc>
                <a:spcPts val="1390"/>
              </a:lnSpc>
              <a:tabLst>
                <a:tab pos="604520" algn="l"/>
              </a:tabLst>
            </a:pPr>
            <a:r>
              <a:rPr sz="1200" spc="-25" dirty="0">
                <a:solidFill>
                  <a:srgbClr val="1F2328"/>
                </a:solidFill>
                <a:latin typeface="Consolas"/>
                <a:cs typeface="Consolas"/>
              </a:rPr>
              <a:t>//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	→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FAI#,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Type(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콤보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),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PosA(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콤보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),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IdxA,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PosB(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콤보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),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IdxB,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배율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offset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입력</a:t>
            </a:r>
            <a:endParaRPr sz="1200">
              <a:latin typeface="Malgun Gothic"/>
              <a:cs typeface="Malgun Gothic"/>
            </a:endParaRPr>
          </a:p>
          <a:p>
            <a:pPr marL="181610">
              <a:lnSpc>
                <a:spcPts val="1430"/>
              </a:lnSpc>
              <a:tabLst>
                <a:tab pos="604520" algn="l"/>
              </a:tabLst>
            </a:pPr>
            <a:r>
              <a:rPr sz="1200" spc="-25" dirty="0">
                <a:solidFill>
                  <a:srgbClr val="1F2328"/>
                </a:solidFill>
                <a:latin typeface="Consolas"/>
                <a:cs typeface="Consolas"/>
              </a:rPr>
              <a:t>//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	→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OK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클릭</a:t>
            </a:r>
            <a:r>
              <a:rPr sz="1200" spc="229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시</a:t>
            </a:r>
            <a:r>
              <a:rPr sz="1200" spc="23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rule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구성</a:t>
            </a:r>
            <a:r>
              <a:rPr sz="1200" spc="229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후</a:t>
            </a:r>
            <a:r>
              <a:rPr sz="1200" spc="229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manager.AddP5Rule(modelType,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rule)</a:t>
            </a:r>
            <a:endParaRPr sz="1200">
              <a:latin typeface="Consolas"/>
              <a:cs typeface="Consolas"/>
            </a:endParaRPr>
          </a:p>
          <a:p>
            <a:pPr marL="181610">
              <a:lnSpc>
                <a:spcPts val="1395"/>
              </a:lnSpc>
              <a:spcBef>
                <a:spcPts val="1335"/>
              </a:spcBef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//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방법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B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(UX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좋음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):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리스트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끝에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빈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행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추가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후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인라인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편집</a:t>
            </a:r>
            <a:endParaRPr sz="1200">
              <a:latin typeface="Malgun Gothic"/>
              <a:cs typeface="Malgun Gothic"/>
            </a:endParaRPr>
          </a:p>
          <a:p>
            <a:pPr marL="181610">
              <a:lnSpc>
                <a:spcPts val="1390"/>
              </a:lnSpc>
              <a:tabLst>
                <a:tab pos="604520" algn="l"/>
              </a:tabLst>
            </a:pPr>
            <a:r>
              <a:rPr sz="1200" spc="-25" dirty="0">
                <a:solidFill>
                  <a:srgbClr val="1F2328"/>
                </a:solidFill>
                <a:latin typeface="Consolas"/>
                <a:cs typeface="Consolas"/>
              </a:rPr>
              <a:t>//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	→</a:t>
            </a:r>
            <a:r>
              <a:rPr sz="1200" spc="-1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현재</a:t>
            </a:r>
            <a:r>
              <a:rPr sz="1200" spc="229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MFC LVS_EDITLABELS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지원</a:t>
            </a:r>
            <a:r>
              <a:rPr sz="1200" spc="229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필요</a:t>
            </a:r>
            <a:endParaRPr sz="1200">
              <a:latin typeface="Malgun Gothic"/>
              <a:cs typeface="Malgun Gothic"/>
            </a:endParaRPr>
          </a:p>
          <a:p>
            <a:pPr marL="181610">
              <a:lnSpc>
                <a:spcPts val="1430"/>
              </a:lnSpc>
              <a:tabLst>
                <a:tab pos="604520" algn="l"/>
              </a:tabLst>
            </a:pPr>
            <a:r>
              <a:rPr sz="1200" spc="-25" dirty="0">
                <a:solidFill>
                  <a:srgbClr val="1F2328"/>
                </a:solidFill>
                <a:latin typeface="Consolas"/>
                <a:cs typeface="Consolas"/>
              </a:rPr>
              <a:t>//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	→</a:t>
            </a:r>
            <a:r>
              <a:rPr sz="1200" spc="-2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구현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복잡도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높음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→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우선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방법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A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35" dirty="0">
                <a:solidFill>
                  <a:srgbClr val="1F2328"/>
                </a:solidFill>
                <a:latin typeface="Malgun Gothic"/>
                <a:cs typeface="Malgun Gothic"/>
              </a:rPr>
              <a:t>권장</a:t>
            </a:r>
            <a:endParaRPr sz="1200">
              <a:latin typeface="Malgun Gothic"/>
              <a:cs typeface="Malgun Gothic"/>
            </a:endParaRPr>
          </a:p>
          <a:p>
            <a:pPr marL="181610" marR="2712720">
              <a:lnSpc>
                <a:spcPct val="96400"/>
              </a:lnSpc>
              <a:spcBef>
                <a:spcPts val="1385"/>
              </a:spcBef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rule</a:t>
            </a:r>
            <a:r>
              <a:rPr sz="1200" spc="-3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=</a:t>
            </a:r>
            <a:r>
              <a:rPr sz="1200" spc="-1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사용자</a:t>
            </a:r>
            <a:r>
              <a:rPr sz="1200" spc="21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입력값으로</a:t>
            </a:r>
            <a:r>
              <a:rPr sz="1200" spc="21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채운</a:t>
            </a:r>
            <a:r>
              <a:rPr sz="1200" spc="21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FAIDynamicP5Rule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manager.AddP5Rule(m_modelType,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rule) RefreshP5List()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00">
              <a:latin typeface="Consolas"/>
              <a:cs typeface="Consolas"/>
            </a:endParaRPr>
          </a:p>
          <a:p>
            <a:pPr marL="12700">
              <a:lnSpc>
                <a:spcPts val="1395"/>
              </a:lnSpc>
            </a:pP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OnBnClickedBtnDelP5():</a:t>
            </a:r>
            <a:endParaRPr sz="1200">
              <a:latin typeface="Consolas"/>
              <a:cs typeface="Consolas"/>
            </a:endParaRPr>
          </a:p>
          <a:p>
            <a:pPr marL="181610" marR="2629535">
              <a:lnSpc>
                <a:spcPct val="96400"/>
              </a:lnSpc>
              <a:spcBef>
                <a:spcPts val="10"/>
              </a:spcBef>
              <a:tabLst>
                <a:tab pos="1873250" algn="l"/>
              </a:tabLst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sel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=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m_listP5.GetNextItem(-1,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LVNI_SELECTED)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if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sel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&lt;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0: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return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	//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선택</a:t>
            </a:r>
            <a:r>
              <a:rPr sz="1200" spc="229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없음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manager.RemoveP5Rule(m_modelType,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20" dirty="0">
                <a:solidFill>
                  <a:srgbClr val="1F2328"/>
                </a:solidFill>
                <a:latin typeface="Consolas"/>
                <a:cs typeface="Consolas"/>
              </a:rPr>
              <a:t>sel)</a:t>
            </a:r>
            <a:endParaRPr sz="1200">
              <a:latin typeface="Consolas"/>
              <a:cs typeface="Consolas"/>
            </a:endParaRPr>
          </a:p>
          <a:p>
            <a:pPr marL="181610">
              <a:lnSpc>
                <a:spcPts val="1425"/>
              </a:lnSpc>
            </a:pP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RefreshP5List()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ts val="1430"/>
              </a:lnSpc>
              <a:spcBef>
                <a:spcPts val="1335"/>
              </a:spcBef>
            </a:pP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OnBnClickedBtnAddP7():</a:t>
            </a:r>
            <a:endParaRPr sz="1200">
              <a:latin typeface="Consolas"/>
              <a:cs typeface="Consolas"/>
            </a:endParaRPr>
          </a:p>
          <a:p>
            <a:pPr marL="181610">
              <a:lnSpc>
                <a:spcPts val="1435"/>
              </a:lnSpc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//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P5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와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동일한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패턴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단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L1/L2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각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2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점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(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시작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/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끝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)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+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AbsAngle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플래그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추가</a:t>
            </a:r>
            <a:endParaRPr sz="1200">
              <a:latin typeface="Malgun Gothic"/>
              <a:cs typeface="Malgun Gothic"/>
            </a:endParaRPr>
          </a:p>
          <a:p>
            <a:pPr marL="12700">
              <a:lnSpc>
                <a:spcPts val="1395"/>
              </a:lnSpc>
              <a:spcBef>
                <a:spcPts val="1335"/>
              </a:spcBef>
            </a:pP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OnBnClickedBtnDelP7():</a:t>
            </a:r>
            <a:endParaRPr sz="1200">
              <a:latin typeface="Consolas"/>
              <a:cs typeface="Consolas"/>
            </a:endParaRPr>
          </a:p>
          <a:p>
            <a:pPr marL="181610" marR="2629535">
              <a:lnSpc>
                <a:spcPct val="96400"/>
              </a:lnSpc>
              <a:spcBef>
                <a:spcPts val="5"/>
              </a:spcBef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sel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=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m_listP7.GetNextItem(-1,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LVNI_SELECTED)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if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sel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&lt;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0: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return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manager.RemoveP7Rule(m_modelType,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20" dirty="0">
                <a:solidFill>
                  <a:srgbClr val="1F2328"/>
                </a:solidFill>
                <a:latin typeface="Consolas"/>
                <a:cs typeface="Consolas"/>
              </a:rPr>
              <a:t>sel)</a:t>
            </a:r>
            <a:endParaRPr sz="1200">
              <a:latin typeface="Consolas"/>
              <a:cs typeface="Consolas"/>
            </a:endParaRPr>
          </a:p>
          <a:p>
            <a:pPr marL="181610">
              <a:lnSpc>
                <a:spcPts val="1425"/>
              </a:lnSpc>
            </a:pP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RefreshP7List()</a:t>
            </a:r>
            <a:endParaRPr sz="12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2474" y="2305049"/>
            <a:ext cx="10696575" cy="19050"/>
          </a:xfrm>
          <a:custGeom>
            <a:avLst/>
            <a:gdLst/>
            <a:ahLst/>
            <a:cxnLst/>
            <a:rect l="l" t="t" r="r" b="b"/>
            <a:pathLst>
              <a:path w="10696575" h="19050">
                <a:moveTo>
                  <a:pt x="10696574" y="19049"/>
                </a:moveTo>
                <a:lnTo>
                  <a:pt x="0" y="19049"/>
                </a:lnTo>
                <a:lnTo>
                  <a:pt x="0" y="0"/>
                </a:lnTo>
                <a:lnTo>
                  <a:pt x="10696574" y="0"/>
                </a:lnTo>
                <a:lnTo>
                  <a:pt x="10696574" y="19049"/>
                </a:lnTo>
                <a:close/>
              </a:path>
            </a:pathLst>
          </a:custGeom>
          <a:solidFill>
            <a:srgbClr val="1A52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52474" y="2476499"/>
            <a:ext cx="38100" cy="266700"/>
          </a:xfrm>
          <a:custGeom>
            <a:avLst/>
            <a:gdLst/>
            <a:ahLst/>
            <a:cxnLst/>
            <a:rect l="l" t="t" r="r" b="b"/>
            <a:pathLst>
              <a:path w="38100" h="266700">
                <a:moveTo>
                  <a:pt x="38099" y="266699"/>
                </a:moveTo>
                <a:lnTo>
                  <a:pt x="0" y="266699"/>
                </a:lnTo>
                <a:lnTo>
                  <a:pt x="0" y="0"/>
                </a:lnTo>
                <a:lnTo>
                  <a:pt x="38099" y="0"/>
                </a:lnTo>
                <a:lnTo>
                  <a:pt x="38099" y="266699"/>
                </a:lnTo>
                <a:close/>
              </a:path>
            </a:pathLst>
          </a:custGeom>
          <a:solidFill>
            <a:srgbClr val="D0D9D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52474" y="2895599"/>
            <a:ext cx="10696575" cy="2095500"/>
            <a:chOff x="752474" y="2895599"/>
            <a:chExt cx="10696575" cy="2095500"/>
          </a:xfrm>
        </p:grpSpPr>
        <p:sp>
          <p:nvSpPr>
            <p:cNvPr id="5" name="object 5"/>
            <p:cNvSpPr/>
            <p:nvPr/>
          </p:nvSpPr>
          <p:spPr>
            <a:xfrm>
              <a:off x="757237" y="2900362"/>
              <a:ext cx="10687050" cy="2085975"/>
            </a:xfrm>
            <a:custGeom>
              <a:avLst/>
              <a:gdLst/>
              <a:ahLst/>
              <a:cxnLst/>
              <a:rect l="l" t="t" r="r" b="b"/>
              <a:pathLst>
                <a:path w="10687050" h="2085975">
                  <a:moveTo>
                    <a:pt x="10638100" y="2085973"/>
                  </a:moveTo>
                  <a:lnTo>
                    <a:pt x="48947" y="2085973"/>
                  </a:lnTo>
                  <a:lnTo>
                    <a:pt x="45540" y="2085638"/>
                  </a:lnTo>
                  <a:lnTo>
                    <a:pt x="10739" y="2065551"/>
                  </a:lnTo>
                  <a:lnTo>
                    <a:pt x="0" y="2037026"/>
                  </a:lnTo>
                  <a:lnTo>
                    <a:pt x="0" y="203358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2037026"/>
                  </a:lnTo>
                  <a:lnTo>
                    <a:pt x="10669272" y="2073061"/>
                  </a:lnTo>
                  <a:lnTo>
                    <a:pt x="10641507" y="2085638"/>
                  </a:lnTo>
                  <a:lnTo>
                    <a:pt x="10638100" y="2085973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57237" y="2900362"/>
              <a:ext cx="10687050" cy="2085975"/>
            </a:xfrm>
            <a:custGeom>
              <a:avLst/>
              <a:gdLst/>
              <a:ahLst/>
              <a:cxnLst/>
              <a:rect l="l" t="t" r="r" b="b"/>
              <a:pathLst>
                <a:path w="10687050" h="2085975">
                  <a:moveTo>
                    <a:pt x="0" y="20335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71704" y="15343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2033587"/>
                  </a:lnTo>
                  <a:lnTo>
                    <a:pt x="10687049" y="2037026"/>
                  </a:lnTo>
                  <a:lnTo>
                    <a:pt x="10686713" y="2040433"/>
                  </a:lnTo>
                  <a:lnTo>
                    <a:pt x="10666625" y="2075234"/>
                  </a:lnTo>
                  <a:lnTo>
                    <a:pt x="10634661" y="2085974"/>
                  </a:lnTo>
                  <a:lnTo>
                    <a:pt x="52387" y="2085974"/>
                  </a:lnTo>
                  <a:lnTo>
                    <a:pt x="23282" y="2077145"/>
                  </a:lnTo>
                  <a:lnTo>
                    <a:pt x="20422" y="2075234"/>
                  </a:lnTo>
                  <a:lnTo>
                    <a:pt x="17776" y="2073062"/>
                  </a:lnTo>
                  <a:lnTo>
                    <a:pt x="15343" y="2070630"/>
                  </a:lnTo>
                  <a:lnTo>
                    <a:pt x="12911" y="2068198"/>
                  </a:lnTo>
                  <a:lnTo>
                    <a:pt x="10739" y="2065552"/>
                  </a:lnTo>
                  <a:lnTo>
                    <a:pt x="8828" y="2062691"/>
                  </a:lnTo>
                  <a:lnTo>
                    <a:pt x="6917" y="2059831"/>
                  </a:lnTo>
                  <a:lnTo>
                    <a:pt x="0" y="2037026"/>
                  </a:lnTo>
                  <a:lnTo>
                    <a:pt x="0" y="2033587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5012" y="1822272"/>
            <a:ext cx="5320030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TODO</a:t>
            </a:r>
            <a:r>
              <a:rPr spc="25" dirty="0"/>
              <a:t> </a:t>
            </a:r>
            <a:r>
              <a:rPr dirty="0"/>
              <a:t>—</a:t>
            </a:r>
            <a:r>
              <a:rPr spc="30" dirty="0"/>
              <a:t> </a:t>
            </a:r>
            <a:r>
              <a:rPr dirty="0"/>
              <a:t>Controller</a:t>
            </a:r>
            <a:r>
              <a:rPr spc="35" dirty="0"/>
              <a:t> </a:t>
            </a:r>
            <a:r>
              <a:rPr dirty="0"/>
              <a:t>(1/2)</a:t>
            </a:r>
            <a:r>
              <a:rPr spc="35" dirty="0"/>
              <a:t> </a:t>
            </a:r>
            <a:r>
              <a:rPr dirty="0"/>
              <a:t>:</a:t>
            </a:r>
            <a:r>
              <a:rPr spc="30" dirty="0"/>
              <a:t> </a:t>
            </a:r>
            <a:r>
              <a:rPr dirty="0"/>
              <a:t>Inspector</a:t>
            </a:r>
            <a:r>
              <a:rPr spc="35" dirty="0"/>
              <a:t> </a:t>
            </a:r>
            <a:r>
              <a:rPr sz="2550" b="1" spc="-484" dirty="0">
                <a:latin typeface="Malgun Gothic"/>
                <a:cs typeface="Malgun Gothic"/>
              </a:rPr>
              <a:t>연결</a:t>
            </a:r>
            <a:endParaRPr sz="2550">
              <a:latin typeface="Malgun Gothic"/>
              <a:cs typeface="Malgun Gothic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901700" y="2468848"/>
            <a:ext cx="6978650" cy="23564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110"/>
              </a:spcBef>
            </a:pPr>
            <a:r>
              <a:rPr sz="1400" dirty="0">
                <a:solidFill>
                  <a:srgbClr val="58626E"/>
                </a:solidFill>
                <a:latin typeface="Segoe UI"/>
                <a:cs typeface="Segoe UI"/>
              </a:rPr>
              <a:t>Inspector</a:t>
            </a:r>
            <a:r>
              <a:rPr sz="1400" spc="25" dirty="0">
                <a:solidFill>
                  <a:srgbClr val="58626E"/>
                </a:solidFill>
                <a:latin typeface="Segoe UI"/>
                <a:cs typeface="Segoe UI"/>
              </a:rPr>
              <a:t> </a:t>
            </a:r>
            <a:r>
              <a:rPr sz="1400" spc="-150" dirty="0">
                <a:solidFill>
                  <a:srgbClr val="58626E"/>
                </a:solidFill>
                <a:latin typeface="Segoe UI"/>
                <a:cs typeface="Segoe UI"/>
              </a:rPr>
              <a:t>5</a:t>
            </a:r>
            <a:r>
              <a:rPr sz="1600" spc="-150" dirty="0">
                <a:solidFill>
                  <a:srgbClr val="58626E"/>
                </a:solidFill>
                <a:latin typeface="Malgun Gothic"/>
                <a:cs typeface="Malgun Gothic"/>
              </a:rPr>
              <a:t>개 </a:t>
            </a:r>
            <a:r>
              <a:rPr sz="1600" spc="-305" dirty="0">
                <a:solidFill>
                  <a:srgbClr val="58626E"/>
                </a:solidFill>
                <a:latin typeface="Malgun Gothic"/>
                <a:cs typeface="Malgun Gothic"/>
              </a:rPr>
              <a:t>파일에</a:t>
            </a:r>
            <a:r>
              <a:rPr sz="1600" spc="-150" dirty="0">
                <a:solidFill>
                  <a:srgbClr val="58626E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58626E"/>
                </a:solidFill>
                <a:latin typeface="Segoe UI"/>
                <a:cs typeface="Segoe UI"/>
              </a:rPr>
              <a:t>Execute</a:t>
            </a:r>
            <a:r>
              <a:rPr sz="1400" spc="30" dirty="0">
                <a:solidFill>
                  <a:srgbClr val="58626E"/>
                </a:solidFill>
                <a:latin typeface="Segoe UI"/>
                <a:cs typeface="Segoe UI"/>
              </a:rPr>
              <a:t> </a:t>
            </a:r>
            <a:r>
              <a:rPr sz="1600" spc="-305" dirty="0">
                <a:solidFill>
                  <a:srgbClr val="58626E"/>
                </a:solidFill>
                <a:latin typeface="Malgun Gothic"/>
                <a:cs typeface="Malgun Gothic"/>
              </a:rPr>
              <a:t>호출</a:t>
            </a:r>
            <a:r>
              <a:rPr sz="1600" spc="-150" dirty="0">
                <a:solidFill>
                  <a:srgbClr val="58626E"/>
                </a:solidFill>
                <a:latin typeface="Malgun Gothic"/>
                <a:cs typeface="Malgun Gothic"/>
              </a:rPr>
              <a:t> </a:t>
            </a:r>
            <a:r>
              <a:rPr sz="1600" spc="-330" dirty="0">
                <a:solidFill>
                  <a:srgbClr val="58626E"/>
                </a:solidFill>
                <a:latin typeface="Malgun Gothic"/>
                <a:cs typeface="Malgun Gothic"/>
              </a:rPr>
              <a:t>삽입</a:t>
            </a:r>
            <a:endParaRPr sz="1600">
              <a:latin typeface="Malgun Gothic"/>
              <a:cs typeface="Malgun Gothic"/>
            </a:endParaRPr>
          </a:p>
          <a:p>
            <a:pPr marL="12700" marR="3977640">
              <a:lnSpc>
                <a:spcPts val="1430"/>
              </a:lnSpc>
              <a:spcBef>
                <a:spcPts val="2510"/>
              </a:spcBef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[Inspector</a:t>
            </a:r>
            <a:r>
              <a:rPr sz="1200" spc="-2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연결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]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—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5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개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파일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동일</a:t>
            </a:r>
            <a:r>
              <a:rPr sz="1200" spc="229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패턴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파일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:</a:t>
            </a:r>
            <a:r>
              <a:rPr sz="1200" spc="-2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[</a:t>
            </a:r>
            <a:r>
              <a:rPr sz="1200" spc="-10" dirty="0">
                <a:solidFill>
                  <a:srgbClr val="1F2328"/>
                </a:solidFill>
                <a:latin typeface="Malgun Gothic"/>
                <a:cs typeface="Malgun Gothic"/>
              </a:rPr>
              <a:t>모델명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]FAIInspector.cpp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ts val="1395"/>
              </a:lnSpc>
              <a:spcBef>
                <a:spcPts val="1285"/>
              </a:spcBef>
            </a:pP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각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파일</a:t>
            </a:r>
            <a:r>
              <a:rPr sz="1200" spc="229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상단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include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추가</a:t>
            </a:r>
            <a:r>
              <a:rPr sz="1200" spc="-25" dirty="0">
                <a:solidFill>
                  <a:srgbClr val="1F2328"/>
                </a:solidFill>
                <a:latin typeface="Consolas"/>
                <a:cs typeface="Consolas"/>
              </a:rPr>
              <a:t>:</a:t>
            </a:r>
            <a:endParaRPr sz="1200">
              <a:latin typeface="Consolas"/>
              <a:cs typeface="Consolas"/>
            </a:endParaRPr>
          </a:p>
          <a:p>
            <a:pPr marL="181610">
              <a:lnSpc>
                <a:spcPts val="1395"/>
              </a:lnSpc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#include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"../Dynamic/FAIDynamicRuleManager.h"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ts val="1430"/>
              </a:lnSpc>
              <a:spcBef>
                <a:spcPts val="1335"/>
              </a:spcBef>
            </a:pP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각</a:t>
            </a:r>
            <a:r>
              <a:rPr sz="1200" spc="229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Inspect()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함수</a:t>
            </a:r>
            <a:r>
              <a:rPr sz="1200" spc="23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끝</a:t>
            </a:r>
            <a:r>
              <a:rPr sz="1200" spc="229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(return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20" dirty="0">
                <a:solidFill>
                  <a:srgbClr val="1F2328"/>
                </a:solidFill>
                <a:latin typeface="Malgun Gothic"/>
                <a:cs typeface="Malgun Gothic"/>
              </a:rPr>
              <a:t>직전</a:t>
            </a:r>
            <a:r>
              <a:rPr sz="1200" spc="-20" dirty="0">
                <a:solidFill>
                  <a:srgbClr val="1F2328"/>
                </a:solidFill>
                <a:latin typeface="Consolas"/>
                <a:cs typeface="Consolas"/>
              </a:rPr>
              <a:t>):</a:t>
            </a:r>
            <a:endParaRPr sz="1200">
              <a:latin typeface="Consolas"/>
              <a:cs typeface="Consolas"/>
            </a:endParaRPr>
          </a:p>
          <a:p>
            <a:pPr marL="181610" marR="5080">
              <a:lnSpc>
                <a:spcPct val="96400"/>
              </a:lnSpc>
              <a:spcBef>
                <a:spcPts val="45"/>
              </a:spcBef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auto&amp;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dynMgr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=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FAIDynamicRuleManager::GetInstance()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dynMgr.ExecuteP5Rules(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해당모델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_ENUM,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pStruct,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iBufferIdx,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iParamNo,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m_pAlgorithm)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dynMgr.ExecuteP7Rules(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해당모델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_ENUM,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pStruct,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iBufferIdx,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iParamNo,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m_pAlgorithm)</a:t>
            </a:r>
            <a:endParaRPr sz="12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2474" y="1276349"/>
            <a:ext cx="10696575" cy="19050"/>
          </a:xfrm>
          <a:custGeom>
            <a:avLst/>
            <a:gdLst/>
            <a:ahLst/>
            <a:cxnLst/>
            <a:rect l="l" t="t" r="r" b="b"/>
            <a:pathLst>
              <a:path w="10696575" h="19050">
                <a:moveTo>
                  <a:pt x="10696574" y="19049"/>
                </a:moveTo>
                <a:lnTo>
                  <a:pt x="0" y="19049"/>
                </a:lnTo>
                <a:lnTo>
                  <a:pt x="0" y="0"/>
                </a:lnTo>
                <a:lnTo>
                  <a:pt x="10696574" y="0"/>
                </a:lnTo>
                <a:lnTo>
                  <a:pt x="10696574" y="19049"/>
                </a:lnTo>
                <a:close/>
              </a:path>
            </a:pathLst>
          </a:custGeom>
          <a:solidFill>
            <a:srgbClr val="1A527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752474" y="1447799"/>
            <a:ext cx="10696575" cy="4572000"/>
            <a:chOff x="752474" y="1447799"/>
            <a:chExt cx="10696575" cy="4572000"/>
          </a:xfrm>
        </p:grpSpPr>
        <p:sp>
          <p:nvSpPr>
            <p:cNvPr id="4" name="object 4"/>
            <p:cNvSpPr/>
            <p:nvPr/>
          </p:nvSpPr>
          <p:spPr>
            <a:xfrm>
              <a:off x="757237" y="1452562"/>
              <a:ext cx="10687050" cy="4562475"/>
            </a:xfrm>
            <a:custGeom>
              <a:avLst/>
              <a:gdLst/>
              <a:ahLst/>
              <a:cxnLst/>
              <a:rect l="l" t="t" r="r" b="b"/>
              <a:pathLst>
                <a:path w="10687050" h="4562475">
                  <a:moveTo>
                    <a:pt x="10638100" y="4562474"/>
                  </a:moveTo>
                  <a:lnTo>
                    <a:pt x="48947" y="4562474"/>
                  </a:lnTo>
                  <a:lnTo>
                    <a:pt x="45540" y="4562138"/>
                  </a:lnTo>
                  <a:lnTo>
                    <a:pt x="10739" y="4542050"/>
                  </a:lnTo>
                  <a:lnTo>
                    <a:pt x="0" y="4513527"/>
                  </a:lnTo>
                  <a:lnTo>
                    <a:pt x="0" y="451008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6"/>
                  </a:lnTo>
                  <a:lnTo>
                    <a:pt x="10687049" y="48947"/>
                  </a:lnTo>
                  <a:lnTo>
                    <a:pt x="10687049" y="4513527"/>
                  </a:lnTo>
                  <a:lnTo>
                    <a:pt x="10669272" y="4549562"/>
                  </a:lnTo>
                  <a:lnTo>
                    <a:pt x="10641507" y="4562138"/>
                  </a:lnTo>
                  <a:lnTo>
                    <a:pt x="10638100" y="4562474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7237" y="1452562"/>
              <a:ext cx="10687050" cy="4562475"/>
            </a:xfrm>
            <a:custGeom>
              <a:avLst/>
              <a:gdLst/>
              <a:ahLst/>
              <a:cxnLst/>
              <a:rect l="l" t="t" r="r" b="b"/>
              <a:pathLst>
                <a:path w="10687050" h="4562475">
                  <a:moveTo>
                    <a:pt x="0" y="45100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4510087"/>
                  </a:lnTo>
                  <a:lnTo>
                    <a:pt x="10687049" y="4513527"/>
                  </a:lnTo>
                  <a:lnTo>
                    <a:pt x="10686713" y="4516933"/>
                  </a:lnTo>
                  <a:lnTo>
                    <a:pt x="10666625" y="4551734"/>
                  </a:lnTo>
                  <a:lnTo>
                    <a:pt x="10634661" y="4562474"/>
                  </a:lnTo>
                  <a:lnTo>
                    <a:pt x="52387" y="4562474"/>
                  </a:lnTo>
                  <a:lnTo>
                    <a:pt x="23282" y="4553644"/>
                  </a:lnTo>
                  <a:lnTo>
                    <a:pt x="20422" y="4551734"/>
                  </a:lnTo>
                  <a:lnTo>
                    <a:pt x="1006" y="4520306"/>
                  </a:lnTo>
                  <a:lnTo>
                    <a:pt x="335" y="4516933"/>
                  </a:lnTo>
                  <a:lnTo>
                    <a:pt x="0" y="4513527"/>
                  </a:lnTo>
                  <a:lnTo>
                    <a:pt x="0" y="4510087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35012" y="793572"/>
            <a:ext cx="6984365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TODO</a:t>
            </a:r>
            <a:r>
              <a:rPr spc="25" dirty="0"/>
              <a:t> </a:t>
            </a:r>
            <a:r>
              <a:rPr dirty="0"/>
              <a:t>—</a:t>
            </a:r>
            <a:r>
              <a:rPr spc="30" dirty="0"/>
              <a:t> </a:t>
            </a:r>
            <a:r>
              <a:rPr dirty="0"/>
              <a:t>Controller</a:t>
            </a:r>
            <a:r>
              <a:rPr spc="25" dirty="0"/>
              <a:t> </a:t>
            </a:r>
            <a:r>
              <a:rPr dirty="0"/>
              <a:t>(2/2)</a:t>
            </a:r>
            <a:r>
              <a:rPr spc="30" dirty="0"/>
              <a:t> </a:t>
            </a:r>
            <a:r>
              <a:rPr dirty="0"/>
              <a:t>:</a:t>
            </a:r>
            <a:r>
              <a:rPr spc="25" dirty="0"/>
              <a:t> </a:t>
            </a:r>
            <a:r>
              <a:rPr sz="2550" b="1" spc="-459" dirty="0">
                <a:latin typeface="Malgun Gothic"/>
                <a:cs typeface="Malgun Gothic"/>
              </a:rPr>
              <a:t>진입</a:t>
            </a:r>
            <a:r>
              <a:rPr sz="2550" b="1" spc="-245" dirty="0">
                <a:latin typeface="Malgun Gothic"/>
                <a:cs typeface="Malgun Gothic"/>
              </a:rPr>
              <a:t> </a:t>
            </a:r>
            <a:r>
              <a:rPr sz="2550" b="1" spc="-459" dirty="0">
                <a:latin typeface="Malgun Gothic"/>
                <a:cs typeface="Malgun Gothic"/>
              </a:rPr>
              <a:t>버튼</a:t>
            </a:r>
            <a:r>
              <a:rPr sz="2550" b="1" spc="-250" dirty="0">
                <a:latin typeface="Malgun Gothic"/>
                <a:cs typeface="Malgun Gothic"/>
              </a:rPr>
              <a:t> </a:t>
            </a:r>
            <a:r>
              <a:rPr dirty="0"/>
              <a:t>+</a:t>
            </a:r>
            <a:r>
              <a:rPr spc="30" dirty="0"/>
              <a:t> </a:t>
            </a:r>
            <a:r>
              <a:rPr dirty="0"/>
              <a:t>LoadRules</a:t>
            </a:r>
            <a:r>
              <a:rPr spc="25" dirty="0"/>
              <a:t> </a:t>
            </a:r>
            <a:r>
              <a:rPr sz="2550" b="1" spc="-484" dirty="0">
                <a:latin typeface="Malgun Gothic"/>
                <a:cs typeface="Malgun Gothic"/>
              </a:rPr>
              <a:t>시점</a:t>
            </a:r>
            <a:endParaRPr sz="2550">
              <a:latin typeface="Malgun Gothic"/>
              <a:cs typeface="Malgun Gothic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901700" y="1576546"/>
            <a:ext cx="7096759" cy="42773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1430"/>
              </a:lnSpc>
              <a:spcBef>
                <a:spcPts val="110"/>
              </a:spcBef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[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진입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버튼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연결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]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—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각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TeachFai*Dlg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에</a:t>
            </a:r>
            <a:r>
              <a:rPr sz="1200" spc="229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35" dirty="0">
                <a:solidFill>
                  <a:srgbClr val="1F2328"/>
                </a:solidFill>
                <a:latin typeface="Malgun Gothic"/>
                <a:cs typeface="Malgun Gothic"/>
              </a:rPr>
              <a:t>추가</a:t>
            </a:r>
            <a:endParaRPr sz="1200">
              <a:latin typeface="Malgun Gothic"/>
              <a:cs typeface="Malgun Gothic"/>
            </a:endParaRPr>
          </a:p>
          <a:p>
            <a:pPr marL="12700">
              <a:lnSpc>
                <a:spcPts val="1430"/>
              </a:lnSpc>
            </a:pP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파일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: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TeachFaiBOIDlg, TeachFaiAKCDlg, TeachFaiACTDlg, TeachFaiATWDlg, 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TeachFaiBOSDlg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ts val="1395"/>
              </a:lnSpc>
              <a:spcBef>
                <a:spcPts val="1335"/>
              </a:spcBef>
            </a:pP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각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.rc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파일</a:t>
            </a:r>
            <a:r>
              <a:rPr sz="1200" spc="-25" dirty="0">
                <a:solidFill>
                  <a:srgbClr val="1F2328"/>
                </a:solidFill>
                <a:latin typeface="Consolas"/>
                <a:cs typeface="Consolas"/>
              </a:rPr>
              <a:t>:</a:t>
            </a:r>
            <a:endParaRPr sz="1200">
              <a:latin typeface="Consolas"/>
              <a:cs typeface="Consolas"/>
            </a:endParaRPr>
          </a:p>
          <a:p>
            <a:pPr marL="181610">
              <a:lnSpc>
                <a:spcPts val="1395"/>
              </a:lnSpc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PUSHBUTTON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"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동적</a:t>
            </a:r>
            <a:r>
              <a:rPr sz="1200" spc="229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규칙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관리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", IDC_BTN_OPEN_DYNAMIC_RULE_MGR,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x, y,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w, </a:t>
            </a:r>
            <a:r>
              <a:rPr sz="1200" spc="-50" dirty="0">
                <a:solidFill>
                  <a:srgbClr val="1F2328"/>
                </a:solidFill>
                <a:latin typeface="Consolas"/>
                <a:cs typeface="Consolas"/>
              </a:rPr>
              <a:t>h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ts val="1430"/>
              </a:lnSpc>
              <a:spcBef>
                <a:spcPts val="1335"/>
              </a:spcBef>
            </a:pP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각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.cpp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파일</a:t>
            </a:r>
            <a:r>
              <a:rPr sz="1200" spc="-25" dirty="0">
                <a:solidFill>
                  <a:srgbClr val="1F2328"/>
                </a:solidFill>
                <a:latin typeface="Consolas"/>
                <a:cs typeface="Consolas"/>
              </a:rPr>
              <a:t>:</a:t>
            </a:r>
            <a:endParaRPr sz="1200">
              <a:latin typeface="Consolas"/>
              <a:cs typeface="Consolas"/>
            </a:endParaRPr>
          </a:p>
          <a:p>
            <a:pPr marL="181610">
              <a:lnSpc>
                <a:spcPts val="1430"/>
              </a:lnSpc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ON_BN_CLICKED(IDC_BTN_OPEN_DYNAMIC_RULE_MGR,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OnBnClickedOpenDynamicRuleMgr)</a:t>
            </a:r>
            <a:endParaRPr sz="1200">
              <a:latin typeface="Consolas"/>
              <a:cs typeface="Consolas"/>
            </a:endParaRPr>
          </a:p>
          <a:p>
            <a:pPr marL="350520" marR="2693670" indent="-169545">
              <a:lnSpc>
                <a:spcPct val="96400"/>
              </a:lnSpc>
              <a:spcBef>
                <a:spcPts val="1385"/>
              </a:spcBef>
            </a:pP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OnBnClickedOpenDynamicRuleMgr():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CTeachFaiDynamicRuleDlg</a:t>
            </a:r>
            <a:r>
              <a:rPr sz="1200" spc="-5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dlg(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현재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_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모델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_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타입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,</a:t>
            </a:r>
            <a:r>
              <a:rPr sz="1200" spc="-4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this) dlg.DoModal()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355"/>
              </a:spcBef>
            </a:pPr>
            <a:endParaRPr sz="1200">
              <a:latin typeface="Consolas"/>
              <a:cs typeface="Consolas"/>
            </a:endParaRPr>
          </a:p>
          <a:p>
            <a:pPr marL="12700">
              <a:lnSpc>
                <a:spcPts val="1430"/>
              </a:lnSpc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[LoadRules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호출</a:t>
            </a:r>
            <a:r>
              <a:rPr sz="1200" spc="229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시점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결정</a:t>
            </a:r>
            <a:r>
              <a:rPr sz="1200" spc="-25" dirty="0">
                <a:solidFill>
                  <a:srgbClr val="1F2328"/>
                </a:solidFill>
                <a:latin typeface="Consolas"/>
                <a:cs typeface="Consolas"/>
              </a:rPr>
              <a:t>]</a:t>
            </a:r>
            <a:endParaRPr sz="1200">
              <a:latin typeface="Consolas"/>
              <a:cs typeface="Consolas"/>
            </a:endParaRPr>
          </a:p>
          <a:p>
            <a:pPr marL="12700">
              <a:lnSpc>
                <a:spcPts val="1390"/>
              </a:lnSpc>
            </a:pP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현재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:</a:t>
            </a:r>
            <a:r>
              <a:rPr sz="1200" spc="-2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TeachFaiDynamicRuleDlg::OnInitDialog()</a:t>
            </a:r>
            <a:r>
              <a:rPr sz="1200" spc="-1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에서만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호출됨</a:t>
            </a:r>
            <a:endParaRPr sz="1200">
              <a:latin typeface="Malgun Gothic"/>
              <a:cs typeface="Malgun Gothic"/>
            </a:endParaRPr>
          </a:p>
          <a:p>
            <a:pPr marL="520065">
              <a:lnSpc>
                <a:spcPts val="1395"/>
              </a:lnSpc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→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Inspect()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실행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전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LoadRules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가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호출된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적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없으면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Execute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가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빈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규칙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리스트로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동작</a:t>
            </a:r>
            <a:endParaRPr sz="1200">
              <a:latin typeface="Malgun Gothic"/>
              <a:cs typeface="Malgun Gothic"/>
            </a:endParaRPr>
          </a:p>
          <a:p>
            <a:pPr marL="12700">
              <a:lnSpc>
                <a:spcPts val="1430"/>
              </a:lnSpc>
              <a:spcBef>
                <a:spcPts val="1335"/>
              </a:spcBef>
            </a:pP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권장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추가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위치</a:t>
            </a:r>
            <a:r>
              <a:rPr sz="1200" spc="-25" dirty="0">
                <a:solidFill>
                  <a:srgbClr val="1F2328"/>
                </a:solidFill>
                <a:latin typeface="Consolas"/>
                <a:cs typeface="Consolas"/>
              </a:rPr>
              <a:t>:</a:t>
            </a:r>
            <a:endParaRPr sz="1200">
              <a:latin typeface="Consolas"/>
              <a:cs typeface="Consolas"/>
            </a:endParaRPr>
          </a:p>
          <a:p>
            <a:pPr marL="181610">
              <a:lnSpc>
                <a:spcPts val="1425"/>
              </a:lnSpc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FAIInspectorFactory.cpp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의</a:t>
            </a:r>
            <a:r>
              <a:rPr sz="1200" spc="23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ReplaceFAIInspector()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내부</a:t>
            </a:r>
            <a:endParaRPr sz="1200">
              <a:latin typeface="Malgun Gothic"/>
              <a:cs typeface="Malgun Gothic"/>
            </a:endParaRPr>
          </a:p>
          <a:p>
            <a:pPr marL="181610" marR="1355090" indent="168910">
              <a:lnSpc>
                <a:spcPts val="1350"/>
              </a:lnSpc>
              <a:spcBef>
                <a:spcPts val="114"/>
              </a:spcBef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→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모델</a:t>
            </a:r>
            <a:r>
              <a:rPr sz="1200" spc="229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전환</a:t>
            </a:r>
            <a:r>
              <a:rPr sz="1200" spc="229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시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새</a:t>
            </a:r>
            <a:r>
              <a:rPr sz="1200" spc="229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Inspector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생성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직후</a:t>
            </a:r>
            <a:r>
              <a:rPr sz="1200" spc="229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LoadRules(newModelType)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호출 또는</a:t>
            </a:r>
            <a:endParaRPr sz="1200">
              <a:latin typeface="Malgun Gothic"/>
              <a:cs typeface="Malgun Gothic"/>
            </a:endParaRPr>
          </a:p>
          <a:p>
            <a:pPr marL="181610">
              <a:lnSpc>
                <a:spcPts val="1350"/>
              </a:lnSpc>
            </a:pP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각</a:t>
            </a:r>
            <a:r>
              <a:rPr sz="1200" spc="23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Inspector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생성자</a:t>
            </a:r>
            <a:endParaRPr sz="1200">
              <a:latin typeface="Malgun Gothic"/>
              <a:cs typeface="Malgun Gothic"/>
            </a:endParaRPr>
          </a:p>
          <a:p>
            <a:pPr marL="350520">
              <a:lnSpc>
                <a:spcPts val="1395"/>
              </a:lnSpc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→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FAIDynamicRuleManager::GetInstance().LoadRules(MODEL_TYPE)</a:t>
            </a:r>
            <a:endParaRPr sz="12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3155772"/>
            <a:ext cx="3149600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b="1" spc="-459" dirty="0">
                <a:latin typeface="Malgun Gothic"/>
                <a:cs typeface="Malgun Gothic"/>
              </a:rPr>
              <a:t>최종</a:t>
            </a:r>
            <a:r>
              <a:rPr sz="2550" b="1" spc="-260" dirty="0">
                <a:latin typeface="Malgun Gothic"/>
                <a:cs typeface="Malgun Gothic"/>
              </a:rPr>
              <a:t> </a:t>
            </a:r>
            <a:r>
              <a:rPr sz="2550" b="1" spc="-459" dirty="0">
                <a:latin typeface="Malgun Gothic"/>
                <a:cs typeface="Malgun Gothic"/>
              </a:rPr>
              <a:t>개발</a:t>
            </a:r>
            <a:r>
              <a:rPr sz="2550" b="1" spc="-254" dirty="0">
                <a:latin typeface="Malgun Gothic"/>
                <a:cs typeface="Malgun Gothic"/>
              </a:rPr>
              <a:t> </a:t>
            </a:r>
            <a:r>
              <a:rPr dirty="0"/>
              <a:t>Output</a:t>
            </a:r>
            <a:r>
              <a:rPr spc="30" dirty="0"/>
              <a:t> </a:t>
            </a:r>
            <a:r>
              <a:rPr sz="2550" b="1" spc="-459" dirty="0">
                <a:latin typeface="Malgun Gothic"/>
                <a:cs typeface="Malgun Gothic"/>
              </a:rPr>
              <a:t>및</a:t>
            </a:r>
            <a:r>
              <a:rPr sz="2550" b="1" spc="-250" dirty="0">
                <a:latin typeface="Malgun Gothic"/>
                <a:cs typeface="Malgun Gothic"/>
              </a:rPr>
              <a:t> </a:t>
            </a:r>
            <a:r>
              <a:rPr sz="2550" b="1" spc="-495" dirty="0">
                <a:latin typeface="Malgun Gothic"/>
                <a:cs typeface="Malgun Gothic"/>
              </a:rPr>
              <a:t>정리</a:t>
            </a:r>
            <a:endParaRPr sz="2550">
              <a:latin typeface="Malgun Gothic"/>
              <a:cs typeface="Malgun Gothic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2474" y="1724024"/>
            <a:ext cx="10696575" cy="19050"/>
          </a:xfrm>
          <a:custGeom>
            <a:avLst/>
            <a:gdLst/>
            <a:ahLst/>
            <a:cxnLst/>
            <a:rect l="l" t="t" r="r" b="b"/>
            <a:pathLst>
              <a:path w="10696575" h="19050">
                <a:moveTo>
                  <a:pt x="10696574" y="19049"/>
                </a:moveTo>
                <a:lnTo>
                  <a:pt x="0" y="19049"/>
                </a:lnTo>
                <a:lnTo>
                  <a:pt x="0" y="0"/>
                </a:lnTo>
                <a:lnTo>
                  <a:pt x="10696574" y="0"/>
                </a:lnTo>
                <a:lnTo>
                  <a:pt x="10696574" y="19049"/>
                </a:lnTo>
                <a:close/>
              </a:path>
            </a:pathLst>
          </a:custGeom>
          <a:solidFill>
            <a:srgbClr val="1A52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52474" y="1895474"/>
            <a:ext cx="38100" cy="276225"/>
          </a:xfrm>
          <a:custGeom>
            <a:avLst/>
            <a:gdLst/>
            <a:ahLst/>
            <a:cxnLst/>
            <a:rect l="l" t="t" r="r" b="b"/>
            <a:pathLst>
              <a:path w="38100" h="276225">
                <a:moveTo>
                  <a:pt x="38099" y="276224"/>
                </a:moveTo>
                <a:lnTo>
                  <a:pt x="0" y="276224"/>
                </a:lnTo>
                <a:lnTo>
                  <a:pt x="0" y="0"/>
                </a:lnTo>
                <a:lnTo>
                  <a:pt x="38099" y="0"/>
                </a:lnTo>
                <a:lnTo>
                  <a:pt x="38099" y="276224"/>
                </a:lnTo>
                <a:close/>
              </a:path>
            </a:pathLst>
          </a:custGeom>
          <a:solidFill>
            <a:srgbClr val="D0D9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5012" y="1241247"/>
            <a:ext cx="2190750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b="1" spc="-459" dirty="0">
                <a:latin typeface="Malgun Gothic"/>
                <a:cs typeface="Malgun Gothic"/>
              </a:rPr>
              <a:t>최종</a:t>
            </a:r>
            <a:r>
              <a:rPr sz="2550" b="1" spc="-270" dirty="0">
                <a:latin typeface="Malgun Gothic"/>
                <a:cs typeface="Malgun Gothic"/>
              </a:rPr>
              <a:t> </a:t>
            </a:r>
            <a:r>
              <a:rPr sz="2550" b="1" spc="-459" dirty="0">
                <a:latin typeface="Malgun Gothic"/>
                <a:cs typeface="Malgun Gothic"/>
              </a:rPr>
              <a:t>개발</a:t>
            </a:r>
            <a:r>
              <a:rPr sz="2550" b="1" spc="-270" dirty="0">
                <a:latin typeface="Malgun Gothic"/>
                <a:cs typeface="Malgun Gothic"/>
              </a:rPr>
              <a:t> </a:t>
            </a:r>
            <a:r>
              <a:rPr spc="-10" dirty="0"/>
              <a:t>Output</a:t>
            </a:r>
            <a:endParaRPr sz="2550">
              <a:latin typeface="Malgun Gothic"/>
              <a:cs typeface="Malgun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4087" y="1887823"/>
            <a:ext cx="4268470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b="1" spc="-305" dirty="0">
                <a:solidFill>
                  <a:srgbClr val="58626E"/>
                </a:solidFill>
                <a:latin typeface="Malgun Gothic"/>
                <a:cs typeface="Malgun Gothic"/>
              </a:rPr>
              <a:t>모든</a:t>
            </a:r>
            <a:r>
              <a:rPr sz="1600" b="1" spc="-160" dirty="0">
                <a:solidFill>
                  <a:srgbClr val="58626E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58626E"/>
                </a:solidFill>
                <a:latin typeface="Segoe UI Semibold"/>
                <a:cs typeface="Segoe UI Semibold"/>
              </a:rPr>
              <a:t>FAI</a:t>
            </a:r>
            <a:r>
              <a:rPr sz="1400" spc="20" dirty="0">
                <a:solidFill>
                  <a:srgbClr val="58626E"/>
                </a:solidFill>
                <a:latin typeface="Segoe UI Semibold"/>
                <a:cs typeface="Segoe UI Semibold"/>
              </a:rPr>
              <a:t> </a:t>
            </a:r>
            <a:r>
              <a:rPr sz="1600" b="1" spc="-240" dirty="0">
                <a:solidFill>
                  <a:srgbClr val="58626E"/>
                </a:solidFill>
                <a:latin typeface="Malgun Gothic"/>
                <a:cs typeface="Malgun Gothic"/>
              </a:rPr>
              <a:t>추가</a:t>
            </a:r>
            <a:r>
              <a:rPr sz="1400" spc="-240" dirty="0">
                <a:solidFill>
                  <a:srgbClr val="58626E"/>
                </a:solidFill>
                <a:latin typeface="Segoe UI Semibold"/>
                <a:cs typeface="Segoe UI Semibold"/>
              </a:rPr>
              <a:t>/</a:t>
            </a:r>
            <a:r>
              <a:rPr sz="1600" b="1" spc="-240" dirty="0">
                <a:solidFill>
                  <a:srgbClr val="58626E"/>
                </a:solidFill>
                <a:latin typeface="Malgun Gothic"/>
                <a:cs typeface="Malgun Gothic"/>
              </a:rPr>
              <a:t>삭제</a:t>
            </a:r>
            <a:r>
              <a:rPr sz="1400" spc="-240" dirty="0">
                <a:solidFill>
                  <a:srgbClr val="58626E"/>
                </a:solidFill>
                <a:latin typeface="Segoe UI Semibold"/>
                <a:cs typeface="Segoe UI Semibold"/>
              </a:rPr>
              <a:t>/</a:t>
            </a:r>
            <a:r>
              <a:rPr sz="1600" b="1" spc="-240" dirty="0">
                <a:solidFill>
                  <a:srgbClr val="58626E"/>
                </a:solidFill>
                <a:latin typeface="Malgun Gothic"/>
                <a:cs typeface="Malgun Gothic"/>
              </a:rPr>
              <a:t>관리는</a:t>
            </a:r>
            <a:r>
              <a:rPr sz="1600" b="1" spc="-160" dirty="0">
                <a:solidFill>
                  <a:srgbClr val="58626E"/>
                </a:solidFill>
                <a:latin typeface="Malgun Gothic"/>
                <a:cs typeface="Malgun Gothic"/>
              </a:rPr>
              <a:t> </a:t>
            </a:r>
            <a:r>
              <a:rPr sz="1400" spc="-170" dirty="0">
                <a:solidFill>
                  <a:srgbClr val="58626E"/>
                </a:solidFill>
                <a:latin typeface="Segoe UI Semibold"/>
                <a:cs typeface="Segoe UI Semibold"/>
              </a:rPr>
              <a:t>GUI(</a:t>
            </a:r>
            <a:r>
              <a:rPr sz="1600" b="1" spc="-170" dirty="0">
                <a:solidFill>
                  <a:srgbClr val="58626E"/>
                </a:solidFill>
                <a:latin typeface="Malgun Gothic"/>
                <a:cs typeface="Malgun Gothic"/>
              </a:rPr>
              <a:t>다이얼로그</a:t>
            </a:r>
            <a:r>
              <a:rPr sz="1400" spc="-170" dirty="0">
                <a:solidFill>
                  <a:srgbClr val="58626E"/>
                </a:solidFill>
                <a:latin typeface="Segoe UI Semibold"/>
                <a:cs typeface="Segoe UI Semibold"/>
              </a:rPr>
              <a:t>)</a:t>
            </a:r>
            <a:r>
              <a:rPr sz="1600" b="1" spc="-170" dirty="0">
                <a:solidFill>
                  <a:srgbClr val="58626E"/>
                </a:solidFill>
                <a:latin typeface="Malgun Gothic"/>
                <a:cs typeface="Malgun Gothic"/>
              </a:rPr>
              <a:t>를</a:t>
            </a:r>
            <a:r>
              <a:rPr sz="1600" b="1" spc="-160" dirty="0">
                <a:solidFill>
                  <a:srgbClr val="58626E"/>
                </a:solidFill>
                <a:latin typeface="Malgun Gothic"/>
                <a:cs typeface="Malgun Gothic"/>
              </a:rPr>
              <a:t> </a:t>
            </a:r>
            <a:r>
              <a:rPr sz="1600" b="1" spc="-305" dirty="0">
                <a:solidFill>
                  <a:srgbClr val="58626E"/>
                </a:solidFill>
                <a:latin typeface="Malgun Gothic"/>
                <a:cs typeface="Malgun Gothic"/>
              </a:rPr>
              <a:t>통해</a:t>
            </a:r>
            <a:r>
              <a:rPr sz="1600" b="1" spc="-155" dirty="0">
                <a:solidFill>
                  <a:srgbClr val="58626E"/>
                </a:solidFill>
                <a:latin typeface="Malgun Gothic"/>
                <a:cs typeface="Malgun Gothic"/>
              </a:rPr>
              <a:t> </a:t>
            </a:r>
            <a:r>
              <a:rPr sz="1600" b="1" spc="-330" dirty="0">
                <a:solidFill>
                  <a:srgbClr val="58626E"/>
                </a:solidFill>
                <a:latin typeface="Malgun Gothic"/>
                <a:cs typeface="Malgun Gothic"/>
              </a:rPr>
              <a:t>수행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486024" y="3667124"/>
            <a:ext cx="3095625" cy="352425"/>
            <a:chOff x="2486024" y="3667124"/>
            <a:chExt cx="3095625" cy="352425"/>
          </a:xfrm>
        </p:grpSpPr>
        <p:sp>
          <p:nvSpPr>
            <p:cNvPr id="7" name="object 7"/>
            <p:cNvSpPr/>
            <p:nvPr/>
          </p:nvSpPr>
          <p:spPr>
            <a:xfrm>
              <a:off x="2486024" y="3667124"/>
              <a:ext cx="3095625" cy="352425"/>
            </a:xfrm>
            <a:custGeom>
              <a:avLst/>
              <a:gdLst/>
              <a:ahLst/>
              <a:cxnLst/>
              <a:rect l="l" t="t" r="r" b="b"/>
              <a:pathLst>
                <a:path w="3095625" h="352425">
                  <a:moveTo>
                    <a:pt x="3095624" y="352424"/>
                  </a:moveTo>
                  <a:lnTo>
                    <a:pt x="0" y="352424"/>
                  </a:lnTo>
                  <a:lnTo>
                    <a:pt x="0" y="0"/>
                  </a:lnTo>
                  <a:lnTo>
                    <a:pt x="3095624" y="0"/>
                  </a:lnTo>
                  <a:lnTo>
                    <a:pt x="3095624" y="352424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838437" y="3752849"/>
              <a:ext cx="1009650" cy="200025"/>
            </a:xfrm>
            <a:custGeom>
              <a:avLst/>
              <a:gdLst/>
              <a:ahLst/>
              <a:cxnLst/>
              <a:rect l="l" t="t" r="r" b="b"/>
              <a:pathLst>
                <a:path w="1009650" h="200025">
                  <a:moveTo>
                    <a:pt x="466725" y="53403"/>
                  </a:moveTo>
                  <a:lnTo>
                    <a:pt x="447332" y="14097"/>
                  </a:lnTo>
                  <a:lnTo>
                    <a:pt x="413334" y="0"/>
                  </a:lnTo>
                  <a:lnTo>
                    <a:pt x="53403" y="0"/>
                  </a:lnTo>
                  <a:lnTo>
                    <a:pt x="14097" y="19392"/>
                  </a:lnTo>
                  <a:lnTo>
                    <a:pt x="0" y="53403"/>
                  </a:lnTo>
                  <a:lnTo>
                    <a:pt x="0" y="142875"/>
                  </a:lnTo>
                  <a:lnTo>
                    <a:pt x="0" y="146634"/>
                  </a:lnTo>
                  <a:lnTo>
                    <a:pt x="19392" y="185940"/>
                  </a:lnTo>
                  <a:lnTo>
                    <a:pt x="53403" y="200025"/>
                  </a:lnTo>
                  <a:lnTo>
                    <a:pt x="413334" y="200025"/>
                  </a:lnTo>
                  <a:lnTo>
                    <a:pt x="452640" y="180644"/>
                  </a:lnTo>
                  <a:lnTo>
                    <a:pt x="466725" y="146634"/>
                  </a:lnTo>
                  <a:lnTo>
                    <a:pt x="466725" y="53403"/>
                  </a:lnTo>
                  <a:close/>
                </a:path>
                <a:path w="1009650" h="200025">
                  <a:moveTo>
                    <a:pt x="1009650" y="53403"/>
                  </a:moveTo>
                  <a:lnTo>
                    <a:pt x="990269" y="14097"/>
                  </a:lnTo>
                  <a:lnTo>
                    <a:pt x="956259" y="0"/>
                  </a:lnTo>
                  <a:lnTo>
                    <a:pt x="596328" y="0"/>
                  </a:lnTo>
                  <a:lnTo>
                    <a:pt x="557022" y="19392"/>
                  </a:lnTo>
                  <a:lnTo>
                    <a:pt x="542925" y="53403"/>
                  </a:lnTo>
                  <a:lnTo>
                    <a:pt x="542925" y="142875"/>
                  </a:lnTo>
                  <a:lnTo>
                    <a:pt x="542925" y="146634"/>
                  </a:lnTo>
                  <a:lnTo>
                    <a:pt x="562317" y="185940"/>
                  </a:lnTo>
                  <a:lnTo>
                    <a:pt x="596328" y="200025"/>
                  </a:lnTo>
                  <a:lnTo>
                    <a:pt x="956259" y="200025"/>
                  </a:lnTo>
                  <a:lnTo>
                    <a:pt x="995565" y="180644"/>
                  </a:lnTo>
                  <a:lnTo>
                    <a:pt x="1009650" y="146634"/>
                  </a:lnTo>
                  <a:lnTo>
                    <a:pt x="1009650" y="53403"/>
                  </a:lnTo>
                  <a:close/>
                </a:path>
              </a:pathLst>
            </a:custGeom>
            <a:solidFill>
              <a:srgbClr val="818B98">
                <a:alpha val="121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752474" y="2952749"/>
          <a:ext cx="4819650" cy="17684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179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단계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1A5275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항목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1A5275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설명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1A52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spc="130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1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FAI</a:t>
                      </a:r>
                      <a:r>
                        <a:rPr sz="1200" spc="-6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번호</a:t>
                      </a:r>
                      <a:r>
                        <a:rPr sz="1350" spc="-14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등록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정수</a:t>
                      </a:r>
                      <a:r>
                        <a:rPr sz="1350" spc="-13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번호</a:t>
                      </a:r>
                      <a:r>
                        <a:rPr sz="1350" spc="-1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17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입력</a:t>
                      </a:r>
                      <a:r>
                        <a:rPr sz="1200" spc="-17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.</a:t>
                      </a:r>
                      <a:r>
                        <a:rPr sz="1200" spc="2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Sub</a:t>
                      </a:r>
                      <a:r>
                        <a:rPr sz="1200" spc="15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b="1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넘버링</a:t>
                      </a:r>
                      <a:r>
                        <a:rPr sz="1350" b="1" spc="-1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b="1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지원</a:t>
                      </a:r>
                      <a:r>
                        <a:rPr sz="1200" spc="-2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: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2025" baseline="2057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예</a:t>
                      </a:r>
                      <a:r>
                        <a:rPr sz="1800" baseline="2314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)</a:t>
                      </a:r>
                      <a:r>
                        <a:rPr sz="1800" spc="480" baseline="2314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0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147-1</a:t>
                      </a:r>
                      <a:r>
                        <a:rPr sz="1000" spc="-14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aseline="2314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,</a:t>
                      </a:r>
                      <a:r>
                        <a:rPr sz="1800" spc="532" baseline="2314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0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147-</a:t>
                      </a:r>
                      <a:r>
                        <a:rPr sz="1000" spc="-5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2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T="68580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spc="-50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2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검사</a:t>
                      </a:r>
                      <a:r>
                        <a:rPr sz="1350" spc="-13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방식</a:t>
                      </a:r>
                      <a:r>
                        <a:rPr sz="1350" spc="-13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등록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00" spc="-17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4</a:t>
                      </a:r>
                      <a:r>
                        <a:rPr sz="1350" spc="-17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가지</a:t>
                      </a:r>
                      <a:r>
                        <a:rPr sz="1350" spc="-13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방식</a:t>
                      </a:r>
                      <a:r>
                        <a:rPr sz="1350" spc="-13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중</a:t>
                      </a:r>
                      <a:r>
                        <a:rPr sz="1350" spc="-13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선택</a:t>
                      </a:r>
                      <a:r>
                        <a:rPr sz="1350" spc="-13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spc="-17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(</a:t>
                      </a:r>
                      <a:r>
                        <a:rPr sz="1350" spc="-17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콤보박스</a:t>
                      </a:r>
                      <a:r>
                        <a:rPr sz="1200" spc="-17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)</a:t>
                      </a:r>
                      <a:r>
                        <a:rPr sz="1200" spc="1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-</a:t>
                      </a:r>
                      <a:r>
                        <a:rPr sz="1200" spc="1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400" spc="-29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우측</a:t>
                      </a:r>
                      <a:r>
                        <a:rPr sz="1400" spc="-14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29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표</a:t>
                      </a:r>
                      <a:r>
                        <a:rPr sz="1400" spc="-1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32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참조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5524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spc="-50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3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FAI</a:t>
                      </a:r>
                      <a:r>
                        <a:rPr sz="1200" spc="-6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스펙</a:t>
                      </a:r>
                      <a:r>
                        <a:rPr sz="1350" spc="-14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등록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이상</a:t>
                      </a:r>
                      <a:r>
                        <a:rPr sz="1350" spc="-13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판정</a:t>
                      </a:r>
                      <a:r>
                        <a:rPr sz="1350" spc="-13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17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기준값</a:t>
                      </a:r>
                      <a:r>
                        <a:rPr sz="1200" spc="-17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(</a:t>
                      </a:r>
                      <a:r>
                        <a:rPr sz="1350" spc="-17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상한</a:t>
                      </a:r>
                      <a:r>
                        <a:rPr sz="1200" spc="-17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/</a:t>
                      </a:r>
                      <a:r>
                        <a:rPr sz="1350" spc="-17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하한</a:t>
                      </a:r>
                      <a:r>
                        <a:rPr sz="1200" spc="-17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)</a:t>
                      </a:r>
                      <a:r>
                        <a:rPr sz="1200" spc="1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등록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735012" y="2524598"/>
            <a:ext cx="726440" cy="2959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dirty="0">
                <a:solidFill>
                  <a:srgbClr val="1F618C"/>
                </a:solidFill>
                <a:latin typeface="Segoe UI Semibold"/>
                <a:cs typeface="Segoe UI Semibold"/>
              </a:rPr>
              <a:t>FAI</a:t>
            </a:r>
            <a:r>
              <a:rPr sz="1550" spc="-75" dirty="0">
                <a:solidFill>
                  <a:srgbClr val="1F618C"/>
                </a:solidFill>
                <a:latin typeface="Segoe UI Semibold"/>
                <a:cs typeface="Segoe UI Semibold"/>
              </a:rPr>
              <a:t> </a:t>
            </a:r>
            <a:r>
              <a:rPr sz="1750" b="1" spc="-340" dirty="0">
                <a:solidFill>
                  <a:srgbClr val="1F618C"/>
                </a:solidFill>
                <a:latin typeface="Malgun Gothic"/>
                <a:cs typeface="Malgun Gothic"/>
              </a:rPr>
              <a:t>추가</a:t>
            </a:r>
            <a:endParaRPr sz="1750">
              <a:latin typeface="Malgun Gothic"/>
              <a:cs typeface="Malgun Gothic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791699" y="3886199"/>
            <a:ext cx="1647825" cy="352425"/>
            <a:chOff x="9791699" y="3886199"/>
            <a:chExt cx="1647825" cy="352425"/>
          </a:xfrm>
        </p:grpSpPr>
        <p:sp>
          <p:nvSpPr>
            <p:cNvPr id="12" name="object 12"/>
            <p:cNvSpPr/>
            <p:nvPr/>
          </p:nvSpPr>
          <p:spPr>
            <a:xfrm>
              <a:off x="9791699" y="3886199"/>
              <a:ext cx="1647825" cy="352425"/>
            </a:xfrm>
            <a:custGeom>
              <a:avLst/>
              <a:gdLst/>
              <a:ahLst/>
              <a:cxnLst/>
              <a:rect l="l" t="t" r="r" b="b"/>
              <a:pathLst>
                <a:path w="1647825" h="352425">
                  <a:moveTo>
                    <a:pt x="1647824" y="352424"/>
                  </a:moveTo>
                  <a:lnTo>
                    <a:pt x="0" y="352424"/>
                  </a:lnTo>
                  <a:lnTo>
                    <a:pt x="0" y="0"/>
                  </a:lnTo>
                  <a:lnTo>
                    <a:pt x="1647824" y="0"/>
                  </a:lnTo>
                  <a:lnTo>
                    <a:pt x="1647824" y="352424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15523" y="3971924"/>
              <a:ext cx="247649" cy="20002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0239374" y="3971924"/>
              <a:ext cx="466725" cy="200025"/>
            </a:xfrm>
            <a:custGeom>
              <a:avLst/>
              <a:gdLst/>
              <a:ahLst/>
              <a:cxnLst/>
              <a:rect l="l" t="t" r="r" b="b"/>
              <a:pathLst>
                <a:path w="466725" h="200025">
                  <a:moveTo>
                    <a:pt x="413327" y="200024"/>
                  </a:moveTo>
                  <a:lnTo>
                    <a:pt x="53397" y="200024"/>
                  </a:lnTo>
                  <a:lnTo>
                    <a:pt x="49680" y="199658"/>
                  </a:lnTo>
                  <a:lnTo>
                    <a:pt x="14084" y="180632"/>
                  </a:lnTo>
                  <a:lnTo>
                    <a:pt x="0" y="146627"/>
                  </a:lnTo>
                  <a:lnTo>
                    <a:pt x="0" y="142874"/>
                  </a:lnTo>
                  <a:lnTo>
                    <a:pt x="0" y="53397"/>
                  </a:lnTo>
                  <a:lnTo>
                    <a:pt x="19391" y="14084"/>
                  </a:lnTo>
                  <a:lnTo>
                    <a:pt x="53397" y="0"/>
                  </a:lnTo>
                  <a:lnTo>
                    <a:pt x="413327" y="0"/>
                  </a:lnTo>
                  <a:lnTo>
                    <a:pt x="452638" y="19391"/>
                  </a:lnTo>
                  <a:lnTo>
                    <a:pt x="466726" y="53397"/>
                  </a:lnTo>
                  <a:lnTo>
                    <a:pt x="466726" y="146627"/>
                  </a:lnTo>
                  <a:lnTo>
                    <a:pt x="447330" y="185939"/>
                  </a:lnTo>
                  <a:lnTo>
                    <a:pt x="417043" y="199658"/>
                  </a:lnTo>
                  <a:lnTo>
                    <a:pt x="413327" y="200024"/>
                  </a:lnTo>
                  <a:close/>
                </a:path>
              </a:pathLst>
            </a:custGeom>
            <a:solidFill>
              <a:srgbClr val="818B98">
                <a:alpha val="121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9791699" y="4829174"/>
            <a:ext cx="1647825" cy="581025"/>
            <a:chOff x="9791699" y="4829174"/>
            <a:chExt cx="1647825" cy="581025"/>
          </a:xfrm>
        </p:grpSpPr>
        <p:sp>
          <p:nvSpPr>
            <p:cNvPr id="16" name="object 16"/>
            <p:cNvSpPr/>
            <p:nvPr/>
          </p:nvSpPr>
          <p:spPr>
            <a:xfrm>
              <a:off x="9791699" y="4829174"/>
              <a:ext cx="1647825" cy="581025"/>
            </a:xfrm>
            <a:custGeom>
              <a:avLst/>
              <a:gdLst/>
              <a:ahLst/>
              <a:cxnLst/>
              <a:rect l="l" t="t" r="r" b="b"/>
              <a:pathLst>
                <a:path w="1647825" h="581025">
                  <a:moveTo>
                    <a:pt x="1647824" y="581024"/>
                  </a:moveTo>
                  <a:lnTo>
                    <a:pt x="0" y="581024"/>
                  </a:lnTo>
                  <a:lnTo>
                    <a:pt x="0" y="0"/>
                  </a:lnTo>
                  <a:lnTo>
                    <a:pt x="1647824" y="0"/>
                  </a:lnTo>
                  <a:lnTo>
                    <a:pt x="1647824" y="581024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915523" y="5029199"/>
              <a:ext cx="533400" cy="200025"/>
            </a:xfrm>
            <a:custGeom>
              <a:avLst/>
              <a:gdLst/>
              <a:ahLst/>
              <a:cxnLst/>
              <a:rect l="l" t="t" r="r" b="b"/>
              <a:pathLst>
                <a:path w="533400" h="200025">
                  <a:moveTo>
                    <a:pt x="480003" y="200024"/>
                  </a:moveTo>
                  <a:lnTo>
                    <a:pt x="53397" y="200024"/>
                  </a:lnTo>
                  <a:lnTo>
                    <a:pt x="49680" y="199658"/>
                  </a:lnTo>
                  <a:lnTo>
                    <a:pt x="14086" y="180631"/>
                  </a:lnTo>
                  <a:lnTo>
                    <a:pt x="0" y="146627"/>
                  </a:lnTo>
                  <a:lnTo>
                    <a:pt x="1" y="142874"/>
                  </a:lnTo>
                  <a:lnTo>
                    <a:pt x="0" y="53397"/>
                  </a:lnTo>
                  <a:lnTo>
                    <a:pt x="19392" y="14085"/>
                  </a:lnTo>
                  <a:lnTo>
                    <a:pt x="53397" y="0"/>
                  </a:lnTo>
                  <a:lnTo>
                    <a:pt x="480003" y="0"/>
                  </a:lnTo>
                  <a:lnTo>
                    <a:pt x="519314" y="19391"/>
                  </a:lnTo>
                  <a:lnTo>
                    <a:pt x="533401" y="53397"/>
                  </a:lnTo>
                  <a:lnTo>
                    <a:pt x="533401" y="146627"/>
                  </a:lnTo>
                  <a:lnTo>
                    <a:pt x="514006" y="185939"/>
                  </a:lnTo>
                  <a:lnTo>
                    <a:pt x="483718" y="199658"/>
                  </a:lnTo>
                  <a:lnTo>
                    <a:pt x="480003" y="200024"/>
                  </a:lnTo>
                  <a:close/>
                </a:path>
              </a:pathLst>
            </a:custGeom>
            <a:solidFill>
              <a:srgbClr val="818B98">
                <a:alpha val="121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219030" y="2515773"/>
            <a:ext cx="1113790" cy="2832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b="1" spc="-340" dirty="0">
                <a:solidFill>
                  <a:srgbClr val="1F2328"/>
                </a:solidFill>
                <a:latin typeface="Malgun Gothic"/>
                <a:cs typeface="Malgun Gothic"/>
              </a:rPr>
              <a:t>검사</a:t>
            </a:r>
            <a:r>
              <a:rPr sz="1700" b="1" spc="-19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700" b="1" spc="-340" dirty="0">
                <a:solidFill>
                  <a:srgbClr val="1F2328"/>
                </a:solidFill>
                <a:latin typeface="Malgun Gothic"/>
                <a:cs typeface="Malgun Gothic"/>
              </a:rPr>
              <a:t>방식</a:t>
            </a:r>
            <a:r>
              <a:rPr sz="1700" b="1" spc="-19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500" spc="-110" dirty="0">
                <a:solidFill>
                  <a:srgbClr val="1F2328"/>
                </a:solidFill>
                <a:latin typeface="Segoe UI Semibold"/>
                <a:cs typeface="Segoe UI Semibold"/>
              </a:rPr>
              <a:t>4</a:t>
            </a:r>
            <a:r>
              <a:rPr sz="1700" b="1" spc="-110" dirty="0">
                <a:solidFill>
                  <a:srgbClr val="1F2328"/>
                </a:solidFill>
                <a:latin typeface="Malgun Gothic"/>
                <a:cs typeface="Malgun Gothic"/>
              </a:rPr>
              <a:t>종</a:t>
            </a:r>
            <a:endParaRPr sz="1700">
              <a:latin typeface="Malgun Gothic"/>
              <a:cs typeface="Malgun Gothic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9915523" y="3381374"/>
            <a:ext cx="1114425" cy="438150"/>
            <a:chOff x="9915523" y="3381374"/>
            <a:chExt cx="1114425" cy="438150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15523" y="3381374"/>
              <a:ext cx="247649" cy="20954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9915523" y="3619499"/>
              <a:ext cx="1114425" cy="200025"/>
            </a:xfrm>
            <a:custGeom>
              <a:avLst/>
              <a:gdLst/>
              <a:ahLst/>
              <a:cxnLst/>
              <a:rect l="l" t="t" r="r" b="b"/>
              <a:pathLst>
                <a:path w="1114425" h="200025">
                  <a:moveTo>
                    <a:pt x="1061028" y="200024"/>
                  </a:moveTo>
                  <a:lnTo>
                    <a:pt x="53397" y="200024"/>
                  </a:lnTo>
                  <a:lnTo>
                    <a:pt x="49680" y="199659"/>
                  </a:lnTo>
                  <a:lnTo>
                    <a:pt x="14086" y="180632"/>
                  </a:lnTo>
                  <a:lnTo>
                    <a:pt x="0" y="146627"/>
                  </a:lnTo>
                  <a:lnTo>
                    <a:pt x="1" y="142874"/>
                  </a:lnTo>
                  <a:lnTo>
                    <a:pt x="0" y="53397"/>
                  </a:lnTo>
                  <a:lnTo>
                    <a:pt x="19392" y="14084"/>
                  </a:lnTo>
                  <a:lnTo>
                    <a:pt x="53397" y="0"/>
                  </a:lnTo>
                  <a:lnTo>
                    <a:pt x="1061028" y="0"/>
                  </a:lnTo>
                  <a:lnTo>
                    <a:pt x="1100339" y="19391"/>
                  </a:lnTo>
                  <a:lnTo>
                    <a:pt x="1114424" y="53397"/>
                  </a:lnTo>
                  <a:lnTo>
                    <a:pt x="1114424" y="146627"/>
                  </a:lnTo>
                  <a:lnTo>
                    <a:pt x="1095031" y="185939"/>
                  </a:lnTo>
                  <a:lnTo>
                    <a:pt x="1064744" y="199659"/>
                  </a:lnTo>
                  <a:lnTo>
                    <a:pt x="1061028" y="200024"/>
                  </a:lnTo>
                  <a:close/>
                </a:path>
              </a:pathLst>
            </a:custGeom>
            <a:solidFill>
              <a:srgbClr val="818B98">
                <a:alpha val="121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15523" y="4438649"/>
            <a:ext cx="247649" cy="209549"/>
          </a:xfrm>
          <a:prstGeom prst="rect">
            <a:avLst/>
          </a:prstGeom>
        </p:spPr>
      </p:pic>
      <p:sp>
        <p:nvSpPr>
          <p:cNvPr id="23" name="object 23"/>
          <p:cNvSpPr/>
          <p:nvPr/>
        </p:nvSpPr>
        <p:spPr>
          <a:xfrm>
            <a:off x="10239374" y="4438649"/>
            <a:ext cx="819150" cy="209550"/>
          </a:xfrm>
          <a:custGeom>
            <a:avLst/>
            <a:gdLst/>
            <a:ahLst/>
            <a:cxnLst/>
            <a:rect l="l" t="t" r="r" b="b"/>
            <a:pathLst>
              <a:path w="819150" h="209550">
                <a:moveTo>
                  <a:pt x="765752" y="209549"/>
                </a:moveTo>
                <a:lnTo>
                  <a:pt x="53397" y="209549"/>
                </a:lnTo>
                <a:lnTo>
                  <a:pt x="49680" y="209183"/>
                </a:lnTo>
                <a:lnTo>
                  <a:pt x="14084" y="190157"/>
                </a:lnTo>
                <a:lnTo>
                  <a:pt x="0" y="156152"/>
                </a:lnTo>
                <a:lnTo>
                  <a:pt x="0" y="152399"/>
                </a:lnTo>
                <a:lnTo>
                  <a:pt x="0" y="53397"/>
                </a:lnTo>
                <a:lnTo>
                  <a:pt x="19391" y="14084"/>
                </a:lnTo>
                <a:lnTo>
                  <a:pt x="53397" y="0"/>
                </a:lnTo>
                <a:lnTo>
                  <a:pt x="765752" y="0"/>
                </a:lnTo>
                <a:lnTo>
                  <a:pt x="805063" y="19391"/>
                </a:lnTo>
                <a:lnTo>
                  <a:pt x="819149" y="53397"/>
                </a:lnTo>
                <a:lnTo>
                  <a:pt x="819149" y="156152"/>
                </a:lnTo>
                <a:lnTo>
                  <a:pt x="799755" y="195463"/>
                </a:lnTo>
                <a:lnTo>
                  <a:pt x="769468" y="209183"/>
                </a:lnTo>
                <a:lnTo>
                  <a:pt x="765752" y="209549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6229349" y="2943224"/>
          <a:ext cx="5210175" cy="2463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1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179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방식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1A527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설명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1A5275"/>
                    </a:solidFill>
                  </a:tcPr>
                </a:tc>
                <a:tc>
                  <a:txBody>
                    <a:bodyPr/>
                    <a:lstStyle/>
                    <a:p>
                      <a:pPr marL="30861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-25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내부</a:t>
                      </a:r>
                      <a:r>
                        <a:rPr sz="1350" b="1" spc="-13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b="1" spc="-25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타입</a:t>
                      </a:r>
                      <a:r>
                        <a:rPr sz="1350" b="1" spc="-13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spc="-20" dirty="0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(</a:t>
                      </a:r>
                      <a:r>
                        <a:rPr sz="1350" b="1" spc="-2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예시</a:t>
                      </a:r>
                      <a:r>
                        <a:rPr sz="1200" spc="-20" dirty="0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)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1A52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0810">
                        <a:lnSpc>
                          <a:spcPct val="100000"/>
                        </a:lnSpc>
                      </a:pPr>
                      <a:r>
                        <a:rPr sz="1350" b="1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거리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28905">
                        <a:lnSpc>
                          <a:spcPct val="100000"/>
                        </a:lnSpc>
                      </a:pP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두</a:t>
                      </a:r>
                      <a:r>
                        <a:rPr sz="1350" spc="-13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측정점</a:t>
                      </a:r>
                      <a:r>
                        <a:rPr sz="1350" spc="-13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간</a:t>
                      </a:r>
                      <a:r>
                        <a:rPr sz="1350" spc="-13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직선</a:t>
                      </a:r>
                      <a:r>
                        <a:rPr sz="1350" spc="-13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거리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00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P5</a:t>
                      </a:r>
                      <a:r>
                        <a:rPr sz="1000" spc="-12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200" spc="-5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,</a:t>
                      </a:r>
                      <a:endParaRPr sz="1200">
                        <a:latin typeface="Segoe UI"/>
                        <a:cs typeface="Segoe UI"/>
                      </a:endParaRPr>
                    </a:p>
                    <a:p>
                      <a:pPr marL="18097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000" spc="-1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POINT_DISTANCE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315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각도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두</a:t>
                      </a:r>
                      <a:r>
                        <a:rPr sz="1350" spc="-13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선분</a:t>
                      </a:r>
                      <a:r>
                        <a:rPr sz="1350" spc="-13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사이의</a:t>
                      </a:r>
                      <a:r>
                        <a:rPr sz="1350" spc="-13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각도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00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P7</a:t>
                      </a:r>
                      <a:r>
                        <a:rPr sz="1000" spc="-135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800" baseline="2314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,</a:t>
                      </a:r>
                      <a:r>
                        <a:rPr sz="1800" spc="637" baseline="2314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00" spc="-1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ANGLE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T="87630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0810">
                        <a:lnSpc>
                          <a:spcPct val="100000"/>
                        </a:lnSpc>
                      </a:pPr>
                      <a:r>
                        <a:rPr sz="1350" b="1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원</a:t>
                      </a:r>
                      <a:r>
                        <a:rPr sz="1350" b="1" spc="-14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b="1" spc="-4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반지름</a:t>
                      </a:r>
                      <a:r>
                        <a:rPr sz="1200" spc="-45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/</a:t>
                      </a:r>
                      <a:r>
                        <a:rPr sz="1350" b="1" spc="-4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지름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905" marR="202565">
                        <a:lnSpc>
                          <a:spcPct val="111100"/>
                        </a:lnSpc>
                        <a:spcBef>
                          <a:spcPts val="305"/>
                        </a:spcBef>
                      </a:pPr>
                      <a:r>
                        <a:rPr sz="1200" spc="-13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8</a:t>
                      </a:r>
                      <a:r>
                        <a:rPr sz="1350" spc="-13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개</a:t>
                      </a:r>
                      <a:r>
                        <a:rPr sz="1350" spc="-13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측정점</a:t>
                      </a:r>
                      <a:r>
                        <a:rPr sz="1350" spc="-13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기반</a:t>
                      </a:r>
                      <a:r>
                        <a:rPr sz="1350" spc="-13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원</a:t>
                      </a:r>
                      <a:r>
                        <a:rPr sz="1350" spc="-13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19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지름</a:t>
                      </a:r>
                      <a:r>
                        <a:rPr sz="1200" spc="-19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·</a:t>
                      </a:r>
                      <a:r>
                        <a:rPr sz="1350" spc="-19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중심 </a:t>
                      </a:r>
                      <a:r>
                        <a:rPr sz="135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산출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3873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80975">
                        <a:lnSpc>
                          <a:spcPct val="100000"/>
                        </a:lnSpc>
                      </a:pPr>
                      <a:r>
                        <a:rPr sz="100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P5</a:t>
                      </a:r>
                      <a:r>
                        <a:rPr sz="1000" spc="-135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,</a:t>
                      </a:r>
                      <a:r>
                        <a:rPr sz="1200" spc="42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00" spc="-1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CIRCLE_8PT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T="4889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9915">
                <a:tc>
                  <a:txBody>
                    <a:bodyPr/>
                    <a:lstStyle/>
                    <a:p>
                      <a:pPr marL="130810" marR="626110">
                        <a:lnSpc>
                          <a:spcPct val="125000"/>
                        </a:lnSpc>
                        <a:spcBef>
                          <a:spcPts val="275"/>
                        </a:spcBef>
                      </a:pPr>
                      <a:r>
                        <a:rPr sz="1200" spc="-10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Custom Function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3492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8905" marR="272415">
                        <a:lnSpc>
                          <a:spcPct val="111100"/>
                        </a:lnSpc>
                        <a:spcBef>
                          <a:spcPts val="305"/>
                        </a:spcBef>
                      </a:pP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사용자</a:t>
                      </a:r>
                      <a:r>
                        <a:rPr sz="1350" spc="-13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정의</a:t>
                      </a:r>
                      <a:r>
                        <a:rPr sz="1350" spc="-13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계산</a:t>
                      </a:r>
                      <a:r>
                        <a:rPr sz="1350" spc="-13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함수</a:t>
                      </a:r>
                      <a:r>
                        <a:rPr sz="1350" spc="-13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spc="-15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(</a:t>
                      </a:r>
                      <a:r>
                        <a:rPr sz="1350" spc="-1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확장 </a:t>
                      </a:r>
                      <a:r>
                        <a:rPr sz="135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예정</a:t>
                      </a:r>
                      <a:r>
                        <a:rPr sz="1200" spc="-2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)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80975">
                        <a:lnSpc>
                          <a:spcPct val="100000"/>
                        </a:lnSpc>
                      </a:pPr>
                      <a:r>
                        <a:rPr sz="1000" spc="-1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CUSTOM</a:t>
                      </a:r>
                      <a:endParaRPr sz="1000">
                        <a:latin typeface="Consolas"/>
                        <a:cs typeface="Consolas"/>
                      </a:endParaRPr>
                    </a:p>
                  </a:txBody>
                  <a:tcPr marL="0" marR="0" marT="81280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022172"/>
            <a:ext cx="2190750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b="1" spc="-459" dirty="0">
                <a:latin typeface="Malgun Gothic"/>
                <a:cs typeface="Malgun Gothic"/>
              </a:rPr>
              <a:t>최종</a:t>
            </a:r>
            <a:r>
              <a:rPr sz="2550" b="1" spc="-270" dirty="0">
                <a:latin typeface="Malgun Gothic"/>
                <a:cs typeface="Malgun Gothic"/>
              </a:rPr>
              <a:t> </a:t>
            </a:r>
            <a:r>
              <a:rPr sz="2550" b="1" spc="-459" dirty="0">
                <a:latin typeface="Malgun Gothic"/>
                <a:cs typeface="Malgun Gothic"/>
              </a:rPr>
              <a:t>개발</a:t>
            </a:r>
            <a:r>
              <a:rPr sz="2550" b="1" spc="-270" dirty="0">
                <a:latin typeface="Malgun Gothic"/>
                <a:cs typeface="Malgun Gothic"/>
              </a:rPr>
              <a:t> </a:t>
            </a:r>
            <a:r>
              <a:rPr spc="-10" dirty="0"/>
              <a:t>Output</a:t>
            </a:r>
            <a:endParaRPr sz="2550">
              <a:latin typeface="Malgun Gothic"/>
              <a:cs typeface="Malgun Gothic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399" y="2409824"/>
            <a:ext cx="66675" cy="666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399" y="2724149"/>
            <a:ext cx="66675" cy="666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35012" y="1876898"/>
            <a:ext cx="3339465" cy="15151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dirty="0">
                <a:solidFill>
                  <a:srgbClr val="1F618C"/>
                </a:solidFill>
                <a:latin typeface="Segoe UI Semibold"/>
                <a:cs typeface="Segoe UI Semibold"/>
              </a:rPr>
              <a:t>FAI</a:t>
            </a:r>
            <a:r>
              <a:rPr sz="1550" spc="-75" dirty="0">
                <a:solidFill>
                  <a:srgbClr val="1F618C"/>
                </a:solidFill>
                <a:latin typeface="Segoe UI Semibold"/>
                <a:cs typeface="Segoe UI Semibold"/>
              </a:rPr>
              <a:t> </a:t>
            </a:r>
            <a:r>
              <a:rPr sz="1750" b="1" spc="-340" dirty="0">
                <a:solidFill>
                  <a:srgbClr val="1F618C"/>
                </a:solidFill>
                <a:latin typeface="Malgun Gothic"/>
                <a:cs typeface="Malgun Gothic"/>
              </a:rPr>
              <a:t>삭제</a:t>
            </a:r>
            <a:endParaRPr sz="1750">
              <a:latin typeface="Malgun Gothic"/>
              <a:cs typeface="Malgun Gothic"/>
            </a:endParaRPr>
          </a:p>
          <a:p>
            <a:pPr marL="374015" marR="5080">
              <a:lnSpc>
                <a:spcPct val="128899"/>
              </a:lnSpc>
              <a:spcBef>
                <a:spcPts val="645"/>
              </a:spcBef>
            </a:pPr>
            <a:r>
              <a:rPr sz="1600" spc="-305" dirty="0">
                <a:solidFill>
                  <a:srgbClr val="1F2328"/>
                </a:solidFill>
                <a:latin typeface="Malgun Gothic"/>
                <a:cs typeface="Malgun Gothic"/>
              </a:rPr>
              <a:t>리스트에서</a:t>
            </a:r>
            <a:r>
              <a:rPr sz="1600" spc="-17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600" spc="-305" dirty="0">
                <a:solidFill>
                  <a:srgbClr val="1F2328"/>
                </a:solidFill>
                <a:latin typeface="Malgun Gothic"/>
                <a:cs typeface="Malgun Gothic"/>
              </a:rPr>
              <a:t>항목</a:t>
            </a:r>
            <a:r>
              <a:rPr sz="1600" spc="-17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600" spc="-305" dirty="0">
                <a:solidFill>
                  <a:srgbClr val="1F2328"/>
                </a:solidFill>
                <a:latin typeface="Malgun Gothic"/>
                <a:cs typeface="Malgun Gothic"/>
              </a:rPr>
              <a:t>선택</a:t>
            </a:r>
            <a:r>
              <a:rPr sz="1600" spc="-17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1F2328"/>
                </a:solidFill>
                <a:latin typeface="Segoe UI"/>
                <a:cs typeface="Segoe UI"/>
              </a:rPr>
              <a:t>→</a:t>
            </a:r>
            <a:r>
              <a:rPr sz="1400" spc="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1600" b="1" spc="-305" dirty="0">
                <a:solidFill>
                  <a:srgbClr val="1F2328"/>
                </a:solidFill>
                <a:latin typeface="Malgun Gothic"/>
                <a:cs typeface="Malgun Gothic"/>
              </a:rPr>
              <a:t>삭제</a:t>
            </a:r>
            <a:r>
              <a:rPr sz="1600" b="1" spc="-17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600" b="1" spc="-305" dirty="0">
                <a:solidFill>
                  <a:srgbClr val="1F2328"/>
                </a:solidFill>
                <a:latin typeface="Malgun Gothic"/>
                <a:cs typeface="Malgun Gothic"/>
              </a:rPr>
              <a:t>버튼</a:t>
            </a:r>
            <a:r>
              <a:rPr sz="1600" b="1" spc="-17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600" spc="-330" dirty="0">
                <a:solidFill>
                  <a:srgbClr val="1F2328"/>
                </a:solidFill>
                <a:latin typeface="Malgun Gothic"/>
                <a:cs typeface="Malgun Gothic"/>
              </a:rPr>
              <a:t>클릭 </a:t>
            </a:r>
            <a:r>
              <a:rPr sz="1600" spc="-305" dirty="0">
                <a:solidFill>
                  <a:srgbClr val="1F2328"/>
                </a:solidFill>
                <a:latin typeface="Malgun Gothic"/>
                <a:cs typeface="Malgun Gothic"/>
              </a:rPr>
              <a:t>저장</a:t>
            </a:r>
            <a:r>
              <a:rPr sz="1600" spc="-17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600" spc="-305" dirty="0">
                <a:solidFill>
                  <a:srgbClr val="1F2328"/>
                </a:solidFill>
                <a:latin typeface="Malgun Gothic"/>
                <a:cs typeface="Malgun Gothic"/>
              </a:rPr>
              <a:t>버튼</a:t>
            </a:r>
            <a:r>
              <a:rPr sz="1600" spc="-17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600" spc="-305" dirty="0">
                <a:solidFill>
                  <a:srgbClr val="1F2328"/>
                </a:solidFill>
                <a:latin typeface="Malgun Gothic"/>
                <a:cs typeface="Malgun Gothic"/>
              </a:rPr>
              <a:t>클릭</a:t>
            </a:r>
            <a:r>
              <a:rPr sz="1600" spc="-17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600" spc="-305" dirty="0">
                <a:solidFill>
                  <a:srgbClr val="1F2328"/>
                </a:solidFill>
                <a:latin typeface="Malgun Gothic"/>
                <a:cs typeface="Malgun Gothic"/>
              </a:rPr>
              <a:t>시</a:t>
            </a:r>
            <a:r>
              <a:rPr sz="1600" spc="-17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1F2328"/>
                </a:solidFill>
                <a:latin typeface="Segoe UI"/>
                <a:cs typeface="Segoe UI"/>
              </a:rPr>
              <a:t>INI</a:t>
            </a:r>
            <a:r>
              <a:rPr sz="1400" spc="1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1600" spc="-305" dirty="0">
                <a:solidFill>
                  <a:srgbClr val="1F2328"/>
                </a:solidFill>
                <a:latin typeface="Malgun Gothic"/>
                <a:cs typeface="Malgun Gothic"/>
              </a:rPr>
              <a:t>파일</a:t>
            </a:r>
            <a:r>
              <a:rPr sz="1600" spc="-17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600" spc="-330" dirty="0">
                <a:solidFill>
                  <a:srgbClr val="1F2328"/>
                </a:solidFill>
                <a:latin typeface="Malgun Gothic"/>
                <a:cs typeface="Malgun Gothic"/>
              </a:rPr>
              <a:t>반영</a:t>
            </a:r>
            <a:endParaRPr sz="16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905"/>
              </a:spcBef>
            </a:pPr>
            <a:r>
              <a:rPr sz="1750" b="1" spc="-315" dirty="0">
                <a:solidFill>
                  <a:srgbClr val="1F618C"/>
                </a:solidFill>
                <a:latin typeface="Malgun Gothic"/>
                <a:cs typeface="Malgun Gothic"/>
              </a:rPr>
              <a:t>리뷰</a:t>
            </a:r>
            <a:r>
              <a:rPr sz="1750" b="1" spc="-185" dirty="0">
                <a:solidFill>
                  <a:srgbClr val="1F618C"/>
                </a:solidFill>
                <a:latin typeface="Malgun Gothic"/>
                <a:cs typeface="Malgun Gothic"/>
              </a:rPr>
              <a:t> </a:t>
            </a:r>
            <a:r>
              <a:rPr sz="1750" b="1" spc="-315" dirty="0">
                <a:solidFill>
                  <a:srgbClr val="1F618C"/>
                </a:solidFill>
                <a:latin typeface="Malgun Gothic"/>
                <a:cs typeface="Malgun Gothic"/>
              </a:rPr>
              <a:t>이미지</a:t>
            </a:r>
            <a:r>
              <a:rPr sz="1750" b="1" spc="-185" dirty="0">
                <a:solidFill>
                  <a:srgbClr val="1F618C"/>
                </a:solidFill>
                <a:latin typeface="Malgun Gothic"/>
                <a:cs typeface="Malgun Gothic"/>
              </a:rPr>
              <a:t> </a:t>
            </a:r>
            <a:r>
              <a:rPr sz="1750" b="1" spc="-315" dirty="0">
                <a:solidFill>
                  <a:srgbClr val="1F618C"/>
                </a:solidFill>
                <a:latin typeface="Malgun Gothic"/>
                <a:cs typeface="Malgun Gothic"/>
              </a:rPr>
              <a:t>및</a:t>
            </a:r>
            <a:r>
              <a:rPr sz="1750" b="1" spc="-180" dirty="0">
                <a:solidFill>
                  <a:srgbClr val="1F618C"/>
                </a:solidFill>
                <a:latin typeface="Malgun Gothic"/>
                <a:cs typeface="Malgun Gothic"/>
              </a:rPr>
              <a:t> </a:t>
            </a:r>
            <a:r>
              <a:rPr sz="1550" dirty="0">
                <a:solidFill>
                  <a:srgbClr val="1F618C"/>
                </a:solidFill>
                <a:latin typeface="Segoe UI Semibold"/>
                <a:cs typeface="Segoe UI Semibold"/>
              </a:rPr>
              <a:t>Log </a:t>
            </a:r>
            <a:r>
              <a:rPr sz="1750" b="1" spc="-340" dirty="0">
                <a:solidFill>
                  <a:srgbClr val="1F618C"/>
                </a:solidFill>
                <a:latin typeface="Malgun Gothic"/>
                <a:cs typeface="Malgun Gothic"/>
              </a:rPr>
              <a:t>생성</a:t>
            </a:r>
            <a:endParaRPr sz="1750">
              <a:latin typeface="Malgun Gothic"/>
              <a:cs typeface="Malgun Goth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543299" y="5248274"/>
            <a:ext cx="466725" cy="209550"/>
          </a:xfrm>
          <a:custGeom>
            <a:avLst/>
            <a:gdLst/>
            <a:ahLst/>
            <a:cxnLst/>
            <a:rect l="l" t="t" r="r" b="b"/>
            <a:pathLst>
              <a:path w="466725" h="209550">
                <a:moveTo>
                  <a:pt x="413327" y="209549"/>
                </a:moveTo>
                <a:lnTo>
                  <a:pt x="53397" y="209549"/>
                </a:lnTo>
                <a:lnTo>
                  <a:pt x="49680" y="209183"/>
                </a:lnTo>
                <a:lnTo>
                  <a:pt x="14084" y="190157"/>
                </a:lnTo>
                <a:lnTo>
                  <a:pt x="0" y="156152"/>
                </a:lnTo>
                <a:lnTo>
                  <a:pt x="0" y="152399"/>
                </a:lnTo>
                <a:lnTo>
                  <a:pt x="0" y="53397"/>
                </a:lnTo>
                <a:lnTo>
                  <a:pt x="19391" y="14085"/>
                </a:lnTo>
                <a:lnTo>
                  <a:pt x="53397" y="0"/>
                </a:lnTo>
                <a:lnTo>
                  <a:pt x="413327" y="0"/>
                </a:lnTo>
                <a:lnTo>
                  <a:pt x="452639" y="19391"/>
                </a:lnTo>
                <a:lnTo>
                  <a:pt x="466724" y="53397"/>
                </a:lnTo>
                <a:lnTo>
                  <a:pt x="466724" y="156152"/>
                </a:lnTo>
                <a:lnTo>
                  <a:pt x="447332" y="195463"/>
                </a:lnTo>
                <a:lnTo>
                  <a:pt x="417043" y="209183"/>
                </a:lnTo>
                <a:lnTo>
                  <a:pt x="413327" y="209549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086224" y="5248274"/>
            <a:ext cx="457200" cy="209550"/>
          </a:xfrm>
          <a:custGeom>
            <a:avLst/>
            <a:gdLst/>
            <a:ahLst/>
            <a:cxnLst/>
            <a:rect l="l" t="t" r="r" b="b"/>
            <a:pathLst>
              <a:path w="457200" h="209550">
                <a:moveTo>
                  <a:pt x="403802" y="209549"/>
                </a:moveTo>
                <a:lnTo>
                  <a:pt x="53397" y="209549"/>
                </a:lnTo>
                <a:lnTo>
                  <a:pt x="49681" y="209183"/>
                </a:lnTo>
                <a:lnTo>
                  <a:pt x="14085" y="190157"/>
                </a:lnTo>
                <a:lnTo>
                  <a:pt x="0" y="156152"/>
                </a:lnTo>
                <a:lnTo>
                  <a:pt x="0" y="152399"/>
                </a:lnTo>
                <a:lnTo>
                  <a:pt x="0" y="53397"/>
                </a:lnTo>
                <a:lnTo>
                  <a:pt x="19392" y="14085"/>
                </a:lnTo>
                <a:lnTo>
                  <a:pt x="53397" y="0"/>
                </a:lnTo>
                <a:lnTo>
                  <a:pt x="403802" y="0"/>
                </a:lnTo>
                <a:lnTo>
                  <a:pt x="443114" y="19391"/>
                </a:lnTo>
                <a:lnTo>
                  <a:pt x="457200" y="53397"/>
                </a:lnTo>
                <a:lnTo>
                  <a:pt x="457200" y="156152"/>
                </a:lnTo>
                <a:lnTo>
                  <a:pt x="437807" y="195463"/>
                </a:lnTo>
                <a:lnTo>
                  <a:pt x="407518" y="209183"/>
                </a:lnTo>
                <a:lnTo>
                  <a:pt x="403802" y="209549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52474" y="3524249"/>
          <a:ext cx="5200650" cy="21024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7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항목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1A5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내용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1A52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23825">
                        <a:lnSpc>
                          <a:spcPct val="100000"/>
                        </a:lnSpc>
                      </a:pPr>
                      <a:r>
                        <a:rPr sz="1350" b="1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리뷰</a:t>
                      </a:r>
                      <a:r>
                        <a:rPr sz="1350" b="1" spc="-13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b="1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이미지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 marR="238760">
                        <a:lnSpc>
                          <a:spcPct val="111100"/>
                        </a:lnSpc>
                        <a:spcBef>
                          <a:spcPts val="305"/>
                        </a:spcBef>
                      </a:pP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동적</a:t>
                      </a:r>
                      <a:r>
                        <a:rPr sz="1350" spc="-14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FAI</a:t>
                      </a:r>
                      <a:r>
                        <a:rPr sz="1200" spc="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측정</a:t>
                      </a:r>
                      <a:r>
                        <a:rPr sz="1350" spc="-14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결과를</a:t>
                      </a:r>
                      <a:r>
                        <a:rPr sz="1350" spc="-13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기존</a:t>
                      </a:r>
                      <a:r>
                        <a:rPr sz="1350" spc="-14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Inspector</a:t>
                      </a:r>
                      <a:r>
                        <a:rPr sz="1200" spc="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결과</a:t>
                      </a:r>
                      <a:r>
                        <a:rPr sz="1350" spc="-13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이미지와</a:t>
                      </a:r>
                      <a:r>
                        <a:rPr sz="1350" spc="-14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19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동일한 </a:t>
                      </a:r>
                      <a:r>
                        <a:rPr sz="1350" spc="-21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경로</a:t>
                      </a:r>
                      <a:r>
                        <a:rPr sz="1200" spc="-21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·</a:t>
                      </a:r>
                      <a:r>
                        <a:rPr sz="1350" spc="-21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포맷으로</a:t>
                      </a:r>
                      <a:r>
                        <a:rPr sz="1350" spc="-10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저장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3873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23825">
                        <a:lnSpc>
                          <a:spcPct val="100000"/>
                        </a:lnSpc>
                      </a:pPr>
                      <a:r>
                        <a:rPr sz="1200" spc="-25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Log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1968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70815">
                        <a:lnSpc>
                          <a:spcPct val="115700"/>
                        </a:lnSpc>
                        <a:spcBef>
                          <a:spcPts val="229"/>
                        </a:spcBef>
                      </a:pP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기존</a:t>
                      </a:r>
                      <a:r>
                        <a:rPr sz="1350" spc="-14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FAI</a:t>
                      </a:r>
                      <a:r>
                        <a:rPr sz="1200" spc="-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Log</a:t>
                      </a:r>
                      <a:r>
                        <a:rPr sz="1200" spc="-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형식에</a:t>
                      </a:r>
                      <a:r>
                        <a:rPr sz="1350" spc="-14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동적</a:t>
                      </a:r>
                      <a:r>
                        <a:rPr sz="1350" spc="-14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항목</a:t>
                      </a:r>
                      <a:r>
                        <a:rPr sz="1350" spc="-14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행</a:t>
                      </a:r>
                      <a:r>
                        <a:rPr sz="1350" spc="-14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추가</a:t>
                      </a:r>
                      <a:r>
                        <a:rPr sz="1350" spc="-14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(FAI </a:t>
                      </a:r>
                      <a:r>
                        <a:rPr sz="1350" spc="-17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번호</a:t>
                      </a:r>
                      <a:r>
                        <a:rPr sz="1200" spc="-17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,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9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측정값</a:t>
                      </a:r>
                      <a:r>
                        <a:rPr sz="1200" spc="-19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,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6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판 </a:t>
                      </a:r>
                      <a:r>
                        <a:rPr sz="135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정</a:t>
                      </a:r>
                      <a:r>
                        <a:rPr sz="1200" spc="-2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)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29209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 marL="123825" marR="240029">
                        <a:lnSpc>
                          <a:spcPct val="111100"/>
                        </a:lnSpc>
                        <a:spcBef>
                          <a:spcPts val="305"/>
                        </a:spcBef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Sub</a:t>
                      </a:r>
                      <a:r>
                        <a:rPr sz="1200" spc="20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b="1" spc="-254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넘버링 </a:t>
                      </a:r>
                      <a:r>
                        <a:rPr sz="1350" b="1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표기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3873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27000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Log</a:t>
                      </a:r>
                      <a:r>
                        <a:rPr sz="1200" spc="-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1350" spc="-14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이미지</a:t>
                      </a:r>
                      <a:r>
                        <a:rPr sz="1350" spc="-14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0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파일명에</a:t>
                      </a:r>
                      <a:r>
                        <a:rPr sz="1350" spc="26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0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147-1</a:t>
                      </a:r>
                      <a:r>
                        <a:rPr sz="1000" spc="-14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,</a:t>
                      </a:r>
                      <a:r>
                        <a:rPr sz="1200" spc="40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0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147-2</a:t>
                      </a:r>
                      <a:r>
                        <a:rPr sz="1000" spc="190" dirty="0">
                          <a:solidFill>
                            <a:srgbClr val="1F2328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형태로</a:t>
                      </a:r>
                      <a:r>
                        <a:rPr sz="1350" spc="-14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구분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9" name="object 9"/>
          <p:cNvGrpSpPr/>
          <p:nvPr/>
        </p:nvGrpSpPr>
        <p:grpSpPr>
          <a:xfrm>
            <a:off x="6229349" y="2305049"/>
            <a:ext cx="5219700" cy="2276475"/>
            <a:chOff x="6229349" y="2305049"/>
            <a:chExt cx="5219700" cy="2276475"/>
          </a:xfrm>
        </p:grpSpPr>
        <p:sp>
          <p:nvSpPr>
            <p:cNvPr id="10" name="object 10"/>
            <p:cNvSpPr/>
            <p:nvPr/>
          </p:nvSpPr>
          <p:spPr>
            <a:xfrm>
              <a:off x="6234112" y="2309812"/>
              <a:ext cx="5210175" cy="2266950"/>
            </a:xfrm>
            <a:custGeom>
              <a:avLst/>
              <a:gdLst/>
              <a:ahLst/>
              <a:cxnLst/>
              <a:rect l="l" t="t" r="r" b="b"/>
              <a:pathLst>
                <a:path w="5210175" h="2266950">
                  <a:moveTo>
                    <a:pt x="5161226" y="2266949"/>
                  </a:moveTo>
                  <a:lnTo>
                    <a:pt x="48947" y="2266949"/>
                  </a:lnTo>
                  <a:lnTo>
                    <a:pt x="45540" y="2266614"/>
                  </a:lnTo>
                  <a:lnTo>
                    <a:pt x="10740" y="2246526"/>
                  </a:lnTo>
                  <a:lnTo>
                    <a:pt x="0" y="2218001"/>
                  </a:lnTo>
                  <a:lnTo>
                    <a:pt x="0" y="22145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5161226" y="0"/>
                  </a:lnTo>
                  <a:lnTo>
                    <a:pt x="5197261" y="17776"/>
                  </a:lnTo>
                  <a:lnTo>
                    <a:pt x="5210174" y="48947"/>
                  </a:lnTo>
                  <a:lnTo>
                    <a:pt x="5210174" y="2218001"/>
                  </a:lnTo>
                  <a:lnTo>
                    <a:pt x="5192397" y="2254037"/>
                  </a:lnTo>
                  <a:lnTo>
                    <a:pt x="5164633" y="2266614"/>
                  </a:lnTo>
                  <a:lnTo>
                    <a:pt x="5161226" y="2266949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234112" y="2309812"/>
              <a:ext cx="5210175" cy="2266950"/>
            </a:xfrm>
            <a:custGeom>
              <a:avLst/>
              <a:gdLst/>
              <a:ahLst/>
              <a:cxnLst/>
              <a:rect l="l" t="t" r="r" b="b"/>
              <a:pathLst>
                <a:path w="5210175" h="2266950">
                  <a:moveTo>
                    <a:pt x="0" y="22145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0" y="35517"/>
                  </a:lnTo>
                  <a:lnTo>
                    <a:pt x="3987" y="32339"/>
                  </a:lnTo>
                  <a:lnTo>
                    <a:pt x="5303" y="29161"/>
                  </a:lnTo>
                  <a:lnTo>
                    <a:pt x="23281" y="8828"/>
                  </a:lnTo>
                  <a:lnTo>
                    <a:pt x="26141" y="6917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5157787" y="0"/>
                  </a:lnTo>
                  <a:lnTo>
                    <a:pt x="5161226" y="0"/>
                  </a:lnTo>
                  <a:lnTo>
                    <a:pt x="5164633" y="335"/>
                  </a:lnTo>
                  <a:lnTo>
                    <a:pt x="5186891" y="8828"/>
                  </a:lnTo>
                  <a:lnTo>
                    <a:pt x="5189751" y="10739"/>
                  </a:lnTo>
                  <a:lnTo>
                    <a:pt x="5201343" y="23282"/>
                  </a:lnTo>
                  <a:lnTo>
                    <a:pt x="5203255" y="26142"/>
                  </a:lnTo>
                  <a:lnTo>
                    <a:pt x="5210174" y="48947"/>
                  </a:lnTo>
                  <a:lnTo>
                    <a:pt x="5210174" y="52387"/>
                  </a:lnTo>
                  <a:lnTo>
                    <a:pt x="5210174" y="2214562"/>
                  </a:lnTo>
                  <a:lnTo>
                    <a:pt x="5210174" y="2218001"/>
                  </a:lnTo>
                  <a:lnTo>
                    <a:pt x="5209838" y="2221408"/>
                  </a:lnTo>
                  <a:lnTo>
                    <a:pt x="5189751" y="2256209"/>
                  </a:lnTo>
                  <a:lnTo>
                    <a:pt x="5157787" y="2266949"/>
                  </a:lnTo>
                  <a:lnTo>
                    <a:pt x="52387" y="2266949"/>
                  </a:lnTo>
                  <a:lnTo>
                    <a:pt x="15343" y="2251605"/>
                  </a:lnTo>
                  <a:lnTo>
                    <a:pt x="8829" y="2243666"/>
                  </a:lnTo>
                  <a:lnTo>
                    <a:pt x="6917" y="2240806"/>
                  </a:lnTo>
                  <a:lnTo>
                    <a:pt x="5303" y="2237787"/>
                  </a:lnTo>
                  <a:lnTo>
                    <a:pt x="3987" y="2234609"/>
                  </a:lnTo>
                  <a:lnTo>
                    <a:pt x="2670" y="2231431"/>
                  </a:lnTo>
                  <a:lnTo>
                    <a:pt x="1677" y="2228155"/>
                  </a:lnTo>
                  <a:lnTo>
                    <a:pt x="1006" y="2224782"/>
                  </a:lnTo>
                  <a:lnTo>
                    <a:pt x="335" y="2221408"/>
                  </a:lnTo>
                  <a:lnTo>
                    <a:pt x="0" y="2218001"/>
                  </a:lnTo>
                  <a:lnTo>
                    <a:pt x="0" y="2214562"/>
                  </a:lnTo>
                  <a:close/>
                </a:path>
              </a:pathLst>
            </a:custGeom>
            <a:ln w="9524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219030" y="1876898"/>
            <a:ext cx="3198495" cy="25387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b="1" spc="-315" dirty="0">
                <a:solidFill>
                  <a:srgbClr val="1F618C"/>
                </a:solidFill>
                <a:latin typeface="Malgun Gothic"/>
                <a:cs typeface="Malgun Gothic"/>
              </a:rPr>
              <a:t>리뷰</a:t>
            </a:r>
            <a:r>
              <a:rPr sz="1750" b="1" spc="-185" dirty="0">
                <a:solidFill>
                  <a:srgbClr val="1F618C"/>
                </a:solidFill>
                <a:latin typeface="Malgun Gothic"/>
                <a:cs typeface="Malgun Gothic"/>
              </a:rPr>
              <a:t> </a:t>
            </a:r>
            <a:r>
              <a:rPr sz="1750" b="1" spc="-315" dirty="0">
                <a:solidFill>
                  <a:srgbClr val="1F618C"/>
                </a:solidFill>
                <a:latin typeface="Malgun Gothic"/>
                <a:cs typeface="Malgun Gothic"/>
              </a:rPr>
              <a:t>이미지</a:t>
            </a:r>
            <a:r>
              <a:rPr sz="1750" b="1" spc="-185" dirty="0">
                <a:solidFill>
                  <a:srgbClr val="1F618C"/>
                </a:solidFill>
                <a:latin typeface="Malgun Gothic"/>
                <a:cs typeface="Malgun Gothic"/>
              </a:rPr>
              <a:t> </a:t>
            </a:r>
            <a:r>
              <a:rPr sz="1750" b="1" spc="-315" dirty="0">
                <a:solidFill>
                  <a:srgbClr val="1F618C"/>
                </a:solidFill>
                <a:latin typeface="Malgun Gothic"/>
                <a:cs typeface="Malgun Gothic"/>
              </a:rPr>
              <a:t>및</a:t>
            </a:r>
            <a:r>
              <a:rPr sz="1750" b="1" spc="-185" dirty="0">
                <a:solidFill>
                  <a:srgbClr val="1F618C"/>
                </a:solidFill>
                <a:latin typeface="Malgun Gothic"/>
                <a:cs typeface="Malgun Gothic"/>
              </a:rPr>
              <a:t> </a:t>
            </a:r>
            <a:r>
              <a:rPr sz="1550" dirty="0">
                <a:solidFill>
                  <a:srgbClr val="1F618C"/>
                </a:solidFill>
                <a:latin typeface="Segoe UI Semibold"/>
                <a:cs typeface="Segoe UI Semibold"/>
              </a:rPr>
              <a:t>Log</a:t>
            </a:r>
            <a:r>
              <a:rPr sz="1550" spc="5" dirty="0">
                <a:solidFill>
                  <a:srgbClr val="1F618C"/>
                </a:solidFill>
                <a:latin typeface="Segoe UI Semibold"/>
                <a:cs typeface="Segoe UI Semibold"/>
              </a:rPr>
              <a:t> </a:t>
            </a:r>
            <a:r>
              <a:rPr sz="1750" b="1" spc="-315" dirty="0">
                <a:solidFill>
                  <a:srgbClr val="1F618C"/>
                </a:solidFill>
                <a:latin typeface="Malgun Gothic"/>
                <a:cs typeface="Malgun Gothic"/>
              </a:rPr>
              <a:t>생성</a:t>
            </a:r>
            <a:r>
              <a:rPr sz="1750" b="1" spc="-185" dirty="0">
                <a:solidFill>
                  <a:srgbClr val="1F618C"/>
                </a:solidFill>
                <a:latin typeface="Malgun Gothic"/>
                <a:cs typeface="Malgun Gothic"/>
              </a:rPr>
              <a:t> </a:t>
            </a:r>
            <a:r>
              <a:rPr sz="1750" b="1" spc="-315" dirty="0">
                <a:solidFill>
                  <a:srgbClr val="1F618C"/>
                </a:solidFill>
                <a:latin typeface="Malgun Gothic"/>
                <a:cs typeface="Malgun Gothic"/>
              </a:rPr>
              <a:t>흐름</a:t>
            </a:r>
            <a:r>
              <a:rPr sz="1750" b="1" spc="-185" dirty="0">
                <a:solidFill>
                  <a:srgbClr val="1F618C"/>
                </a:solidFill>
                <a:latin typeface="Malgun Gothic"/>
                <a:cs typeface="Malgun Gothic"/>
              </a:rPr>
              <a:t> </a:t>
            </a:r>
            <a:r>
              <a:rPr sz="1550" spc="-20" dirty="0">
                <a:solidFill>
                  <a:srgbClr val="1F618C"/>
                </a:solidFill>
                <a:latin typeface="Segoe UI Semibold"/>
                <a:cs typeface="Segoe UI Semibold"/>
              </a:rPr>
              <a:t>(</a:t>
            </a:r>
            <a:r>
              <a:rPr sz="1750" b="1" spc="-20" dirty="0">
                <a:solidFill>
                  <a:srgbClr val="1F618C"/>
                </a:solidFill>
                <a:latin typeface="Malgun Gothic"/>
                <a:cs typeface="Malgun Gothic"/>
              </a:rPr>
              <a:t>예시</a:t>
            </a:r>
            <a:r>
              <a:rPr sz="1550" spc="-20" dirty="0">
                <a:solidFill>
                  <a:srgbClr val="1F618C"/>
                </a:solidFill>
                <a:latin typeface="Segoe UI Semibold"/>
                <a:cs typeface="Segoe UI Semibold"/>
              </a:rPr>
              <a:t>)</a:t>
            </a:r>
            <a:endParaRPr sz="1550">
              <a:latin typeface="Segoe UI Semibold"/>
              <a:cs typeface="Segoe UI Semibold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550">
              <a:latin typeface="Segoe UI Semibold"/>
              <a:cs typeface="Segoe UI Semibold"/>
            </a:endParaRPr>
          </a:p>
          <a:p>
            <a:pPr marL="172085">
              <a:lnSpc>
                <a:spcPts val="1430"/>
              </a:lnSpc>
              <a:spcBef>
                <a:spcPts val="5"/>
              </a:spcBef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[Output</a:t>
            </a:r>
            <a:r>
              <a:rPr sz="1200" spc="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흐름</a:t>
            </a:r>
            <a:r>
              <a:rPr sz="1200" spc="-25" dirty="0">
                <a:solidFill>
                  <a:srgbClr val="1F2328"/>
                </a:solidFill>
                <a:latin typeface="Consolas"/>
                <a:cs typeface="Consolas"/>
              </a:rPr>
              <a:t>]</a:t>
            </a:r>
            <a:endParaRPr sz="1200">
              <a:latin typeface="Consolas"/>
              <a:cs typeface="Consolas"/>
            </a:endParaRPr>
          </a:p>
          <a:p>
            <a:pPr marL="172085">
              <a:lnSpc>
                <a:spcPts val="1390"/>
              </a:lnSpc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GUI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에서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규칙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20" dirty="0">
                <a:solidFill>
                  <a:srgbClr val="1F2328"/>
                </a:solidFill>
                <a:latin typeface="Malgun Gothic"/>
                <a:cs typeface="Malgun Gothic"/>
              </a:rPr>
              <a:t>추가</a:t>
            </a:r>
            <a:r>
              <a:rPr sz="1200" spc="-20" dirty="0">
                <a:solidFill>
                  <a:srgbClr val="1F2328"/>
                </a:solidFill>
                <a:latin typeface="Consolas"/>
                <a:cs typeface="Consolas"/>
              </a:rPr>
              <a:t>/</a:t>
            </a:r>
            <a:r>
              <a:rPr sz="1200" spc="-20" dirty="0">
                <a:solidFill>
                  <a:srgbClr val="1F2328"/>
                </a:solidFill>
                <a:latin typeface="Malgun Gothic"/>
                <a:cs typeface="Malgun Gothic"/>
              </a:rPr>
              <a:t>저장</a:t>
            </a:r>
            <a:endParaRPr sz="1200">
              <a:latin typeface="Malgun Gothic"/>
              <a:cs typeface="Malgun Gothic"/>
            </a:endParaRPr>
          </a:p>
          <a:p>
            <a:pPr marL="510540">
              <a:lnSpc>
                <a:spcPts val="1390"/>
              </a:lnSpc>
            </a:pPr>
            <a:r>
              <a:rPr sz="1200" spc="-50" dirty="0">
                <a:solidFill>
                  <a:srgbClr val="1F2328"/>
                </a:solidFill>
                <a:latin typeface="Consolas"/>
                <a:cs typeface="Consolas"/>
              </a:rPr>
              <a:t>↓</a:t>
            </a:r>
            <a:endParaRPr sz="1200">
              <a:latin typeface="Consolas"/>
              <a:cs typeface="Consolas"/>
            </a:endParaRPr>
          </a:p>
          <a:p>
            <a:pPr marL="172085">
              <a:lnSpc>
                <a:spcPts val="1390"/>
              </a:lnSpc>
            </a:pP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INI</a:t>
            </a:r>
            <a:r>
              <a:rPr sz="1200" spc="-2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파일</a:t>
            </a:r>
            <a:r>
              <a:rPr sz="1200" spc="229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갱신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20" dirty="0">
                <a:solidFill>
                  <a:srgbClr val="1F2328"/>
                </a:solidFill>
                <a:latin typeface="Consolas"/>
                <a:cs typeface="Consolas"/>
              </a:rPr>
              <a:t>(</a:t>
            </a:r>
            <a:r>
              <a:rPr sz="1200" spc="-20" dirty="0">
                <a:solidFill>
                  <a:srgbClr val="1F2328"/>
                </a:solidFill>
                <a:latin typeface="Malgun Gothic"/>
                <a:cs typeface="Malgun Gothic"/>
              </a:rPr>
              <a:t>자동</a:t>
            </a:r>
            <a:r>
              <a:rPr sz="1200" spc="-20" dirty="0">
                <a:solidFill>
                  <a:srgbClr val="1F2328"/>
                </a:solidFill>
                <a:latin typeface="Consolas"/>
                <a:cs typeface="Consolas"/>
              </a:rPr>
              <a:t>)</a:t>
            </a:r>
            <a:endParaRPr sz="1200">
              <a:latin typeface="Consolas"/>
              <a:cs typeface="Consolas"/>
            </a:endParaRPr>
          </a:p>
          <a:p>
            <a:pPr marL="510540">
              <a:lnSpc>
                <a:spcPts val="1390"/>
              </a:lnSpc>
            </a:pPr>
            <a:r>
              <a:rPr sz="1200" spc="-50" dirty="0">
                <a:solidFill>
                  <a:srgbClr val="1F2328"/>
                </a:solidFill>
                <a:latin typeface="Consolas"/>
                <a:cs typeface="Consolas"/>
              </a:rPr>
              <a:t>↓</a:t>
            </a:r>
            <a:endParaRPr sz="1200">
              <a:latin typeface="Consolas"/>
              <a:cs typeface="Consolas"/>
            </a:endParaRPr>
          </a:p>
          <a:p>
            <a:pPr marL="172085">
              <a:lnSpc>
                <a:spcPts val="1385"/>
              </a:lnSpc>
            </a:pP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검사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실행</a:t>
            </a:r>
            <a:r>
              <a:rPr sz="1200" spc="229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시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ExecuteP5/P7Rules()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호출</a:t>
            </a:r>
            <a:endParaRPr sz="1200">
              <a:latin typeface="Malgun Gothic"/>
              <a:cs typeface="Malgun Gothic"/>
            </a:endParaRPr>
          </a:p>
          <a:p>
            <a:pPr marL="510540">
              <a:lnSpc>
                <a:spcPts val="1385"/>
              </a:lnSpc>
            </a:pPr>
            <a:r>
              <a:rPr sz="1200" spc="-50" dirty="0">
                <a:solidFill>
                  <a:srgbClr val="1F2328"/>
                </a:solidFill>
                <a:latin typeface="Consolas"/>
                <a:cs typeface="Consolas"/>
              </a:rPr>
              <a:t>↓</a:t>
            </a:r>
            <a:endParaRPr sz="1200">
              <a:latin typeface="Consolas"/>
              <a:cs typeface="Consolas"/>
            </a:endParaRPr>
          </a:p>
          <a:p>
            <a:pPr marL="172085">
              <a:lnSpc>
                <a:spcPts val="1425"/>
              </a:lnSpc>
            </a:pP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측정값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→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FAI</a:t>
            </a:r>
            <a:r>
              <a:rPr sz="1200" spc="-1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결과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버퍼에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기록</a:t>
            </a:r>
            <a:endParaRPr sz="1200">
              <a:latin typeface="Malgun Gothic"/>
              <a:cs typeface="Malgun Gothic"/>
            </a:endParaRPr>
          </a:p>
          <a:p>
            <a:pPr marL="510540">
              <a:lnSpc>
                <a:spcPts val="1390"/>
              </a:lnSpc>
            </a:pPr>
            <a:r>
              <a:rPr sz="1200" spc="-50" dirty="0">
                <a:solidFill>
                  <a:srgbClr val="1F2328"/>
                </a:solidFill>
                <a:latin typeface="Consolas"/>
                <a:cs typeface="Consolas"/>
              </a:rPr>
              <a:t>↓</a:t>
            </a:r>
            <a:endParaRPr sz="1200">
              <a:latin typeface="Consolas"/>
              <a:cs typeface="Consolas"/>
            </a:endParaRPr>
          </a:p>
          <a:p>
            <a:pPr marL="172085" marR="580390">
              <a:lnSpc>
                <a:spcPts val="1430"/>
              </a:lnSpc>
              <a:spcBef>
                <a:spcPts val="10"/>
              </a:spcBef>
            </a:pP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리뷰</a:t>
            </a:r>
            <a:r>
              <a:rPr sz="1200" spc="21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이미지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생성</a:t>
            </a:r>
            <a:r>
              <a:rPr sz="1200" spc="22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(XLD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1F2328"/>
                </a:solidFill>
                <a:latin typeface="Malgun Gothic"/>
                <a:cs typeface="Malgun Gothic"/>
              </a:rPr>
              <a:t>오버레이</a:t>
            </a:r>
            <a:r>
              <a:rPr sz="1200" spc="-10" dirty="0">
                <a:solidFill>
                  <a:srgbClr val="1F2328"/>
                </a:solidFill>
                <a:latin typeface="Consolas"/>
                <a:cs typeface="Consolas"/>
              </a:rPr>
              <a:t>)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Log</a:t>
            </a:r>
            <a:r>
              <a:rPr sz="1200" spc="-1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파일에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해당</a:t>
            </a:r>
            <a:r>
              <a:rPr sz="1200" spc="22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FAI</a:t>
            </a:r>
            <a:r>
              <a:rPr sz="1200" spc="-5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1F2328"/>
                </a:solidFill>
                <a:latin typeface="Malgun Gothic"/>
                <a:cs typeface="Malgun Gothic"/>
              </a:rPr>
              <a:t>행</a:t>
            </a:r>
            <a:r>
              <a:rPr sz="1200" spc="229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1F2328"/>
                </a:solidFill>
                <a:latin typeface="Malgun Gothic"/>
                <a:cs typeface="Malgun Gothic"/>
              </a:rPr>
              <a:t>추가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2474" y="1190624"/>
            <a:ext cx="10696575" cy="19050"/>
          </a:xfrm>
          <a:custGeom>
            <a:avLst/>
            <a:gdLst/>
            <a:ahLst/>
            <a:cxnLst/>
            <a:rect l="l" t="t" r="r" b="b"/>
            <a:pathLst>
              <a:path w="10696575" h="19050">
                <a:moveTo>
                  <a:pt x="10696574" y="19049"/>
                </a:moveTo>
                <a:lnTo>
                  <a:pt x="0" y="19049"/>
                </a:lnTo>
                <a:lnTo>
                  <a:pt x="0" y="0"/>
                </a:lnTo>
                <a:lnTo>
                  <a:pt x="10696574" y="0"/>
                </a:lnTo>
                <a:lnTo>
                  <a:pt x="10696574" y="19049"/>
                </a:lnTo>
                <a:close/>
              </a:path>
            </a:pathLst>
          </a:custGeom>
          <a:solidFill>
            <a:srgbClr val="1A527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52474" y="3705224"/>
          <a:ext cx="4943475" cy="2481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790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항목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1A5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내용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1A52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3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INI</a:t>
                      </a:r>
                      <a:r>
                        <a:rPr sz="1200" spc="5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b="1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직접</a:t>
                      </a:r>
                      <a:r>
                        <a:rPr sz="1350" b="1" spc="-14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b="1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편집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35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불필요</a:t>
                      </a:r>
                      <a:r>
                        <a:rPr sz="1350" spc="-13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—</a:t>
                      </a:r>
                      <a:r>
                        <a:rPr sz="1200" spc="1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10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GUI</a:t>
                      </a:r>
                      <a:r>
                        <a:rPr sz="1350" spc="-10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에서</a:t>
                      </a:r>
                      <a:r>
                        <a:rPr sz="1350" spc="-1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모든</a:t>
                      </a:r>
                      <a:r>
                        <a:rPr sz="1350" spc="-13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조작</a:t>
                      </a:r>
                      <a:r>
                        <a:rPr sz="1350" spc="-13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완결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FAI</a:t>
                      </a:r>
                      <a:r>
                        <a:rPr sz="1200" spc="-60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b="1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추가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spc="-10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GUI</a:t>
                      </a:r>
                      <a:r>
                        <a:rPr sz="1350" spc="-10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에서</a:t>
                      </a:r>
                      <a:r>
                        <a:rPr sz="1350" spc="-13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8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번호</a:t>
                      </a:r>
                      <a:r>
                        <a:rPr sz="1200" spc="-8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(Sub</a:t>
                      </a:r>
                      <a:r>
                        <a:rPr sz="1200" spc="2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넘버링</a:t>
                      </a:r>
                      <a:r>
                        <a:rPr sz="1350" spc="-1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17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포함</a:t>
                      </a:r>
                      <a:r>
                        <a:rPr sz="1200" spc="-17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)</a:t>
                      </a:r>
                      <a:r>
                        <a:rPr sz="1200" spc="1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·</a:t>
                      </a:r>
                      <a:r>
                        <a:rPr sz="1200" spc="2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방식</a:t>
                      </a:r>
                      <a:r>
                        <a:rPr sz="1350" spc="-13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·</a:t>
                      </a:r>
                      <a:r>
                        <a:rPr sz="1200" spc="2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스펙</a:t>
                      </a:r>
                      <a:r>
                        <a:rPr sz="1350" spc="-1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3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등록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FAI</a:t>
                      </a:r>
                      <a:r>
                        <a:rPr sz="1200" spc="-60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 </a:t>
                      </a:r>
                      <a:r>
                        <a:rPr sz="1350" b="1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삭제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리스트</a:t>
                      </a:r>
                      <a:r>
                        <a:rPr sz="1350" spc="-13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선택</a:t>
                      </a:r>
                      <a:r>
                        <a:rPr sz="1350" spc="-13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→</a:t>
                      </a:r>
                      <a:r>
                        <a:rPr sz="1200" spc="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삭제</a:t>
                      </a:r>
                      <a:r>
                        <a:rPr sz="1350" spc="-13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버튼</a:t>
                      </a:r>
                      <a:r>
                        <a:rPr sz="1350" spc="-13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→</a:t>
                      </a:r>
                      <a:r>
                        <a:rPr sz="1200" spc="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저장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검사</a:t>
                      </a:r>
                      <a:r>
                        <a:rPr sz="1350" b="1" spc="-13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b="1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방식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거리</a:t>
                      </a:r>
                      <a:r>
                        <a:rPr sz="1350" spc="-1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/</a:t>
                      </a:r>
                      <a:r>
                        <a:rPr sz="1200" spc="1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각도</a:t>
                      </a:r>
                      <a:r>
                        <a:rPr sz="1350" spc="-1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/</a:t>
                      </a:r>
                      <a:r>
                        <a:rPr sz="1200" spc="2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원</a:t>
                      </a:r>
                      <a:r>
                        <a:rPr sz="1350" spc="-1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16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지름</a:t>
                      </a:r>
                      <a:r>
                        <a:rPr sz="1200" spc="-16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(8</a:t>
                      </a:r>
                      <a:r>
                        <a:rPr sz="1350" spc="-16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포인트</a:t>
                      </a:r>
                      <a:r>
                        <a:rPr sz="1200" spc="-16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)</a:t>
                      </a:r>
                      <a:r>
                        <a:rPr sz="1200" spc="2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/</a:t>
                      </a:r>
                      <a:r>
                        <a:rPr sz="1200" spc="2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Custom</a:t>
                      </a:r>
                      <a:r>
                        <a:rPr sz="1200" spc="2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Function</a:t>
                      </a:r>
                      <a:r>
                        <a:rPr sz="1200" spc="2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2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(4</a:t>
                      </a:r>
                      <a:r>
                        <a:rPr sz="1350" spc="-2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종</a:t>
                      </a:r>
                      <a:r>
                        <a:rPr sz="1200" spc="-2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)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31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리뷰</a:t>
                      </a:r>
                      <a:r>
                        <a:rPr sz="1350" b="1" spc="-13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b="1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이미지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기존</a:t>
                      </a:r>
                      <a:r>
                        <a:rPr sz="1350" spc="-114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spc="-3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Inspector</a:t>
                      </a:r>
                      <a:r>
                        <a:rPr sz="1350" spc="-3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와</a:t>
                      </a:r>
                      <a:r>
                        <a:rPr sz="1350" spc="-11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동일</a:t>
                      </a:r>
                      <a:r>
                        <a:rPr sz="1350" spc="-11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1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경로</a:t>
                      </a:r>
                      <a:r>
                        <a:rPr sz="1200" spc="-21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·</a:t>
                      </a:r>
                      <a:r>
                        <a:rPr sz="1350" spc="-21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포맷으로</a:t>
                      </a:r>
                      <a:r>
                        <a:rPr sz="1350" spc="-11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자동</a:t>
                      </a:r>
                      <a:r>
                        <a:rPr sz="1350" spc="-11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저장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spc="-25" dirty="0">
                          <a:solidFill>
                            <a:srgbClr val="1F2328"/>
                          </a:solidFill>
                          <a:latin typeface="Segoe UI Semibold"/>
                          <a:cs typeface="Segoe UI Semibold"/>
                        </a:rPr>
                        <a:t>Log</a:t>
                      </a:r>
                      <a:endParaRPr sz="1200">
                        <a:latin typeface="Segoe UI Semibold"/>
                        <a:cs typeface="Segoe UI Semibold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기존</a:t>
                      </a:r>
                      <a:r>
                        <a:rPr sz="1350" spc="-14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FAI</a:t>
                      </a:r>
                      <a:r>
                        <a:rPr sz="1200" spc="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6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Log</a:t>
                      </a:r>
                      <a:r>
                        <a:rPr sz="1350" spc="-6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에</a:t>
                      </a:r>
                      <a:r>
                        <a:rPr sz="1350" spc="-14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동적</a:t>
                      </a:r>
                      <a:r>
                        <a:rPr sz="1350" spc="-14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항목</a:t>
                      </a:r>
                      <a:r>
                        <a:rPr sz="1350" spc="-14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행</a:t>
                      </a:r>
                      <a:r>
                        <a:rPr sz="1350" spc="-14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추가</a:t>
                      </a:r>
                      <a:r>
                        <a:rPr sz="1350" spc="-14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(Sub</a:t>
                      </a:r>
                      <a:r>
                        <a:rPr sz="1200" spc="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넘버링</a:t>
                      </a:r>
                      <a:r>
                        <a:rPr sz="1350" spc="-14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포함</a:t>
                      </a:r>
                      <a:r>
                        <a:rPr sz="1200" spc="-2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)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735012" y="707847"/>
            <a:ext cx="558800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b="1" spc="-484" dirty="0">
                <a:solidFill>
                  <a:srgbClr val="1A5275"/>
                </a:solidFill>
                <a:latin typeface="Malgun Gothic"/>
                <a:cs typeface="Malgun Gothic"/>
              </a:rPr>
              <a:t>정리</a:t>
            </a:r>
            <a:endParaRPr sz="2550">
              <a:latin typeface="Malgun Gothic"/>
              <a:cs typeface="Malgun Gothic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012" y="1410173"/>
            <a:ext cx="1233805" cy="2959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b="1" spc="-315" dirty="0">
                <a:solidFill>
                  <a:srgbClr val="1F618C"/>
                </a:solidFill>
                <a:latin typeface="Malgun Gothic"/>
                <a:cs typeface="Malgun Gothic"/>
              </a:rPr>
              <a:t>개발</a:t>
            </a:r>
            <a:r>
              <a:rPr sz="1750" b="1" spc="-185" dirty="0">
                <a:solidFill>
                  <a:srgbClr val="1F618C"/>
                </a:solidFill>
                <a:latin typeface="Malgun Gothic"/>
                <a:cs typeface="Malgun Gothic"/>
              </a:rPr>
              <a:t> </a:t>
            </a:r>
            <a:r>
              <a:rPr sz="1750" b="1" spc="-315" dirty="0">
                <a:solidFill>
                  <a:srgbClr val="1F618C"/>
                </a:solidFill>
                <a:latin typeface="Malgun Gothic"/>
                <a:cs typeface="Malgun Gothic"/>
              </a:rPr>
              <a:t>계획</a:t>
            </a:r>
            <a:r>
              <a:rPr sz="1750" b="1" spc="-185" dirty="0">
                <a:solidFill>
                  <a:srgbClr val="1F618C"/>
                </a:solidFill>
                <a:latin typeface="Malgun Gothic"/>
                <a:cs typeface="Malgun Gothic"/>
              </a:rPr>
              <a:t> </a:t>
            </a:r>
            <a:r>
              <a:rPr sz="1750" b="1" spc="-340" dirty="0">
                <a:solidFill>
                  <a:srgbClr val="1F618C"/>
                </a:solidFill>
                <a:latin typeface="Malgun Gothic"/>
                <a:cs typeface="Malgun Gothic"/>
              </a:rPr>
              <a:t>요약</a:t>
            </a:r>
            <a:endParaRPr sz="1750">
              <a:latin typeface="Malgun Gothic"/>
              <a:cs typeface="Malgun Goth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419474" y="1866899"/>
            <a:ext cx="2828925" cy="247650"/>
          </a:xfrm>
          <a:custGeom>
            <a:avLst/>
            <a:gdLst/>
            <a:ahLst/>
            <a:cxnLst/>
            <a:rect l="l" t="t" r="r" b="b"/>
            <a:pathLst>
              <a:path w="2828925" h="247650">
                <a:moveTo>
                  <a:pt x="2775526" y="247649"/>
                </a:moveTo>
                <a:lnTo>
                  <a:pt x="53397" y="247649"/>
                </a:lnTo>
                <a:lnTo>
                  <a:pt x="49680" y="247283"/>
                </a:lnTo>
                <a:lnTo>
                  <a:pt x="14085" y="228257"/>
                </a:lnTo>
                <a:lnTo>
                  <a:pt x="0" y="194252"/>
                </a:lnTo>
                <a:lnTo>
                  <a:pt x="0" y="190499"/>
                </a:lnTo>
                <a:lnTo>
                  <a:pt x="0" y="53397"/>
                </a:lnTo>
                <a:lnTo>
                  <a:pt x="19392" y="14085"/>
                </a:lnTo>
                <a:lnTo>
                  <a:pt x="53397" y="0"/>
                </a:lnTo>
                <a:lnTo>
                  <a:pt x="2775526" y="0"/>
                </a:lnTo>
                <a:lnTo>
                  <a:pt x="2814839" y="19392"/>
                </a:lnTo>
                <a:lnTo>
                  <a:pt x="2828924" y="53397"/>
                </a:lnTo>
                <a:lnTo>
                  <a:pt x="2828924" y="194252"/>
                </a:lnTo>
                <a:lnTo>
                  <a:pt x="2809531" y="233564"/>
                </a:lnTo>
                <a:lnTo>
                  <a:pt x="2779243" y="247283"/>
                </a:lnTo>
                <a:lnTo>
                  <a:pt x="2775526" y="247649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10480" y="1752225"/>
            <a:ext cx="6283325" cy="67310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98755" indent="-186055">
              <a:lnSpc>
                <a:spcPct val="100000"/>
              </a:lnSpc>
              <a:spcBef>
                <a:spcPts val="725"/>
              </a:spcBef>
              <a:buFont typeface="Segoe UI"/>
              <a:buAutoNum type="arabicPeriod"/>
              <a:tabLst>
                <a:tab pos="198755" algn="l"/>
              </a:tabLst>
            </a:pPr>
            <a:r>
              <a:rPr sz="1400" dirty="0">
                <a:solidFill>
                  <a:srgbClr val="1F2328"/>
                </a:solidFill>
                <a:latin typeface="Segoe UI Semibold"/>
                <a:cs typeface="Segoe UI Semibold"/>
              </a:rPr>
              <a:t>FAI</a:t>
            </a:r>
            <a:r>
              <a:rPr sz="1400" spc="-1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1600" b="1" spc="-305" dirty="0">
                <a:solidFill>
                  <a:srgbClr val="1F2328"/>
                </a:solidFill>
                <a:latin typeface="Malgun Gothic"/>
                <a:cs typeface="Malgun Gothic"/>
              </a:rPr>
              <a:t>규칙은</a:t>
            </a:r>
            <a:r>
              <a:rPr sz="1600" b="1" spc="-17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1F2328"/>
                </a:solidFill>
                <a:latin typeface="Segoe UI Semibold"/>
                <a:cs typeface="Segoe UI Semibold"/>
              </a:rPr>
              <a:t>INI</a:t>
            </a:r>
            <a:r>
              <a:rPr sz="1400" spc="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1600" b="1" spc="-305" dirty="0">
                <a:solidFill>
                  <a:srgbClr val="1F2328"/>
                </a:solidFill>
                <a:latin typeface="Malgun Gothic"/>
                <a:cs typeface="Malgun Gothic"/>
              </a:rPr>
              <a:t>파일로</a:t>
            </a:r>
            <a:r>
              <a:rPr sz="1600" b="1" spc="-17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600" b="1" spc="-305" dirty="0">
                <a:solidFill>
                  <a:srgbClr val="1F2328"/>
                </a:solidFill>
                <a:latin typeface="Malgun Gothic"/>
                <a:cs typeface="Malgun Gothic"/>
              </a:rPr>
              <a:t>관리</a:t>
            </a:r>
            <a:r>
              <a:rPr sz="1600" b="1" spc="-17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1F2328"/>
                </a:solidFill>
                <a:latin typeface="Segoe UI"/>
                <a:cs typeface="Segoe UI"/>
              </a:rPr>
              <a:t>—</a:t>
            </a:r>
            <a:r>
              <a:rPr sz="1400" spc="484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1800" baseline="2314" dirty="0">
                <a:solidFill>
                  <a:srgbClr val="1F2328"/>
                </a:solidFill>
                <a:latin typeface="Consolas"/>
                <a:cs typeface="Consolas"/>
              </a:rPr>
              <a:t>Data/FaiDynamicRules_{Model}.ini</a:t>
            </a:r>
            <a:r>
              <a:rPr sz="1800" spc="-270" baseline="2314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600" spc="-305" dirty="0">
                <a:solidFill>
                  <a:srgbClr val="1F2328"/>
                </a:solidFill>
                <a:latin typeface="Malgun Gothic"/>
                <a:cs typeface="Malgun Gothic"/>
              </a:rPr>
              <a:t>에</a:t>
            </a:r>
            <a:r>
              <a:rPr sz="1600" spc="-17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600" spc="-305" dirty="0">
                <a:solidFill>
                  <a:srgbClr val="1F2328"/>
                </a:solidFill>
                <a:latin typeface="Malgun Gothic"/>
                <a:cs typeface="Malgun Gothic"/>
              </a:rPr>
              <a:t>규칙</a:t>
            </a:r>
            <a:r>
              <a:rPr sz="1600" spc="-17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600" spc="-330" dirty="0">
                <a:solidFill>
                  <a:srgbClr val="1F2328"/>
                </a:solidFill>
                <a:latin typeface="Malgun Gothic"/>
                <a:cs typeface="Malgun Gothic"/>
              </a:rPr>
              <a:t>정의</a:t>
            </a:r>
            <a:endParaRPr sz="1600">
              <a:latin typeface="Malgun Gothic"/>
              <a:cs typeface="Malgun Gothic"/>
            </a:endParaRPr>
          </a:p>
          <a:p>
            <a:pPr marL="198755" indent="-186055">
              <a:lnSpc>
                <a:spcPct val="100000"/>
              </a:lnSpc>
              <a:spcBef>
                <a:spcPts val="630"/>
              </a:spcBef>
              <a:buSzPct val="87500"/>
              <a:buFont typeface="Segoe UI"/>
              <a:buAutoNum type="arabicPeriod"/>
              <a:tabLst>
                <a:tab pos="198755" algn="l"/>
              </a:tabLst>
            </a:pPr>
            <a:r>
              <a:rPr sz="1600" b="1" spc="-305" dirty="0">
                <a:solidFill>
                  <a:srgbClr val="1F2328"/>
                </a:solidFill>
                <a:latin typeface="Malgun Gothic"/>
                <a:cs typeface="Malgun Gothic"/>
              </a:rPr>
              <a:t>각</a:t>
            </a:r>
            <a:r>
              <a:rPr sz="1600" b="1" spc="-16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1F2328"/>
                </a:solidFill>
                <a:latin typeface="Segoe UI Semibold"/>
                <a:cs typeface="Segoe UI Semibold"/>
              </a:rPr>
              <a:t>Inspector</a:t>
            </a:r>
            <a:r>
              <a:rPr sz="1400" spc="20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1600" b="1" spc="-305" dirty="0">
                <a:solidFill>
                  <a:srgbClr val="1F2328"/>
                </a:solidFill>
                <a:latin typeface="Malgun Gothic"/>
                <a:cs typeface="Malgun Gothic"/>
              </a:rPr>
              <a:t>마지막에</a:t>
            </a:r>
            <a:r>
              <a:rPr sz="1600" b="1" spc="-16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1F2328"/>
                </a:solidFill>
                <a:latin typeface="Segoe UI Semibold"/>
                <a:cs typeface="Segoe UI Semibold"/>
              </a:rPr>
              <a:t>Execute</a:t>
            </a:r>
            <a:r>
              <a:rPr sz="1400" spc="2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1600" b="1" spc="-305" dirty="0">
                <a:solidFill>
                  <a:srgbClr val="1F2328"/>
                </a:solidFill>
                <a:latin typeface="Malgun Gothic"/>
                <a:cs typeface="Malgun Gothic"/>
              </a:rPr>
              <a:t>호출</a:t>
            </a:r>
            <a:r>
              <a:rPr sz="1600" b="1" spc="-16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1F2328"/>
                </a:solidFill>
                <a:latin typeface="Segoe UI"/>
                <a:cs typeface="Segoe UI"/>
              </a:rPr>
              <a:t>—</a:t>
            </a:r>
            <a:r>
              <a:rPr sz="1400" spc="2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1600" spc="-305" dirty="0">
                <a:solidFill>
                  <a:srgbClr val="1F2328"/>
                </a:solidFill>
                <a:latin typeface="Malgun Gothic"/>
                <a:cs typeface="Malgun Gothic"/>
              </a:rPr>
              <a:t>소스</a:t>
            </a:r>
            <a:r>
              <a:rPr sz="1600" spc="-15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600" spc="-305" dirty="0">
                <a:solidFill>
                  <a:srgbClr val="1F2328"/>
                </a:solidFill>
                <a:latin typeface="Malgun Gothic"/>
                <a:cs typeface="Malgun Gothic"/>
              </a:rPr>
              <a:t>수정은</a:t>
            </a:r>
            <a:r>
              <a:rPr sz="1600" spc="-16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400" spc="-30" dirty="0">
                <a:solidFill>
                  <a:srgbClr val="1F2328"/>
                </a:solidFill>
                <a:latin typeface="Segoe UI"/>
                <a:cs typeface="Segoe UI"/>
              </a:rPr>
              <a:t>Inspector</a:t>
            </a:r>
            <a:r>
              <a:rPr sz="1600" spc="-30" dirty="0">
                <a:solidFill>
                  <a:srgbClr val="1F2328"/>
                </a:solidFill>
                <a:latin typeface="Malgun Gothic"/>
                <a:cs typeface="Malgun Gothic"/>
              </a:rPr>
              <a:t>당</a:t>
            </a:r>
            <a:r>
              <a:rPr sz="1600" spc="-16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400" spc="-150" dirty="0">
                <a:solidFill>
                  <a:srgbClr val="1F2328"/>
                </a:solidFill>
                <a:latin typeface="Segoe UI"/>
                <a:cs typeface="Segoe UI"/>
              </a:rPr>
              <a:t>4</a:t>
            </a:r>
            <a:r>
              <a:rPr sz="1600" spc="-150" dirty="0">
                <a:solidFill>
                  <a:srgbClr val="1F2328"/>
                </a:solidFill>
                <a:latin typeface="Malgun Gothic"/>
                <a:cs typeface="Malgun Gothic"/>
              </a:rPr>
              <a:t>줄</a:t>
            </a:r>
            <a:r>
              <a:rPr sz="1600" spc="-16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600" spc="-330" dirty="0">
                <a:solidFill>
                  <a:srgbClr val="1F2328"/>
                </a:solidFill>
                <a:latin typeface="Malgun Gothic"/>
                <a:cs typeface="Malgun Gothic"/>
              </a:rPr>
              <a:t>추가뿐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04949" y="2514599"/>
            <a:ext cx="2066925" cy="238125"/>
          </a:xfrm>
          <a:custGeom>
            <a:avLst/>
            <a:gdLst/>
            <a:ahLst/>
            <a:cxnLst/>
            <a:rect l="l" t="t" r="r" b="b"/>
            <a:pathLst>
              <a:path w="2066925" h="238125">
                <a:moveTo>
                  <a:pt x="2013527" y="238124"/>
                </a:moveTo>
                <a:lnTo>
                  <a:pt x="53397" y="238124"/>
                </a:lnTo>
                <a:lnTo>
                  <a:pt x="49681" y="237758"/>
                </a:lnTo>
                <a:lnTo>
                  <a:pt x="14085" y="218732"/>
                </a:lnTo>
                <a:lnTo>
                  <a:pt x="0" y="184727"/>
                </a:lnTo>
                <a:lnTo>
                  <a:pt x="0" y="180974"/>
                </a:lnTo>
                <a:lnTo>
                  <a:pt x="0" y="53397"/>
                </a:lnTo>
                <a:lnTo>
                  <a:pt x="19392" y="14085"/>
                </a:lnTo>
                <a:lnTo>
                  <a:pt x="53397" y="0"/>
                </a:lnTo>
                <a:lnTo>
                  <a:pt x="2013527" y="0"/>
                </a:lnTo>
                <a:lnTo>
                  <a:pt x="2052838" y="19392"/>
                </a:lnTo>
                <a:lnTo>
                  <a:pt x="2066924" y="53397"/>
                </a:lnTo>
                <a:lnTo>
                  <a:pt x="2066924" y="184727"/>
                </a:lnTo>
                <a:lnTo>
                  <a:pt x="2047532" y="224039"/>
                </a:lnTo>
                <a:lnTo>
                  <a:pt x="2017244" y="237758"/>
                </a:lnTo>
                <a:lnTo>
                  <a:pt x="2013527" y="238124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554757" y="2521604"/>
            <a:ext cx="1971039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b="1" spc="-10" dirty="0">
                <a:solidFill>
                  <a:srgbClr val="1F2328"/>
                </a:solidFill>
                <a:latin typeface="Consolas"/>
                <a:cs typeface="Consolas"/>
              </a:rPr>
              <a:t>CTeachFaiDynamicRuleDlg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0480" y="2468848"/>
            <a:ext cx="5624830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712720" algn="l"/>
              </a:tabLst>
            </a:pPr>
            <a:r>
              <a:rPr sz="1400" dirty="0">
                <a:solidFill>
                  <a:srgbClr val="1F2328"/>
                </a:solidFill>
                <a:latin typeface="Segoe UI"/>
                <a:cs typeface="Segoe UI"/>
              </a:rPr>
              <a:t>3.</a:t>
            </a:r>
            <a:r>
              <a:rPr sz="1400" spc="25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1400" spc="-25" dirty="0">
                <a:solidFill>
                  <a:srgbClr val="1F2328"/>
                </a:solidFill>
                <a:latin typeface="Segoe UI Semibold"/>
                <a:cs typeface="Segoe UI Semibold"/>
              </a:rPr>
              <a:t>UI</a:t>
            </a:r>
            <a:r>
              <a:rPr sz="1600" b="1" spc="-25" dirty="0">
                <a:solidFill>
                  <a:srgbClr val="1F2328"/>
                </a:solidFill>
                <a:latin typeface="Malgun Gothic"/>
                <a:cs typeface="Malgun Gothic"/>
              </a:rPr>
              <a:t>는</a:t>
            </a:r>
            <a:r>
              <a:rPr sz="1600" b="1" dirty="0">
                <a:solidFill>
                  <a:srgbClr val="1F2328"/>
                </a:solidFill>
                <a:latin typeface="Malgun Gothic"/>
                <a:cs typeface="Malgun Gothic"/>
              </a:rPr>
              <a:t>	</a:t>
            </a:r>
            <a:r>
              <a:rPr sz="1400" dirty="0">
                <a:solidFill>
                  <a:srgbClr val="1F2328"/>
                </a:solidFill>
                <a:latin typeface="Segoe UI"/>
                <a:cs typeface="Segoe UI"/>
              </a:rPr>
              <a:t>—</a:t>
            </a:r>
            <a:r>
              <a:rPr sz="1400" spc="4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1600" spc="-305" dirty="0">
                <a:solidFill>
                  <a:srgbClr val="1F2328"/>
                </a:solidFill>
                <a:latin typeface="Malgun Gothic"/>
                <a:cs typeface="Malgun Gothic"/>
              </a:rPr>
              <a:t>각</a:t>
            </a:r>
            <a:r>
              <a:rPr sz="1600" spc="-14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400" spc="-60" dirty="0">
                <a:solidFill>
                  <a:srgbClr val="1F2328"/>
                </a:solidFill>
                <a:latin typeface="Segoe UI"/>
                <a:cs typeface="Segoe UI"/>
              </a:rPr>
              <a:t>TeachFai*Dlg</a:t>
            </a:r>
            <a:r>
              <a:rPr sz="1600" spc="-60" dirty="0">
                <a:solidFill>
                  <a:srgbClr val="1F2328"/>
                </a:solidFill>
                <a:latin typeface="Malgun Gothic"/>
                <a:cs typeface="Malgun Gothic"/>
              </a:rPr>
              <a:t>에서</a:t>
            </a:r>
            <a:r>
              <a:rPr sz="1600" spc="-14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600" spc="-305" dirty="0">
                <a:solidFill>
                  <a:srgbClr val="1F2328"/>
                </a:solidFill>
                <a:latin typeface="Malgun Gothic"/>
                <a:cs typeface="Malgun Gothic"/>
              </a:rPr>
              <a:t>버튼으로</a:t>
            </a:r>
            <a:r>
              <a:rPr sz="1600" spc="-140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600" spc="-330" dirty="0">
                <a:solidFill>
                  <a:srgbClr val="1F2328"/>
                </a:solidFill>
                <a:latin typeface="Malgun Gothic"/>
                <a:cs typeface="Malgun Gothic"/>
              </a:rPr>
              <a:t>진입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972174" y="2838449"/>
            <a:ext cx="466725" cy="238125"/>
          </a:xfrm>
          <a:custGeom>
            <a:avLst/>
            <a:gdLst/>
            <a:ahLst/>
            <a:cxnLst/>
            <a:rect l="l" t="t" r="r" b="b"/>
            <a:pathLst>
              <a:path w="466725" h="238125">
                <a:moveTo>
                  <a:pt x="413327" y="238124"/>
                </a:moveTo>
                <a:lnTo>
                  <a:pt x="53397" y="238124"/>
                </a:lnTo>
                <a:lnTo>
                  <a:pt x="49680" y="237758"/>
                </a:lnTo>
                <a:lnTo>
                  <a:pt x="14084" y="218732"/>
                </a:lnTo>
                <a:lnTo>
                  <a:pt x="0" y="184727"/>
                </a:lnTo>
                <a:lnTo>
                  <a:pt x="0" y="180974"/>
                </a:lnTo>
                <a:lnTo>
                  <a:pt x="0" y="53397"/>
                </a:lnTo>
                <a:lnTo>
                  <a:pt x="19391" y="14085"/>
                </a:lnTo>
                <a:lnTo>
                  <a:pt x="53397" y="0"/>
                </a:lnTo>
                <a:lnTo>
                  <a:pt x="413327" y="0"/>
                </a:lnTo>
                <a:lnTo>
                  <a:pt x="452638" y="19392"/>
                </a:lnTo>
                <a:lnTo>
                  <a:pt x="466724" y="53397"/>
                </a:lnTo>
                <a:lnTo>
                  <a:pt x="466724" y="184727"/>
                </a:lnTo>
                <a:lnTo>
                  <a:pt x="447331" y="224039"/>
                </a:lnTo>
                <a:lnTo>
                  <a:pt x="417043" y="237758"/>
                </a:lnTo>
                <a:lnTo>
                  <a:pt x="413327" y="238124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35012" y="2794781"/>
            <a:ext cx="6645275" cy="7778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110"/>
              </a:spcBef>
            </a:pPr>
            <a:r>
              <a:rPr sz="1400" dirty="0">
                <a:solidFill>
                  <a:srgbClr val="1F2328"/>
                </a:solidFill>
                <a:latin typeface="Segoe UI"/>
                <a:cs typeface="Segoe UI"/>
              </a:rPr>
              <a:t>4.</a:t>
            </a:r>
            <a:r>
              <a:rPr sz="1400" spc="-40" dirty="0">
                <a:solidFill>
                  <a:srgbClr val="1F2328"/>
                </a:solidFill>
                <a:latin typeface="Segoe UI"/>
                <a:cs typeface="Segoe UI"/>
              </a:rPr>
              <a:t> </a:t>
            </a:r>
            <a:r>
              <a:rPr sz="1400" spc="-60" dirty="0">
                <a:solidFill>
                  <a:srgbClr val="1F2328"/>
                </a:solidFill>
                <a:latin typeface="Segoe UI Semibold"/>
                <a:cs typeface="Segoe UI Semibold"/>
              </a:rPr>
              <a:t>P5(</a:t>
            </a:r>
            <a:r>
              <a:rPr sz="1600" b="1" spc="-60" dirty="0">
                <a:solidFill>
                  <a:srgbClr val="1F2328"/>
                </a:solidFill>
                <a:latin typeface="Malgun Gothic"/>
                <a:cs typeface="Malgun Gothic"/>
              </a:rPr>
              <a:t>점</a:t>
            </a:r>
            <a:r>
              <a:rPr sz="1400" spc="-60" dirty="0">
                <a:solidFill>
                  <a:srgbClr val="1F2328"/>
                </a:solidFill>
                <a:latin typeface="Segoe UI Semibold"/>
                <a:cs typeface="Segoe UI Semibold"/>
              </a:rPr>
              <a:t>-</a:t>
            </a:r>
            <a:r>
              <a:rPr sz="1600" b="1" spc="-204" dirty="0">
                <a:solidFill>
                  <a:srgbClr val="1F2328"/>
                </a:solidFill>
                <a:latin typeface="Malgun Gothic"/>
                <a:cs typeface="Malgun Gothic"/>
              </a:rPr>
              <a:t>점</a:t>
            </a:r>
            <a:r>
              <a:rPr sz="1400" spc="-204" dirty="0">
                <a:solidFill>
                  <a:srgbClr val="1F2328"/>
                </a:solidFill>
                <a:latin typeface="Segoe UI Semibold"/>
                <a:cs typeface="Segoe UI Semibold"/>
              </a:rPr>
              <a:t>/</a:t>
            </a:r>
            <a:r>
              <a:rPr sz="1600" b="1" spc="-204" dirty="0">
                <a:solidFill>
                  <a:srgbClr val="1F2328"/>
                </a:solidFill>
                <a:latin typeface="Malgun Gothic"/>
                <a:cs typeface="Malgun Gothic"/>
              </a:rPr>
              <a:t>원</a:t>
            </a:r>
            <a:r>
              <a:rPr sz="1600" b="1" spc="-17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600" b="1" spc="-170" dirty="0">
                <a:solidFill>
                  <a:srgbClr val="1F2328"/>
                </a:solidFill>
                <a:latin typeface="Malgun Gothic"/>
                <a:cs typeface="Malgun Gothic"/>
              </a:rPr>
              <a:t>지름</a:t>
            </a:r>
            <a:r>
              <a:rPr sz="1400" spc="-170" dirty="0">
                <a:solidFill>
                  <a:srgbClr val="1F2328"/>
                </a:solidFill>
                <a:latin typeface="Segoe UI Semibold"/>
                <a:cs typeface="Segoe UI Semibold"/>
              </a:rPr>
              <a:t>·8</a:t>
            </a:r>
            <a:r>
              <a:rPr sz="1600" b="1" spc="-170" dirty="0">
                <a:solidFill>
                  <a:srgbClr val="1F2328"/>
                </a:solidFill>
                <a:latin typeface="Malgun Gothic"/>
                <a:cs typeface="Malgun Gothic"/>
              </a:rPr>
              <a:t>포인트</a:t>
            </a:r>
            <a:r>
              <a:rPr sz="1400" spc="-170" dirty="0">
                <a:solidFill>
                  <a:srgbClr val="1F2328"/>
                </a:solidFill>
                <a:latin typeface="Segoe UI Semibold"/>
                <a:cs typeface="Segoe UI Semibold"/>
              </a:rPr>
              <a:t>),</a:t>
            </a:r>
            <a:r>
              <a:rPr sz="1400" spc="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1400" spc="-60" dirty="0">
                <a:solidFill>
                  <a:srgbClr val="1F2328"/>
                </a:solidFill>
                <a:latin typeface="Segoe UI Semibold"/>
                <a:cs typeface="Segoe UI Semibold"/>
              </a:rPr>
              <a:t>P7(</a:t>
            </a:r>
            <a:r>
              <a:rPr sz="1600" b="1" spc="-60" dirty="0">
                <a:solidFill>
                  <a:srgbClr val="1F2328"/>
                </a:solidFill>
                <a:latin typeface="Malgun Gothic"/>
                <a:cs typeface="Malgun Gothic"/>
              </a:rPr>
              <a:t>선</a:t>
            </a:r>
            <a:r>
              <a:rPr sz="1400" spc="-60" dirty="0">
                <a:solidFill>
                  <a:srgbClr val="1F2328"/>
                </a:solidFill>
                <a:latin typeface="Segoe UI Semibold"/>
                <a:cs typeface="Segoe UI Semibold"/>
              </a:rPr>
              <a:t>-</a:t>
            </a:r>
            <a:r>
              <a:rPr sz="1600" b="1" spc="-305" dirty="0">
                <a:solidFill>
                  <a:srgbClr val="1F2328"/>
                </a:solidFill>
                <a:latin typeface="Malgun Gothic"/>
                <a:cs typeface="Malgun Gothic"/>
              </a:rPr>
              <a:t>선</a:t>
            </a:r>
            <a:r>
              <a:rPr sz="1600" b="1" spc="-17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600" b="1" spc="-204" dirty="0">
                <a:solidFill>
                  <a:srgbClr val="1F2328"/>
                </a:solidFill>
                <a:latin typeface="Malgun Gothic"/>
                <a:cs typeface="Malgun Gothic"/>
              </a:rPr>
              <a:t>각도</a:t>
            </a:r>
            <a:r>
              <a:rPr sz="1400" spc="-204" dirty="0">
                <a:solidFill>
                  <a:srgbClr val="1F2328"/>
                </a:solidFill>
                <a:latin typeface="Segoe UI Semibold"/>
                <a:cs typeface="Segoe UI Semibold"/>
              </a:rPr>
              <a:t>)</a:t>
            </a:r>
            <a:r>
              <a:rPr sz="1400" spc="5" dirty="0">
                <a:solidFill>
                  <a:srgbClr val="1F2328"/>
                </a:solidFill>
                <a:latin typeface="Segoe UI Semibold"/>
                <a:cs typeface="Segoe UI Semibold"/>
              </a:rPr>
              <a:t> </a:t>
            </a:r>
            <a:r>
              <a:rPr sz="1600" b="1" spc="-305" dirty="0">
                <a:solidFill>
                  <a:srgbClr val="1F2328"/>
                </a:solidFill>
                <a:latin typeface="Malgun Gothic"/>
                <a:cs typeface="Malgun Gothic"/>
              </a:rPr>
              <a:t>지원</a:t>
            </a:r>
            <a:r>
              <a:rPr sz="1600" b="1" spc="-17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1F2328"/>
                </a:solidFill>
                <a:latin typeface="Segoe UI"/>
                <a:cs typeface="Segoe UI"/>
              </a:rPr>
              <a:t>— </a:t>
            </a:r>
            <a:r>
              <a:rPr sz="1600" spc="-305" dirty="0">
                <a:solidFill>
                  <a:srgbClr val="1F2328"/>
                </a:solidFill>
                <a:latin typeface="Malgun Gothic"/>
                <a:cs typeface="Malgun Gothic"/>
              </a:rPr>
              <a:t>타입은</a:t>
            </a:r>
            <a:r>
              <a:rPr sz="1600" spc="-17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1F2328"/>
                </a:solidFill>
                <a:latin typeface="Segoe UI"/>
                <a:cs typeface="Segoe UI"/>
              </a:rPr>
              <a:t>INI</a:t>
            </a:r>
            <a:r>
              <a:rPr sz="1600" dirty="0">
                <a:solidFill>
                  <a:srgbClr val="1F2328"/>
                </a:solidFill>
                <a:latin typeface="Malgun Gothic"/>
                <a:cs typeface="Malgun Gothic"/>
              </a:rPr>
              <a:t>의</a:t>
            </a:r>
            <a:r>
              <a:rPr sz="1600" spc="29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1F2328"/>
                </a:solidFill>
                <a:latin typeface="Consolas"/>
                <a:cs typeface="Consolas"/>
              </a:rPr>
              <a:t>Type</a:t>
            </a:r>
            <a:r>
              <a:rPr sz="1200" spc="204" dirty="0">
                <a:solidFill>
                  <a:srgbClr val="1F2328"/>
                </a:solidFill>
                <a:latin typeface="Consolas"/>
                <a:cs typeface="Consolas"/>
              </a:rPr>
              <a:t> </a:t>
            </a:r>
            <a:r>
              <a:rPr sz="1600" spc="-305" dirty="0">
                <a:solidFill>
                  <a:srgbClr val="1F2328"/>
                </a:solidFill>
                <a:latin typeface="Malgun Gothic"/>
                <a:cs typeface="Malgun Gothic"/>
              </a:rPr>
              <a:t>필드로</a:t>
            </a:r>
            <a:r>
              <a:rPr sz="1600" spc="-175" dirty="0">
                <a:solidFill>
                  <a:srgbClr val="1F2328"/>
                </a:solidFill>
                <a:latin typeface="Malgun Gothic"/>
                <a:cs typeface="Malgun Gothic"/>
              </a:rPr>
              <a:t> </a:t>
            </a:r>
            <a:r>
              <a:rPr sz="1600" spc="-330" dirty="0">
                <a:solidFill>
                  <a:srgbClr val="1F2328"/>
                </a:solidFill>
                <a:latin typeface="Malgun Gothic"/>
                <a:cs typeface="Malgun Gothic"/>
              </a:rPr>
              <a:t>구분</a:t>
            </a:r>
            <a:endParaRPr sz="16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885"/>
              </a:spcBef>
            </a:pPr>
            <a:r>
              <a:rPr sz="1750" b="1" spc="-315" dirty="0">
                <a:solidFill>
                  <a:srgbClr val="1F618C"/>
                </a:solidFill>
                <a:latin typeface="Malgun Gothic"/>
                <a:cs typeface="Malgun Gothic"/>
              </a:rPr>
              <a:t>최종</a:t>
            </a:r>
            <a:r>
              <a:rPr sz="1750" b="1" spc="-170" dirty="0">
                <a:solidFill>
                  <a:srgbClr val="1F618C"/>
                </a:solidFill>
                <a:latin typeface="Malgun Gothic"/>
                <a:cs typeface="Malgun Gothic"/>
              </a:rPr>
              <a:t> </a:t>
            </a:r>
            <a:r>
              <a:rPr sz="1550" dirty="0">
                <a:solidFill>
                  <a:srgbClr val="1F618C"/>
                </a:solidFill>
                <a:latin typeface="Segoe UI Semibold"/>
                <a:cs typeface="Segoe UI Semibold"/>
              </a:rPr>
              <a:t>Output</a:t>
            </a:r>
            <a:r>
              <a:rPr sz="1550" spc="20" dirty="0">
                <a:solidFill>
                  <a:srgbClr val="1F618C"/>
                </a:solidFill>
                <a:latin typeface="Segoe UI Semibold"/>
                <a:cs typeface="Segoe UI Semibold"/>
              </a:rPr>
              <a:t> </a:t>
            </a:r>
            <a:r>
              <a:rPr sz="1750" b="1" spc="-340" dirty="0">
                <a:solidFill>
                  <a:srgbClr val="1F618C"/>
                </a:solidFill>
                <a:latin typeface="Malgun Gothic"/>
                <a:cs typeface="Malgun Gothic"/>
              </a:rPr>
              <a:t>요약</a:t>
            </a:r>
            <a:endParaRPr sz="1750">
              <a:latin typeface="Malgun Gothic"/>
              <a:cs typeface="Malgun Gothic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4956" y="4167741"/>
            <a:ext cx="141905" cy="140868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752474" y="2743199"/>
          <a:ext cx="10687050" cy="17602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8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91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3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9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5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날짜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1A52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54965">
                        <a:lnSpc>
                          <a:spcPct val="100000"/>
                        </a:lnSpc>
                      </a:pPr>
                      <a:r>
                        <a:rPr sz="135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작성자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1A52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5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내역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1A5275"/>
                    </a:solidFill>
                  </a:tcPr>
                </a:tc>
                <a:tc>
                  <a:txBody>
                    <a:bodyPr/>
                    <a:lstStyle/>
                    <a:p>
                      <a:pPr marL="186690" marR="187325" algn="ctr">
                        <a:lnSpc>
                          <a:spcPct val="115700"/>
                        </a:lnSpc>
                        <a:spcBef>
                          <a:spcPts val="229"/>
                        </a:spcBef>
                      </a:pPr>
                      <a:r>
                        <a:rPr sz="1350" b="1" spc="-27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비 고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29209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1A52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2026/03/16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1968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730" marR="165735">
                        <a:lnSpc>
                          <a:spcPct val="111100"/>
                        </a:lnSpc>
                        <a:spcBef>
                          <a:spcPts val="305"/>
                        </a:spcBef>
                      </a:pPr>
                      <a:r>
                        <a:rPr sz="1350" spc="-13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비전</a:t>
                      </a:r>
                      <a:r>
                        <a:rPr sz="1200" spc="-13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SW</a:t>
                      </a:r>
                      <a:r>
                        <a:rPr sz="1200" spc="3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4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김준 </a:t>
                      </a:r>
                      <a:r>
                        <a:rPr sz="1350" spc="-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호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3873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2715">
                        <a:lnSpc>
                          <a:spcPct val="100000"/>
                        </a:lnSpc>
                      </a:pP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초안</a:t>
                      </a:r>
                      <a:r>
                        <a:rPr sz="1350" spc="-13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작성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63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2026/03/17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19685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25730" marR="165735">
                        <a:lnSpc>
                          <a:spcPct val="115700"/>
                        </a:lnSpc>
                        <a:spcBef>
                          <a:spcPts val="229"/>
                        </a:spcBef>
                      </a:pPr>
                      <a:r>
                        <a:rPr sz="1350" spc="-13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비전</a:t>
                      </a:r>
                      <a:r>
                        <a:rPr sz="1200" spc="-13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SW</a:t>
                      </a:r>
                      <a:r>
                        <a:rPr sz="1200" spc="3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4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김준 </a:t>
                      </a:r>
                      <a:r>
                        <a:rPr sz="1350" spc="-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호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29209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32715" marR="299085">
                        <a:lnSpc>
                          <a:spcPct val="115700"/>
                        </a:lnSpc>
                        <a:spcBef>
                          <a:spcPts val="229"/>
                        </a:spcBef>
                      </a:pP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P5</a:t>
                      </a:r>
                      <a:r>
                        <a:rPr sz="1200" spc="1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INNER_RADIUS</a:t>
                      </a:r>
                      <a:r>
                        <a:rPr sz="1200" spc="2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→</a:t>
                      </a:r>
                      <a:r>
                        <a:rPr sz="1200" spc="2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5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CIRCLE_8PT(8</a:t>
                      </a:r>
                      <a:r>
                        <a:rPr sz="1350" spc="-5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포인트</a:t>
                      </a:r>
                      <a:r>
                        <a:rPr sz="1350" spc="-1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17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기반</a:t>
                      </a:r>
                      <a:r>
                        <a:rPr sz="1200" spc="-17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)</a:t>
                      </a:r>
                      <a:r>
                        <a:rPr sz="1200" spc="2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변경</a:t>
                      </a:r>
                      <a:r>
                        <a:rPr sz="1350" spc="-1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/</a:t>
                      </a:r>
                      <a:r>
                        <a:rPr sz="1200" spc="2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최종</a:t>
                      </a:r>
                      <a:r>
                        <a:rPr sz="1350" spc="-1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개발</a:t>
                      </a:r>
                      <a:r>
                        <a:rPr sz="1350" spc="-1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Output</a:t>
                      </a:r>
                      <a:r>
                        <a:rPr sz="1200" spc="2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섹션</a:t>
                      </a:r>
                      <a:r>
                        <a:rPr sz="1350" spc="-1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추가</a:t>
                      </a:r>
                      <a:r>
                        <a:rPr sz="1350" spc="-1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(GUI</a:t>
                      </a:r>
                      <a:r>
                        <a:rPr sz="1200" spc="2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7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기반</a:t>
                      </a:r>
                      <a:r>
                        <a:rPr sz="1200" spc="-17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,</a:t>
                      </a:r>
                      <a:r>
                        <a:rPr sz="1200" spc="2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Sub</a:t>
                      </a:r>
                      <a:r>
                        <a:rPr sz="1200" spc="2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350" spc="-19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넘버링</a:t>
                      </a:r>
                      <a:r>
                        <a:rPr sz="1200" spc="-19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,</a:t>
                      </a:r>
                      <a:r>
                        <a:rPr sz="1200" spc="2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13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4</a:t>
                      </a:r>
                      <a:r>
                        <a:rPr sz="1350" spc="-13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종</a:t>
                      </a:r>
                      <a:r>
                        <a:rPr sz="1350" spc="-12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50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방식</a:t>
                      </a:r>
                      <a:r>
                        <a:rPr sz="1200" spc="-50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, </a:t>
                      </a:r>
                      <a:r>
                        <a:rPr sz="1350" spc="-25" dirty="0">
                          <a:solidFill>
                            <a:srgbClr val="1F2328"/>
                          </a:solidFill>
                          <a:latin typeface="Malgun Gothic"/>
                          <a:cs typeface="Malgun Gothic"/>
                        </a:rPr>
                        <a:t>리뷰이미지</a:t>
                      </a:r>
                      <a:r>
                        <a:rPr sz="1200" spc="-25" dirty="0">
                          <a:solidFill>
                            <a:srgbClr val="1F2328"/>
                          </a:solidFill>
                          <a:latin typeface="Segoe UI"/>
                          <a:cs typeface="Segoe UI"/>
                        </a:rPr>
                        <a:t>/Log)</a:t>
                      </a:r>
                      <a:endParaRPr sz="1200">
                        <a:latin typeface="Segoe UI"/>
                        <a:cs typeface="Segoe UI"/>
                      </a:endParaRPr>
                    </a:p>
                  </a:txBody>
                  <a:tcPr marL="0" marR="0" marT="29209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735012" y="2315048"/>
            <a:ext cx="812800" cy="2959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b="1" spc="-315" dirty="0">
                <a:solidFill>
                  <a:srgbClr val="1F618C"/>
                </a:solidFill>
                <a:latin typeface="Malgun Gothic"/>
                <a:cs typeface="Malgun Gothic"/>
              </a:rPr>
              <a:t>개정</a:t>
            </a:r>
            <a:r>
              <a:rPr sz="1750" b="1" spc="-185" dirty="0">
                <a:solidFill>
                  <a:srgbClr val="1F618C"/>
                </a:solidFill>
                <a:latin typeface="Malgun Gothic"/>
                <a:cs typeface="Malgun Gothic"/>
              </a:rPr>
              <a:t> </a:t>
            </a:r>
            <a:r>
              <a:rPr sz="1750" b="1" spc="-340" dirty="0">
                <a:solidFill>
                  <a:srgbClr val="1F618C"/>
                </a:solidFill>
                <a:latin typeface="Malgun Gothic"/>
                <a:cs typeface="Malgun Gothic"/>
              </a:rPr>
              <a:t>내역</a:t>
            </a:r>
            <a:endParaRPr sz="175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969D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2739</Words>
  <Application>Microsoft Office PowerPoint</Application>
  <PresentationFormat>와이드스크린</PresentationFormat>
  <Paragraphs>473</Paragraphs>
  <Slides>22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22</vt:i4>
      </vt:variant>
    </vt:vector>
  </HeadingPairs>
  <TitlesOfParts>
    <vt:vector size="31" baseType="lpstr">
      <vt:lpstr>Malgun Gothic</vt:lpstr>
      <vt:lpstr>Calibri</vt:lpstr>
      <vt:lpstr>Consolas</vt:lpstr>
      <vt:lpstr>Segoe UI</vt:lpstr>
      <vt:lpstr>Segoe UI Semibold</vt:lpstr>
      <vt:lpstr>Times New Roman</vt:lpstr>
      <vt:lpstr>Office Theme</vt:lpstr>
      <vt:lpstr>패키지</vt:lpstr>
      <vt:lpstr>포장기 셸 개체</vt:lpstr>
      <vt:lpstr>동적 FAI 측정 기능</vt:lpstr>
      <vt:lpstr>PowerPoint 프레젠테이션</vt:lpstr>
      <vt:lpstr>측정 패턴정리(1) - 점-점 거리 / 원 지름·중심</vt:lpstr>
      <vt:lpstr>측정 패턴정리 (2) - 선-선 각도</vt:lpstr>
      <vt:lpstr>개발 일정</vt:lpstr>
      <vt:lpstr>개발 일정 개요 (3개월)</vt:lpstr>
      <vt:lpstr>M1 — Model 완성 + Controller 연결</vt:lpstr>
      <vt:lpstr>M2 — View 기초 + 진입 버튼 연결</vt:lpstr>
      <vt:lpstr>M3 — View 완성 + 전체 통합 테스트</vt:lpstr>
      <vt:lpstr>TODO 목록</vt:lpstr>
      <vt:lpstr>TODO — 전체 구조</vt:lpstr>
      <vt:lpstr>TODO — Model, 실제 계산부분</vt:lpstr>
      <vt:lpstr>TODO — View (1/2) : 다이얼로그 리소스</vt:lpstr>
      <vt:lpstr>TODO — View (2/2) : TeachFaiDynamicRuleDlg.cpp</vt:lpstr>
      <vt:lpstr>TODO — View (2/2) : 규칙 추가/삭제 핸들러</vt:lpstr>
      <vt:lpstr>TODO — Controller (1/2) : Inspector 연결</vt:lpstr>
      <vt:lpstr>TODO — Controller (2/2) : 진입 버튼 + LoadRules 시점</vt:lpstr>
      <vt:lpstr>최종 개발 Output 및 정리</vt:lpstr>
      <vt:lpstr>최종 개발 Output</vt:lpstr>
      <vt:lpstr>최종 개발 Output</vt:lpstr>
      <vt:lpstr>개발 계획 요약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동적 FAI 측정 기능</dc:title>
  <cp:lastModifiedBy>김준호</cp:lastModifiedBy>
  <cp:revision>11</cp:revision>
  <dcterms:created xsi:type="dcterms:W3CDTF">2026-03-17T05:42:40Z</dcterms:created>
  <dcterms:modified xsi:type="dcterms:W3CDTF">2026-03-17T05:54:24Z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2026-03-17T00:00:00Z</vt:filetime>
  </property>
  <property fmtid="{D5CDD505-2E9C-101B-9397-08002B2CF9AE}" pid="3" name="Creator">
    <vt:lpwstr>Created by Marp</vt:lpwstr>
  </property>
  <property fmtid="{D5CDD505-2E9C-101B-9397-08002B2CF9AE}" pid="4" name="LastSaved">
    <vt:filetime>2026-03-17T00:00:00Z</vt:filetime>
  </property>
  <property fmtid="{D5CDD505-2E9C-101B-9397-08002B2CF9AE}" pid="5" name="Producer">
    <vt:lpwstr>Created by Marp</vt:lpwstr>
  </property>
</Properties>
</file>